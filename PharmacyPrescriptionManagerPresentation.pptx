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72" r:id="rId14"/>
    <p:sldId id="273" r:id="rId15"/>
    <p:sldId id="267" r:id="rId16"/>
    <p:sldId id="268" r:id="rId17"/>
    <p:sldId id="269" r:id="rId18"/>
    <p:sldId id="270"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28"/>
    <p:restoredTop sz="79048"/>
  </p:normalViewPr>
  <p:slideViewPr>
    <p:cSldViewPr snapToGrid="0" snapToObjects="1">
      <p:cViewPr varScale="1">
        <p:scale>
          <a:sx n="121" d="100"/>
          <a:sy n="121" d="100"/>
        </p:scale>
        <p:origin x="176"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0854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Good morning everyone. My name is Aneri Shastri and today I'm presenting my project the Pharmacy Prescription Manager.</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This is a full-stack Java web application that simulates a real pharmacy backend system. By the end of this presentation you will see exactly how I built it, how I tested every single function, how it automatically tests itself every time I save code, and how it's running live on the internet right now.</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numbers on this slide tell the full story  109 automated tests, 99% code coverage, and a 95% mutation score. Let me explain what all of that means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For application development, I wrote 5 core Java business functions (with the help of AI) using Spring Boot framework. For test engineering, I wrote 109 automated unit tests covering 6 different testing techniques which we will </a:t>
            </a:r>
            <a:r>
              <a:rPr lang="en-US" sz="1200" b="0" kern="1200" dirty="0" err="1">
                <a:solidFill>
                  <a:schemeClr val="tx1"/>
                </a:solidFill>
                <a:effectLst/>
                <a:latin typeface="+mn-lt"/>
                <a:ea typeface="+mn-ea"/>
                <a:cs typeface="+mn-cs"/>
              </a:rPr>
              <a:t>dicuss</a:t>
            </a:r>
            <a:r>
              <a:rPr lang="en-US" sz="1200" b="0" kern="1200" dirty="0">
                <a:solidFill>
                  <a:schemeClr val="tx1"/>
                </a:solidFill>
                <a:effectLst/>
                <a:latin typeface="+mn-lt"/>
                <a:ea typeface="+mn-ea"/>
                <a:cs typeface="+mn-cs"/>
              </a:rPr>
              <a:t> in detail shortly.</a:t>
            </a:r>
          </a:p>
          <a:p>
            <a:r>
              <a:rPr lang="en-US" sz="1200" b="0" kern="1200" dirty="0">
                <a:solidFill>
                  <a:schemeClr val="tx1"/>
                </a:solidFill>
                <a:effectLst/>
                <a:latin typeface="+mn-lt"/>
                <a:ea typeface="+mn-ea"/>
                <a:cs typeface="+mn-cs"/>
              </a:rPr>
              <a:t>For DevOps, I set up a CI/CD pipeline using GitHub Actions so that every single time I push code to GitHub, all 98 tests run automatically without me doing anything.</a:t>
            </a:r>
          </a:p>
          <a:p>
            <a:r>
              <a:rPr lang="en-US" sz="1200" b="0" kern="1200" dirty="0">
                <a:solidFill>
                  <a:schemeClr val="tx1"/>
                </a:solidFill>
                <a:effectLst/>
                <a:latin typeface="+mn-lt"/>
                <a:ea typeface="+mn-ea"/>
                <a:cs typeface="+mn-cs"/>
              </a:rPr>
              <a:t>And for documentation, I wrote a comprehensive README file documenting every function, the data model, all test cases, and the API endpoints.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So what does this application actually do? Think of it as the software running behind the counter at a pharmacy.</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It does 5 core things. First it lets a pharmacist register a new patient prescription. </a:t>
            </a:r>
          </a:p>
          <a:p>
            <a:r>
              <a:rPr lang="en-US" sz="1200" b="0" kern="1200" dirty="0">
                <a:solidFill>
                  <a:schemeClr val="tx1"/>
                </a:solidFill>
                <a:effectLst/>
                <a:latin typeface="+mn-lt"/>
                <a:ea typeface="+mn-ea"/>
                <a:cs typeface="+mn-cs"/>
              </a:rPr>
              <a:t>Second it calculates the safe medication dosage based on the patient's age and weight. </a:t>
            </a:r>
          </a:p>
          <a:p>
            <a:r>
              <a:rPr lang="en-US" sz="1200" b="0" kern="1200" dirty="0">
                <a:solidFill>
                  <a:schemeClr val="tx1"/>
                </a:solidFill>
                <a:effectLst/>
                <a:latin typeface="+mn-lt"/>
                <a:ea typeface="+mn-ea"/>
                <a:cs typeface="+mn-cs"/>
              </a:rPr>
              <a:t>Third it validates whether a prescription is eligible to be dispensed. </a:t>
            </a:r>
          </a:p>
          <a:p>
            <a:r>
              <a:rPr lang="en-US" sz="1200" b="0" kern="1200" dirty="0">
                <a:solidFill>
                  <a:schemeClr val="tx1"/>
                </a:solidFill>
                <a:effectLst/>
                <a:latin typeface="+mn-lt"/>
                <a:ea typeface="+mn-ea"/>
                <a:cs typeface="+mn-cs"/>
              </a:rPr>
              <a:t>Fourth it actually dispenses the medication and tracks how many refills are left. </a:t>
            </a:r>
          </a:p>
          <a:p>
            <a:r>
              <a:rPr lang="en-US" sz="1200" b="0" kern="1200" dirty="0">
                <a:solidFill>
                  <a:schemeClr val="tx1"/>
                </a:solidFill>
                <a:effectLst/>
                <a:latin typeface="+mn-lt"/>
                <a:ea typeface="+mn-ea"/>
                <a:cs typeface="+mn-cs"/>
              </a:rPr>
              <a:t>Fifth it calculates the total cost with age-based pricing rules.</a:t>
            </a:r>
          </a:p>
          <a:p>
            <a:r>
              <a:rPr lang="en-US" sz="1200" b="0" kern="1200" dirty="0">
                <a:solidFill>
                  <a:schemeClr val="tx1"/>
                </a:solidFill>
                <a:effectLst/>
                <a:latin typeface="+mn-lt"/>
                <a:ea typeface="+mn-ea"/>
                <a:cs typeface="+mn-cs"/>
              </a:rPr>
              <a:t>The tech stack on the right shows every technology I used. Java 21 is the programming language. Spring Boot is the web framework that handles the website. JUnit 5 is the testing framework. </a:t>
            </a:r>
            <a:r>
              <a:rPr lang="en-US" sz="1200" b="0" kern="1200" dirty="0" err="1">
                <a:solidFill>
                  <a:schemeClr val="tx1"/>
                </a:solidFill>
                <a:effectLst/>
                <a:latin typeface="+mn-lt"/>
                <a:ea typeface="+mn-ea"/>
                <a:cs typeface="+mn-cs"/>
              </a:rPr>
              <a:t>JaCoCo</a:t>
            </a:r>
            <a:r>
              <a:rPr lang="en-US" sz="1200" b="0" kern="1200" dirty="0">
                <a:solidFill>
                  <a:schemeClr val="tx1"/>
                </a:solidFill>
                <a:effectLst/>
                <a:latin typeface="+mn-lt"/>
                <a:ea typeface="+mn-ea"/>
                <a:cs typeface="+mn-cs"/>
              </a:rPr>
              <a:t> measures how much of my code is covered by tests. </a:t>
            </a:r>
            <a:r>
              <a:rPr lang="en-US" sz="1200" b="0" kern="1200" dirty="0" err="1">
                <a:solidFill>
                  <a:schemeClr val="tx1"/>
                </a:solidFill>
                <a:effectLst/>
                <a:latin typeface="+mn-lt"/>
                <a:ea typeface="+mn-ea"/>
                <a:cs typeface="+mn-cs"/>
              </a:rPr>
              <a:t>PITest</a:t>
            </a:r>
            <a:r>
              <a:rPr lang="en-US" sz="1200" b="0" kern="1200" dirty="0">
                <a:solidFill>
                  <a:schemeClr val="tx1"/>
                </a:solidFill>
                <a:effectLst/>
                <a:latin typeface="+mn-lt"/>
                <a:ea typeface="+mn-ea"/>
                <a:cs typeface="+mn-cs"/>
              </a:rPr>
              <a:t> does mutation testing. GitHub Actions runs my CI/CD pipeline. And Railway is the cloud server where the app lives 24/7.</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Function 1 is </a:t>
            </a:r>
            <a:r>
              <a:rPr lang="en-US" sz="1200" b="0" kern="1200" dirty="0" err="1">
                <a:solidFill>
                  <a:schemeClr val="tx1"/>
                </a:solidFill>
                <a:effectLst/>
                <a:latin typeface="+mn-lt"/>
                <a:ea typeface="+mn-ea"/>
                <a:cs typeface="+mn-cs"/>
              </a:rPr>
              <a:t>registerPrescription</a:t>
            </a:r>
            <a:r>
              <a:rPr lang="en-US" sz="1200" b="0" kern="1200" dirty="0">
                <a:solidFill>
                  <a:schemeClr val="tx1"/>
                </a:solidFill>
                <a:effectLst/>
                <a:latin typeface="+mn-lt"/>
                <a:ea typeface="+mn-ea"/>
                <a:cs typeface="+mn-cs"/>
              </a:rPr>
              <a:t>. Think of it like a pharmacist filling out a paper prescription form and filing it in a cabinet except it's digital.</a:t>
            </a:r>
          </a:p>
          <a:p>
            <a:r>
              <a:rPr lang="en-US" sz="1200" b="0" kern="1200" dirty="0">
                <a:solidFill>
                  <a:schemeClr val="tx1"/>
                </a:solidFill>
                <a:effectLst/>
                <a:latin typeface="+mn-lt"/>
                <a:ea typeface="+mn-ea"/>
                <a:cs typeface="+mn-cs"/>
              </a:rPr>
              <a:t>When this function is called, it receives 7 input parameters. Which you can see in the table on the right — the prescription ID, patient name, age, weight in kilograms, drug name, dosage in milligrams, and number of refills.</a:t>
            </a:r>
          </a:p>
          <a:p>
            <a:r>
              <a:rPr lang="en-US" sz="1200" b="0" kern="1200" dirty="0">
                <a:solidFill>
                  <a:schemeClr val="tx1"/>
                </a:solidFill>
                <a:effectLst/>
                <a:latin typeface="+mn-lt"/>
                <a:ea typeface="+mn-ea"/>
                <a:cs typeface="+mn-cs"/>
              </a:rPr>
              <a:t>Before saving anything, the function validates </a:t>
            </a:r>
            <a:r>
              <a:rPr lang="en-US" sz="1200" b="0" kern="1200" dirty="0" err="1">
                <a:solidFill>
                  <a:schemeClr val="tx1"/>
                </a:solidFill>
                <a:effectLst/>
                <a:latin typeface="+mn-lt"/>
                <a:ea typeface="+mn-ea"/>
                <a:cs typeface="+mn-cs"/>
              </a:rPr>
              <a:t>evry</a:t>
            </a:r>
            <a:r>
              <a:rPr lang="en-US" sz="1200" b="0" kern="1200" dirty="0">
                <a:solidFill>
                  <a:schemeClr val="tx1"/>
                </a:solidFill>
                <a:effectLst/>
                <a:latin typeface="+mn-lt"/>
                <a:ea typeface="+mn-ea"/>
                <a:cs typeface="+mn-cs"/>
              </a:rPr>
              <a:t> single input. If the age is below 0 or above 120, error. If the weight is 0 or negative, error. If the drug name is empty, error. If the same prescription ID is used twice, error.</a:t>
            </a:r>
          </a:p>
          <a:p>
            <a:r>
              <a:rPr lang="en-US" sz="1200" b="0" kern="1200" dirty="0">
                <a:solidFill>
                  <a:schemeClr val="tx1"/>
                </a:solidFill>
                <a:effectLst/>
                <a:latin typeface="+mn-lt"/>
                <a:ea typeface="+mn-ea"/>
                <a:cs typeface="+mn-cs"/>
              </a:rPr>
              <a:t>If everything is valid, it creates a Prescription object and saves it into a Java HashMap which is basically a dictionary where the key is the prescription ID and the value is all the prescription data.</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function returns nothing its job is just to store the data. It's called a 'void' function."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Function 2 calculates the safe medication dosage. The formula is dosage equals mg per kg multiplied by the patient's weight in kilograms.</a:t>
            </a:r>
          </a:p>
          <a:p>
            <a:r>
              <a:rPr lang="en-US" sz="1200" b="0" kern="1200" dirty="0">
                <a:solidFill>
                  <a:schemeClr val="tx1"/>
                </a:solidFill>
                <a:effectLst/>
                <a:latin typeface="+mn-lt"/>
                <a:ea typeface="+mn-ea"/>
                <a:cs typeface="+mn-cs"/>
              </a:rPr>
              <a:t>But the mg per kg rate changes based on the patient's age category. This is medically realistic.</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Children aged 0 to 17 get 3 milligrams per kilogram a gentle dose because their bodies are smaller and metabolize drugs differently.</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Adults aged 18 to 64 get 5 milligrams per kilogram, the full standard therapeutic dose.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Elderly patients aged 65 and above get 4 milligrams per kilogram, a reduced dose because aging affects how the kidneys and liver process medication.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There are also safety clamps built in. No matter what the calculation gives, the dosage can never be less than 10 milligrams; the minimum safe dose. And it can never exceed 500 milligrams; the maximum safe dose.</a:t>
            </a:r>
          </a:p>
          <a:p>
            <a:endParaRPr lang="en-US" sz="1200" b="0" kern="1200" dirty="0">
              <a:solidFill>
                <a:schemeClr val="tx1"/>
              </a:solidFill>
              <a:effectLst/>
              <a:latin typeface="+mn-lt"/>
              <a:ea typeface="+mn-ea"/>
              <a:cs typeface="+mn-cs"/>
            </a:endParaRPr>
          </a:p>
          <a:p>
            <a:r>
              <a:rPr lang="en-US" sz="1200" b="0" kern="1200">
                <a:solidFill>
                  <a:schemeClr val="tx1"/>
                </a:solidFill>
                <a:effectLst/>
                <a:latin typeface="+mn-lt"/>
                <a:ea typeface="+mn-ea"/>
                <a:cs typeface="+mn-cs"/>
              </a:rPr>
              <a:t>So, </a:t>
            </a:r>
            <a:r>
              <a:rPr lang="en-US" sz="1200" b="0" kern="1200" dirty="0">
                <a:solidFill>
                  <a:schemeClr val="tx1"/>
                </a:solidFill>
                <a:effectLst/>
                <a:latin typeface="+mn-lt"/>
                <a:ea typeface="+mn-ea"/>
                <a:cs typeface="+mn-cs"/>
              </a:rPr>
              <a:t>for example, an adult patient aged 30 weighing 70 kilograms gets 5 multiplied by 70 equals 350 milligrams. That's within the safe range so it comes back as 350.</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next three functions work together in sequence they represent the prescription lifecycle from check to billing.</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Function 3 is </a:t>
            </a:r>
            <a:r>
              <a:rPr lang="en-US" sz="1200" b="0" kern="1200" dirty="0" err="1">
                <a:solidFill>
                  <a:schemeClr val="tx1"/>
                </a:solidFill>
                <a:effectLst/>
                <a:latin typeface="+mn-lt"/>
                <a:ea typeface="+mn-ea"/>
                <a:cs typeface="+mn-cs"/>
              </a:rPr>
              <a:t>validatePrescription</a:t>
            </a:r>
            <a:r>
              <a:rPr lang="en-US" sz="1200" b="0" kern="1200" dirty="0">
                <a:solidFill>
                  <a:schemeClr val="tx1"/>
                </a:solidFill>
                <a:effectLst/>
                <a:latin typeface="+mn-lt"/>
                <a:ea typeface="+mn-ea"/>
                <a:cs typeface="+mn-cs"/>
              </a:rPr>
              <a:t>. Before handing over any medicine, the system checks 3 things: are there refills remaining? Is the dosage within the safe 10 to 500 milligram range? Is the patient at least 1 year old? If all three pass, it returns true. If any fail, it returns false. Nothing is dispensed without passing this check.</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Function 4 is </a:t>
            </a:r>
            <a:r>
              <a:rPr lang="en-US" sz="1200" b="0" kern="1200" dirty="0" err="1">
                <a:solidFill>
                  <a:schemeClr val="tx1"/>
                </a:solidFill>
                <a:effectLst/>
                <a:latin typeface="+mn-lt"/>
                <a:ea typeface="+mn-ea"/>
                <a:cs typeface="+mn-cs"/>
              </a:rPr>
              <a:t>dispenseMedication</a:t>
            </a:r>
            <a:r>
              <a:rPr lang="en-US" sz="1200" b="0" kern="1200" dirty="0">
                <a:solidFill>
                  <a:schemeClr val="tx1"/>
                </a:solidFill>
                <a:effectLst/>
                <a:latin typeface="+mn-lt"/>
                <a:ea typeface="+mn-ea"/>
                <a:cs typeface="+mn-cs"/>
              </a:rPr>
              <a:t>. This is the actual act of handing over the medicine. It first calls </a:t>
            </a:r>
            <a:r>
              <a:rPr lang="en-US" sz="1200" b="0" kern="1200" dirty="0" err="1">
                <a:solidFill>
                  <a:schemeClr val="tx1"/>
                </a:solidFill>
                <a:effectLst/>
                <a:latin typeface="+mn-lt"/>
                <a:ea typeface="+mn-ea"/>
                <a:cs typeface="+mn-cs"/>
              </a:rPr>
              <a:t>validatePrescription</a:t>
            </a:r>
            <a:r>
              <a:rPr lang="en-US" sz="1200" b="0" kern="1200" dirty="0">
                <a:solidFill>
                  <a:schemeClr val="tx1"/>
                </a:solidFill>
                <a:effectLst/>
                <a:latin typeface="+mn-lt"/>
                <a:ea typeface="+mn-ea"/>
                <a:cs typeface="+mn-cs"/>
              </a:rPr>
              <a:t> as a safety gate. If that returns false, it throws an error and stops. If it returns true, it reduces the refills remaining by 1 and returns a confirmation message like 'Dispensed 250mg of Amoxicillin to Aneri Shastri. Refills left: 2'.</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Function 5 is </a:t>
            </a:r>
            <a:r>
              <a:rPr lang="en-US" sz="1200" b="0" kern="1200" dirty="0" err="1">
                <a:solidFill>
                  <a:schemeClr val="tx1"/>
                </a:solidFill>
                <a:effectLst/>
                <a:latin typeface="+mn-lt"/>
                <a:ea typeface="+mn-ea"/>
                <a:cs typeface="+mn-cs"/>
              </a:rPr>
              <a:t>calculateCost</a:t>
            </a:r>
            <a:r>
              <a:rPr lang="en-US" sz="1200" b="0" kern="1200" dirty="0">
                <a:solidFill>
                  <a:schemeClr val="tx1"/>
                </a:solidFill>
                <a:effectLst/>
                <a:latin typeface="+mn-lt"/>
                <a:ea typeface="+mn-ea"/>
                <a:cs typeface="+mn-cs"/>
              </a:rPr>
              <a:t>. The base price is 20 dollars plus 50 cents per milligram. So 100mg costs 20 plus 50 equals 70 dollars. But there are age adjustments&gt;  patients under 18 get a 15 dollar pediatric surcharge for specialist care. Elderly patients 65 and over get a 10 dollar discount. And there's a minimum floor of 20 dollars &gt; the cost can never go below that."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data model is the blueprint of what information the system stores.</a:t>
            </a:r>
          </a:p>
          <a:p>
            <a:r>
              <a:rPr lang="en-US" sz="1200" b="0" kern="1200" dirty="0">
                <a:solidFill>
                  <a:schemeClr val="tx1"/>
                </a:solidFill>
                <a:effectLst/>
                <a:latin typeface="+mn-lt"/>
                <a:ea typeface="+mn-ea"/>
                <a:cs typeface="+mn-cs"/>
              </a:rPr>
              <a:t>My application has one core entity: the Prescription. It has 8 attributes. You can see them on the left: prescription ID, patient name, patient age, weight in kilograms, drug name, dosage in milligrams, refills remaining, and a paid status.</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Each attribute has rules. For example patient age must be an integer between 0 and 120. Dosage must be a double between 10 and 500 milligrams. Refills must be an integer between 0 and 12. The prescription ID must be unique, you can't register two prescriptions with the same ID.</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data is stored in a Java HashMap &gt; this is like a dictionary. The key is the prescription ID, and the value is the full Prescription object.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relationship is one-to-many. One patient can have many prescriptions, each with a unique ID.</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Everything I built was tracked using Git and GitHub for version control.</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Version control is like Google Docs history for code. Every time I made a significant change, I saved it with a descriptive message. Now I have a complete history of every decision I made during the project.</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You can see the timeline on the left. Week 1: I set up the project structure. Week 2: I wrote all 5 business logic functions, then immediately wrote the unit tests. Week 3: I built the Spring Boot web application and set up the CI/CD pipeline. Week 4: I deployed to Railway cloud, added </a:t>
            </a:r>
            <a:r>
              <a:rPr lang="en-US" sz="1200" b="0" kern="1200" dirty="0" err="1">
                <a:solidFill>
                  <a:schemeClr val="tx1"/>
                </a:solidFill>
                <a:effectLst/>
                <a:latin typeface="+mn-lt"/>
                <a:ea typeface="+mn-ea"/>
                <a:cs typeface="+mn-cs"/>
              </a:rPr>
              <a:t>MockMvc</a:t>
            </a:r>
            <a:r>
              <a:rPr lang="en-US" sz="1200" b="0" kern="1200" dirty="0">
                <a:solidFill>
                  <a:schemeClr val="tx1"/>
                </a:solidFill>
                <a:effectLst/>
                <a:latin typeface="+mn-lt"/>
                <a:ea typeface="+mn-ea"/>
                <a:cs typeface="+mn-cs"/>
              </a:rPr>
              <a:t> integration tests, added </a:t>
            </a:r>
            <a:r>
              <a:rPr lang="en-US" sz="1200" b="0" kern="1200" dirty="0" err="1">
                <a:solidFill>
                  <a:schemeClr val="tx1"/>
                </a:solidFill>
                <a:effectLst/>
                <a:latin typeface="+mn-lt"/>
                <a:ea typeface="+mn-ea"/>
                <a:cs typeface="+mn-cs"/>
              </a:rPr>
              <a:t>PITest</a:t>
            </a:r>
            <a:r>
              <a:rPr lang="en-US" sz="1200" b="0" kern="1200" dirty="0">
                <a:solidFill>
                  <a:schemeClr val="tx1"/>
                </a:solidFill>
                <a:effectLst/>
                <a:latin typeface="+mn-lt"/>
                <a:ea typeface="+mn-ea"/>
                <a:cs typeface="+mn-cs"/>
              </a:rPr>
              <a:t> mutation testing, and made the final submission.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 the right you can see the exact git commands I used every time. git add dot stages all changes. git commit with a message saves that version. git push sends it to GitHub. And from there, everything else is automatic.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Now let me explain all the testing techniques I used this is the heart of the project.</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I used 6 different testing techniques divided into 3 categories.</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BLACKBOX testing means you test a function without knowing or caring how it works inside. You just give inputs and check outputs.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first </a:t>
            </a:r>
            <a:r>
              <a:rPr lang="en-US" sz="1200" b="0" kern="1200" dirty="0" err="1">
                <a:solidFill>
                  <a:schemeClr val="tx1"/>
                </a:solidFill>
                <a:effectLst/>
                <a:latin typeface="+mn-lt"/>
                <a:ea typeface="+mn-ea"/>
                <a:cs typeface="+mn-cs"/>
              </a:rPr>
              <a:t>blackbox</a:t>
            </a:r>
            <a:r>
              <a:rPr lang="en-US" sz="1200" b="0" kern="1200" dirty="0">
                <a:solidFill>
                  <a:schemeClr val="tx1"/>
                </a:solidFill>
                <a:effectLst/>
                <a:latin typeface="+mn-lt"/>
                <a:ea typeface="+mn-ea"/>
                <a:cs typeface="+mn-cs"/>
              </a:rPr>
              <a:t> technique is BVA, Boundary Value Analysis. Most bugs hide at the edges of valid ranges. So I tested values at the exact boundary. For age 18, I test 17: the last pediatric age AND 18 the first adult age. If someone accidentally wrote 'greater than 18' instead of 'greater than or equal to 18', the test for age 18 catches it immediately. </a:t>
            </a:r>
            <a:r>
              <a:rPr lang="en-US" dirty="0"/>
              <a:t>This is often called an "Off-By-One" error.</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second </a:t>
            </a:r>
            <a:r>
              <a:rPr lang="en-US" sz="1200" b="0" kern="1200" dirty="0" err="1">
                <a:solidFill>
                  <a:schemeClr val="tx1"/>
                </a:solidFill>
                <a:effectLst/>
                <a:latin typeface="+mn-lt"/>
                <a:ea typeface="+mn-ea"/>
                <a:cs typeface="+mn-cs"/>
              </a:rPr>
              <a:t>blackbox</a:t>
            </a:r>
            <a:r>
              <a:rPr lang="en-US" sz="1200" b="0" kern="1200" dirty="0">
                <a:solidFill>
                  <a:schemeClr val="tx1"/>
                </a:solidFill>
                <a:effectLst/>
                <a:latin typeface="+mn-lt"/>
                <a:ea typeface="+mn-ea"/>
                <a:cs typeface="+mn-cs"/>
              </a:rPr>
              <a:t> technique is EPC Equivalence Partitioning Classes. Instead of testing every single age from 0 to 120 &gt; that's 121 tests &gt; I divided ages into groups that all behave the same way. Ages 18 to 64 all use the adult rate. So I just test one value from that group, like age 30. That one test covers all adult ages.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WHITEBOX testing means you DO look inside the code and make sure every line and every decision point is covered.</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Statement coverage means every line of code is executed at least once. I achieved 99%.</a:t>
            </a:r>
          </a:p>
          <a:p>
            <a:r>
              <a:rPr lang="en-US" sz="1200" b="0" kern="1200" dirty="0">
                <a:solidFill>
                  <a:schemeClr val="tx1"/>
                </a:solidFill>
                <a:effectLst/>
                <a:latin typeface="+mn-lt"/>
                <a:ea typeface="+mn-ea"/>
                <a:cs typeface="+mn-cs"/>
              </a:rPr>
              <a:t>Branch coverage means every if/else is tested from both the YES side and the NO side. I achieved 96%.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Path coverage means every possible route through a function is tested</a:t>
            </a:r>
            <a:r>
              <a:rPr lang="en-US" sz="1200" b="1" kern="1200" dirty="0">
                <a:solidFill>
                  <a:schemeClr val="tx1"/>
                </a:solidFill>
                <a:effectLst/>
                <a:latin typeface="+mn-lt"/>
                <a:ea typeface="+mn-ea"/>
                <a:cs typeface="+mn-cs"/>
              </a:rPr>
              <a:t>, </a:t>
            </a:r>
            <a:r>
              <a:rPr lang="en-US" b="0" dirty="0"/>
              <a:t>Path Coverage </a:t>
            </a:r>
            <a:r>
              <a:rPr lang="en-US" dirty="0"/>
              <a:t>checks if you’ve taken every possible </a:t>
            </a:r>
            <a:r>
              <a:rPr lang="en-US" i="1" dirty="0"/>
              <a:t>sequence</a:t>
            </a:r>
            <a:r>
              <a:rPr lang="en-US" dirty="0"/>
              <a:t> of those exits.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Then there's integration testing using </a:t>
            </a:r>
            <a:r>
              <a:rPr lang="en-US" sz="1200" b="0" kern="1200" dirty="0" err="1">
                <a:solidFill>
                  <a:schemeClr val="tx1"/>
                </a:solidFill>
                <a:effectLst/>
                <a:latin typeface="+mn-lt"/>
                <a:ea typeface="+mn-ea"/>
                <a:cs typeface="+mn-cs"/>
              </a:rPr>
              <a:t>MockMvc</a:t>
            </a:r>
            <a:r>
              <a:rPr lang="en-US" sz="1200" b="0" kern="1200" dirty="0">
                <a:solidFill>
                  <a:schemeClr val="tx1"/>
                </a:solidFill>
                <a:effectLst/>
                <a:latin typeface="+mn-lt"/>
                <a:ea typeface="+mn-ea"/>
                <a:cs typeface="+mn-cs"/>
              </a:rPr>
              <a:t> &gt; which tests how the web layer connects to the business logic. And finally mutation testing with </a:t>
            </a:r>
            <a:r>
              <a:rPr lang="en-US" sz="1200" b="0" kern="1200" dirty="0" err="1">
                <a:solidFill>
                  <a:schemeClr val="tx1"/>
                </a:solidFill>
                <a:effectLst/>
                <a:latin typeface="+mn-lt"/>
                <a:ea typeface="+mn-ea"/>
                <a:cs typeface="+mn-cs"/>
              </a:rPr>
              <a:t>PITest</a:t>
            </a:r>
            <a:r>
              <a:rPr lang="en-US" sz="1200" b="0" kern="1200" dirty="0">
                <a:solidFill>
                  <a:schemeClr val="tx1"/>
                </a:solidFill>
                <a:effectLst/>
                <a:latin typeface="+mn-lt"/>
                <a:ea typeface="+mn-ea"/>
                <a:cs typeface="+mn-cs"/>
              </a:rPr>
              <a:t> which I'll cover in detail next.</a:t>
            </a:r>
          </a:p>
          <a:p>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Here are the actual results of running my tests.</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109 tests total. Zero failures. 99% instruction coverage. 96% branch coverage.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table breaks this down function by function. Calculate dosage has 27 tests alone, 17 BVA tests covering every boundary, 5 equivalence partition tests, and 5 additional </a:t>
            </a:r>
            <a:r>
              <a:rPr lang="en-US" sz="1200" b="0" kern="1200" dirty="0" err="1">
                <a:solidFill>
                  <a:schemeClr val="tx1"/>
                </a:solidFill>
                <a:effectLst/>
                <a:latin typeface="+mn-lt"/>
                <a:ea typeface="+mn-ea"/>
                <a:cs typeface="+mn-cs"/>
              </a:rPr>
              <a:t>whitebox</a:t>
            </a:r>
            <a:r>
              <a:rPr lang="en-US" sz="1200" b="0" kern="1200" dirty="0">
                <a:solidFill>
                  <a:schemeClr val="tx1"/>
                </a:solidFill>
                <a:effectLst/>
                <a:latin typeface="+mn-lt"/>
                <a:ea typeface="+mn-ea"/>
                <a:cs typeface="+mn-cs"/>
              </a:rPr>
              <a:t> coverage tests.</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a:t>
            </a:r>
            <a:r>
              <a:rPr lang="en-US" sz="1200" b="0" kern="1200" dirty="0" err="1">
                <a:solidFill>
                  <a:schemeClr val="tx1"/>
                </a:solidFill>
                <a:effectLst/>
                <a:latin typeface="+mn-lt"/>
                <a:ea typeface="+mn-ea"/>
                <a:cs typeface="+mn-cs"/>
              </a:rPr>
              <a:t>PharmacyController</a:t>
            </a:r>
            <a:r>
              <a:rPr lang="en-US" sz="1200" b="0" kern="1200" dirty="0">
                <a:solidFill>
                  <a:schemeClr val="tx1"/>
                </a:solidFill>
                <a:effectLst/>
                <a:latin typeface="+mn-lt"/>
                <a:ea typeface="+mn-ea"/>
                <a:cs typeface="+mn-cs"/>
              </a:rPr>
              <a:t> row shows the 16 </a:t>
            </a:r>
            <a:r>
              <a:rPr lang="en-US" sz="1200" b="0" kern="1200" dirty="0" err="1">
                <a:solidFill>
                  <a:schemeClr val="tx1"/>
                </a:solidFill>
                <a:effectLst/>
                <a:latin typeface="+mn-lt"/>
                <a:ea typeface="+mn-ea"/>
                <a:cs typeface="+mn-cs"/>
              </a:rPr>
              <a:t>MockMvc</a:t>
            </a:r>
            <a:r>
              <a:rPr lang="en-US" sz="1200" b="0" kern="1200" dirty="0">
                <a:solidFill>
                  <a:schemeClr val="tx1"/>
                </a:solidFill>
                <a:effectLst/>
                <a:latin typeface="+mn-lt"/>
                <a:ea typeface="+mn-ea"/>
                <a:cs typeface="+mn-cs"/>
              </a:rPr>
              <a:t> integration tests which I'll explain on the integration slide.</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total row at the bottom shows 45 BVA tests, 17 EPC tests, and 29 other tests covering </a:t>
            </a:r>
            <a:r>
              <a:rPr lang="en-US" sz="1200" b="0" kern="1200" dirty="0" err="1">
                <a:solidFill>
                  <a:schemeClr val="tx1"/>
                </a:solidFill>
                <a:effectLst/>
                <a:latin typeface="+mn-lt"/>
                <a:ea typeface="+mn-ea"/>
                <a:cs typeface="+mn-cs"/>
              </a:rPr>
              <a:t>whitebox</a:t>
            </a:r>
            <a:r>
              <a:rPr lang="en-US" sz="1200" b="0" kern="1200" dirty="0">
                <a:solidFill>
                  <a:schemeClr val="tx1"/>
                </a:solidFill>
                <a:effectLst/>
                <a:latin typeface="+mn-lt"/>
                <a:ea typeface="+mn-ea"/>
                <a:cs typeface="+mn-cs"/>
              </a:rPr>
              <a:t> and integration scenarios.</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Every single test shows a green checkmark.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On the left I explain WHY BVA matters. If code says 'if age greater than 18' but it should say 'if age greater than or equal to 18', the only test that catches this bug is a test for age 17 and age 18 exactly. Testing age 10 or age 30 would miss this completely.</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 the right you can see the actual BVA test cases for my </a:t>
            </a:r>
            <a:r>
              <a:rPr lang="en-US" sz="1200" b="0" kern="1200" dirty="0" err="1">
                <a:solidFill>
                  <a:schemeClr val="tx1"/>
                </a:solidFill>
                <a:effectLst/>
                <a:latin typeface="+mn-lt"/>
                <a:ea typeface="+mn-ea"/>
                <a:cs typeface="+mn-cs"/>
              </a:rPr>
              <a:t>calculateDosage</a:t>
            </a:r>
            <a:r>
              <a:rPr lang="en-US" sz="1200" b="0" kern="1200" dirty="0">
                <a:solidFill>
                  <a:schemeClr val="tx1"/>
                </a:solidFill>
                <a:effectLst/>
                <a:latin typeface="+mn-lt"/>
                <a:ea typeface="+mn-ea"/>
                <a:cs typeface="+mn-cs"/>
              </a:rPr>
              <a:t> function. There are 9 test cases just for the age parameter.</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Test BVA-01 uses age -1 and expects an exception — that's just below the valid minimum.</a:t>
            </a:r>
          </a:p>
          <a:p>
            <a:r>
              <a:rPr lang="en-US" sz="1200" b="0" kern="1200" dirty="0">
                <a:solidFill>
                  <a:schemeClr val="tx1"/>
                </a:solidFill>
                <a:effectLst/>
                <a:latin typeface="+mn-lt"/>
                <a:ea typeface="+mn-ea"/>
                <a:cs typeface="+mn-cs"/>
              </a:rPr>
              <a:t>BVA-02 uses age 0 — the minimum boundary — and expects the result to be clamped to the minimum 10 milligrams.</a:t>
            </a:r>
          </a:p>
          <a:p>
            <a:r>
              <a:rPr lang="en-US" sz="1200" b="0" kern="1200" dirty="0">
                <a:solidFill>
                  <a:schemeClr val="tx1"/>
                </a:solidFill>
                <a:effectLst/>
                <a:latin typeface="+mn-lt"/>
                <a:ea typeface="+mn-ea"/>
                <a:cs typeface="+mn-cs"/>
              </a:rPr>
              <a:t>BVA-04 uses age 17 — the last pediatric age — and expects 3 milligrams per kilogram.</a:t>
            </a:r>
          </a:p>
          <a:p>
            <a:r>
              <a:rPr lang="en-US" sz="1200" b="0" kern="1200" dirty="0">
                <a:solidFill>
                  <a:schemeClr val="tx1"/>
                </a:solidFill>
                <a:effectLst/>
                <a:latin typeface="+mn-lt"/>
                <a:ea typeface="+mn-ea"/>
                <a:cs typeface="+mn-cs"/>
              </a:rPr>
              <a:t>BVA-05 uses age 18 — the FIRST adult age — this is the KEY boundary — and expects 5 milligrams per kilogram.</a:t>
            </a:r>
          </a:p>
          <a:p>
            <a:r>
              <a:rPr lang="en-US" sz="1200" b="0" kern="1200" dirty="0">
                <a:solidFill>
                  <a:schemeClr val="tx1"/>
                </a:solidFill>
                <a:effectLst/>
                <a:latin typeface="+mn-lt"/>
                <a:ea typeface="+mn-ea"/>
                <a:cs typeface="+mn-cs"/>
              </a:rPr>
              <a:t>BVA-07 uses age 65 — the FIRST elderly age — another KEY boundary — and expects 4 milligrams per kilogram.</a:t>
            </a:r>
          </a:p>
          <a:p>
            <a:r>
              <a:rPr lang="en-US" sz="1200" b="0" kern="1200" dirty="0">
                <a:solidFill>
                  <a:schemeClr val="tx1"/>
                </a:solidFill>
                <a:effectLst/>
                <a:latin typeface="+mn-lt"/>
                <a:ea typeface="+mn-ea"/>
                <a:cs typeface="+mn-cs"/>
              </a:rPr>
              <a:t>BVA-09 uses age 121 — just above maximum — and expects an exception.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highlighted rows in yellow are the critical boundary tests. These are where bugs most commonly hide.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EPC stands for Equivalence Partitioning Classes. The problem it solves is this &gt; testing every possible age from 0 to 120 would need 121 tests. That's impractical. The solution is to </a:t>
            </a:r>
            <a:r>
              <a:rPr lang="en-US" dirty="0" err="1"/>
              <a:t>realise</a:t>
            </a:r>
            <a:r>
              <a:rPr lang="en-US" dirty="0"/>
              <a:t> that ages 18 to 64 ALL behave identically. they all use the adult dosage rate. So I test just one value from that group — age 30 — and it covers all 47 adult ages. I divided ages into 5 partitions — two invalid ones that should throw errors, and three valid ones for pediatric, adult and elderly. One test per partition gives me complete coverage.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function in my project has its own partitions. </a:t>
            </a:r>
            <a:r>
              <a:rPr lang="en-US" dirty="0" err="1"/>
              <a:t>registerPrescription</a:t>
            </a:r>
            <a:r>
              <a:rPr lang="en-US" dirty="0"/>
              <a:t> only needs 3:  below 0, valid 0 to 120, and above 120. </a:t>
            </a:r>
          </a:p>
          <a:p>
            <a:r>
              <a:rPr lang="en-US" dirty="0" err="1"/>
              <a:t>calculateDosage</a:t>
            </a:r>
            <a:r>
              <a:rPr lang="en-US" dirty="0"/>
              <a:t> needs 5 because it has 3 valid age groups. </a:t>
            </a:r>
          </a:p>
          <a:p>
            <a:r>
              <a:rPr lang="en-US" dirty="0" err="1"/>
              <a:t>calculateCost</a:t>
            </a:r>
            <a:r>
              <a:rPr lang="en-US" dirty="0"/>
              <a:t> needs 6 because it has TWO parameters — age AND dosage — each with their own invalid ranges. So an invalid dosage of 0 throws an error regardless of the age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EPC and BVA work together. EPC gives efficiency&gt; 5 tests cover all age groups. BVA gives precision &gt; 8 more tests at every boundary catch off-by-one errors like greater-than versus greater-than-or-equal. Together they give 13 tests that provide complete </a:t>
            </a:r>
            <a:r>
              <a:rPr lang="en-US" dirty="0" err="1"/>
              <a:t>blackbox</a:t>
            </a:r>
            <a:r>
              <a:rPr lang="en-US" dirty="0"/>
              <a:t> coverage of </a:t>
            </a:r>
            <a:r>
              <a:rPr lang="en-US" dirty="0" err="1"/>
              <a:t>calculateDosage</a:t>
            </a:r>
            <a:r>
              <a:rPr lang="en-US" dirty="0"/>
              <a:t> alone. That's the power of combining both techniques.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concept is this: </a:t>
            </a:r>
            <a:r>
              <a:rPr lang="en-US" sz="1200" b="0" kern="1200" dirty="0" err="1">
                <a:solidFill>
                  <a:schemeClr val="tx1"/>
                </a:solidFill>
                <a:effectLst/>
                <a:latin typeface="+mn-lt"/>
                <a:ea typeface="+mn-ea"/>
                <a:cs typeface="+mn-cs"/>
              </a:rPr>
              <a:t>PITest</a:t>
            </a:r>
            <a:r>
              <a:rPr lang="en-US" sz="1200" b="0" kern="1200" dirty="0">
                <a:solidFill>
                  <a:schemeClr val="tx1"/>
                </a:solidFill>
                <a:effectLst/>
                <a:latin typeface="+mn-lt"/>
                <a:ea typeface="+mn-ea"/>
                <a:cs typeface="+mn-cs"/>
              </a:rPr>
              <a:t> automatically introduces small bugs into my code, then checks whether my existing tests catch them. If a test catches the bug, that mutation is KILLED, which means my tests are strong. If no test catches it, the mutation SURVIVED &gt; which means there's a gap in my test suite.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81 mutations were automatically generated. 77 were killed my tests caught them. Only 4 survived. That gives a mutation score of 77 divided by 81 times 100 equals 95%.</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industry standard for a good mutation score is 80%. I achieved 95%.</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table on the right shows the 5 types of mutations </a:t>
            </a:r>
            <a:r>
              <a:rPr lang="en-US" sz="1200" b="0" kern="1200" dirty="0" err="1">
                <a:solidFill>
                  <a:schemeClr val="tx1"/>
                </a:solidFill>
                <a:effectLst/>
                <a:latin typeface="+mn-lt"/>
                <a:ea typeface="+mn-ea"/>
                <a:cs typeface="+mn-cs"/>
              </a:rPr>
              <a:t>PITest</a:t>
            </a:r>
            <a:r>
              <a:rPr lang="en-US" sz="1200" b="0" kern="1200" dirty="0">
                <a:solidFill>
                  <a:schemeClr val="tx1"/>
                </a:solidFill>
                <a:effectLst/>
                <a:latin typeface="+mn-lt"/>
                <a:ea typeface="+mn-ea"/>
                <a:cs typeface="+mn-cs"/>
              </a:rPr>
              <a:t> tried. CONDITIONALS_BOUNDARY changes less-than to less-than-or-equal. So 'age less than 0' becomes 'age less than or equal to 0'. My test for age equals 0 catches this immediately.</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NEGATE_CONDITIONALS flips the entire condition. MATH changes arithmetic operators like multiplication to division. TRUE and FALSE RETURNS force functions to always return true or always return false regardless of the input.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fact that 77 out of 81 of these artificial bugs were caught means my tests are genuinely strong, not just hitting lines but actually verifying correct </a:t>
            </a:r>
            <a:r>
              <a:rPr lang="en-US" sz="1200" b="0" kern="1200" dirty="0" err="1">
                <a:solidFill>
                  <a:schemeClr val="tx1"/>
                </a:solidFill>
                <a:effectLst/>
                <a:latin typeface="+mn-lt"/>
                <a:ea typeface="+mn-ea"/>
                <a:cs typeface="+mn-cs"/>
              </a:rPr>
              <a:t>behaviour</a:t>
            </a: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Integration testing is different from unit testing. Unit tests test ONE function in isolation. Integration tests test MULTIPLE components working TOGETHER.</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My integration testing follows a top-down approach. This means I start testing from the topmost layer — the Controller — and call down through all the layers beneath it.</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You can see the diagram on the left. The Controller is at the top. When a test runs, it calls the Controller which calls </a:t>
            </a:r>
            <a:r>
              <a:rPr lang="en-US" sz="1200" b="0" kern="1200" dirty="0" err="1">
                <a:solidFill>
                  <a:schemeClr val="tx1"/>
                </a:solidFill>
                <a:effectLst/>
                <a:latin typeface="+mn-lt"/>
                <a:ea typeface="+mn-ea"/>
                <a:cs typeface="+mn-cs"/>
              </a:rPr>
              <a:t>PharmacySystem</a:t>
            </a:r>
            <a:r>
              <a:rPr lang="en-US" sz="1200" b="0" kern="1200" dirty="0">
                <a:solidFill>
                  <a:schemeClr val="tx1"/>
                </a:solidFill>
                <a:effectLst/>
                <a:latin typeface="+mn-lt"/>
                <a:ea typeface="+mn-ea"/>
                <a:cs typeface="+mn-cs"/>
              </a:rPr>
              <a:t> which uses the Prescription data model. This tests the entire call chain together, not individual pieces in isolation.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 used </a:t>
            </a:r>
            <a:r>
              <a:rPr lang="en-US" sz="1200" b="0" kern="1200" dirty="0" err="1">
                <a:solidFill>
                  <a:schemeClr val="tx1"/>
                </a:solidFill>
                <a:effectLst/>
                <a:latin typeface="+mn-lt"/>
                <a:ea typeface="+mn-ea"/>
                <a:cs typeface="+mn-cs"/>
              </a:rPr>
              <a:t>MockMvc</a:t>
            </a:r>
            <a:r>
              <a:rPr lang="en-US" sz="1200" b="0" kern="1200" dirty="0">
                <a:solidFill>
                  <a:schemeClr val="tx1"/>
                </a:solidFill>
                <a:effectLst/>
                <a:latin typeface="+mn-lt"/>
                <a:ea typeface="+mn-ea"/>
                <a:cs typeface="+mn-cs"/>
              </a:rPr>
              <a:t> for this, a Spring testing tool that simulates HTTP requests without actually opening a browser. So instead of manually clicking buttons, I write code that says 'pretend a user submitted this form with these values' and then check the result.</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table shows all 16 integration tests. For example &gt; POST /register with valid data checks that success equals true and the view is the result page. POST /register with an empty ID checks that success equals false. POST /dosage with age 30 and weight 60 should return 300 milligrams as a success.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All 16 pass. Zero failures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CI/CD stands for Continuous Integration and Continuous Deployment. This is how professional software teams work.</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pipeline I built means every time I save code to GitHub, every single time everything runs automatically. I don't have to do anything.</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Walk through the steps on screen. First I type git push. GitHub detects the new code. A brand new Ubuntu Linux computer is spun up in the cloud. Java 21 is installed on it. My code is downloaded. It compiles checking for syntax errors. Then all 109 tests run. The </a:t>
            </a:r>
            <a:r>
              <a:rPr lang="en-US" sz="1200" b="0" kern="1200" dirty="0" err="1">
                <a:solidFill>
                  <a:schemeClr val="tx1"/>
                </a:solidFill>
                <a:effectLst/>
                <a:latin typeface="+mn-lt"/>
                <a:ea typeface="+mn-ea"/>
                <a:cs typeface="+mn-cs"/>
              </a:rPr>
              <a:t>JaCoCo</a:t>
            </a:r>
            <a:r>
              <a:rPr lang="en-US" sz="1200" b="0" kern="1200" dirty="0">
                <a:solidFill>
                  <a:schemeClr val="tx1"/>
                </a:solidFill>
                <a:effectLst/>
                <a:latin typeface="+mn-lt"/>
                <a:ea typeface="+mn-ea"/>
                <a:cs typeface="+mn-cs"/>
              </a:rPr>
              <a:t> coverage report is generated. If everything passes, Railway automatically downloads the new code and deploys it live.</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two outcome boxes tell the story. If all tests pass  green checkmark — the live website is automatically updated. If any test fails red X — nothing gets deployed. The site stays on the last working version. And I get notified immediately.</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 the bottom you can see the actual lines from my </a:t>
            </a:r>
            <a:r>
              <a:rPr lang="en-US" sz="1200" b="0" kern="1200" dirty="0" err="1">
                <a:solidFill>
                  <a:schemeClr val="tx1"/>
                </a:solidFill>
                <a:effectLst/>
                <a:latin typeface="+mn-lt"/>
                <a:ea typeface="+mn-ea"/>
                <a:cs typeface="+mn-cs"/>
              </a:rPr>
              <a:t>ci.yml</a:t>
            </a:r>
            <a:r>
              <a:rPr lang="en-US" sz="1200" b="0" kern="1200" dirty="0">
                <a:solidFill>
                  <a:schemeClr val="tx1"/>
                </a:solidFill>
                <a:effectLst/>
                <a:latin typeface="+mn-lt"/>
                <a:ea typeface="+mn-ea"/>
                <a:cs typeface="+mn-cs"/>
              </a:rPr>
              <a:t> file and what each one does in plain English. 'on push branches main' means run this whenever I push to the main branch. 'runs-on ubuntu-latest' means use a fresh Linux computer. '</a:t>
            </a:r>
            <a:r>
              <a:rPr lang="en-US" sz="1200" b="0" kern="1200" dirty="0" err="1">
                <a:solidFill>
                  <a:schemeClr val="tx1"/>
                </a:solidFill>
                <a:effectLst/>
                <a:latin typeface="+mn-lt"/>
                <a:ea typeface="+mn-ea"/>
                <a:cs typeface="+mn-cs"/>
              </a:rPr>
              <a:t>mvn</a:t>
            </a:r>
            <a:r>
              <a:rPr lang="en-US" sz="1200" b="0" kern="1200" dirty="0">
                <a:solidFill>
                  <a:schemeClr val="tx1"/>
                </a:solidFill>
                <a:effectLst/>
                <a:latin typeface="+mn-lt"/>
                <a:ea typeface="+mn-ea"/>
                <a:cs typeface="+mn-cs"/>
              </a:rPr>
              <a:t> batch-mode test' means run all 98 tests.</a:t>
            </a:r>
          </a:p>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This is the live application running on Railway cloud right now. You can see the 5 panels — one for each function.</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Let me switch to the terminal and run the full test suite live.</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You can see 109 tests running. All passing. BUILD SUCCESS in 3 seconds.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99% instruction coverage. 96% branch coverage.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[Open target/pit-reports/</a:t>
            </a:r>
            <a:r>
              <a:rPr lang="en-US" sz="1200" b="0" kern="1200" dirty="0" err="1">
                <a:solidFill>
                  <a:schemeClr val="tx1"/>
                </a:solidFill>
                <a:effectLst/>
                <a:latin typeface="+mn-lt"/>
                <a:ea typeface="+mn-ea"/>
                <a:cs typeface="+mn-cs"/>
              </a:rPr>
              <a:t>index.html</a:t>
            </a:r>
            <a:r>
              <a:rPr lang="en-US" sz="1200" b="0" kern="1200" dirty="0">
                <a:solidFill>
                  <a:schemeClr val="tx1"/>
                </a:solidFill>
                <a:effectLst/>
                <a:latin typeface="+mn-lt"/>
                <a:ea typeface="+mn-ea"/>
                <a:cs typeface="+mn-cs"/>
              </a:rPr>
              <a: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95% mutation score. 77 out of 81 mutations killed.</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final demo. I'll make a small code change and push it.</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[git add . then git commit -m 'Demo presentation commit' then git push origin main]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pipeline is already running. It's downloading my code, installing Java, compiling, running all 98 tests. And... green checkmark. All tests pass. Railway will deploy this in about 30 seconds.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exactly how professional software development works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To </a:t>
            </a:r>
            <a:r>
              <a:rPr lang="en-US" sz="1200" b="0" kern="1200" dirty="0" err="1">
                <a:solidFill>
                  <a:schemeClr val="tx1"/>
                </a:solidFill>
                <a:effectLst/>
                <a:latin typeface="+mn-lt"/>
                <a:ea typeface="+mn-ea"/>
                <a:cs typeface="+mn-cs"/>
              </a:rPr>
              <a:t>summarise</a:t>
            </a:r>
            <a:r>
              <a:rPr lang="en-US" sz="1200" b="0" kern="1200" dirty="0">
                <a:solidFill>
                  <a:schemeClr val="tx1"/>
                </a:solidFill>
                <a:effectLst/>
                <a:latin typeface="+mn-lt"/>
                <a:ea typeface="+mn-ea"/>
                <a:cs typeface="+mn-cs"/>
              </a:rPr>
              <a:t> — I built a Pharmacy Prescription Manager in Java Spring Boot with 5 business logic functions, 109 automated tests using BVA, EPC, statement coverage, branch coverage, path coverage, top-down integration testing, and mutation testing with 95% score. The project is deployed live on Railway cloud and uses GitHub Actions for full CI/CD automation.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Thank you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txBody>
          <a:bodyPr/>
          <a:lstStyle/>
          <a:p>
            <a:endParaRPr lang="en-US"/>
          </a:p>
        </p:txBody>
      </p:sp>
      <p:sp>
        <p:nvSpPr>
          <p:cNvPr id="3" name="Shape 1"/>
          <p:cNvSpPr/>
          <p:nvPr/>
        </p:nvSpPr>
        <p:spPr>
          <a:xfrm>
            <a:off x="457200" y="457200"/>
            <a:ext cx="2377440" cy="310896"/>
          </a:xfrm>
          <a:prstGeom prst="rect">
            <a:avLst/>
          </a:prstGeom>
          <a:solidFill>
            <a:srgbClr val="028090"/>
          </a:solidFill>
          <a:ln/>
        </p:spPr>
        <p:txBody>
          <a:bodyPr/>
          <a:lstStyle/>
          <a:p>
            <a:endParaRPr lang="en-US"/>
          </a:p>
        </p:txBody>
      </p:sp>
      <p:sp>
        <p:nvSpPr>
          <p:cNvPr id="4" name="Text 2"/>
          <p:cNvSpPr/>
          <p:nvPr/>
        </p:nvSpPr>
        <p:spPr>
          <a:xfrm>
            <a:off x="457200" y="457200"/>
            <a:ext cx="2377440"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SOFTWARE AUTOMATION · OPTION 2</a:t>
            </a:r>
            <a:endParaRPr lang="en-US" sz="800" dirty="0"/>
          </a:p>
        </p:txBody>
      </p:sp>
      <p:sp>
        <p:nvSpPr>
          <p:cNvPr id="5" name="Text 3"/>
          <p:cNvSpPr/>
          <p:nvPr/>
        </p:nvSpPr>
        <p:spPr>
          <a:xfrm>
            <a:off x="457200" y="896112"/>
            <a:ext cx="8412480" cy="868680"/>
          </a:xfrm>
          <a:prstGeom prst="rect">
            <a:avLst/>
          </a:prstGeom>
          <a:noFill/>
          <a:ln/>
        </p:spPr>
        <p:txBody>
          <a:bodyPr wrap="square" rtlCol="0" anchor="ctr"/>
          <a:lstStyle/>
          <a:p>
            <a:pPr marL="0" indent="0">
              <a:buNone/>
            </a:pPr>
            <a:r>
              <a:rPr lang="en-US" sz="5400" b="1" dirty="0">
                <a:solidFill>
                  <a:srgbClr val="FFFFFF"/>
                </a:solidFill>
                <a:latin typeface="Georgia" pitchFamily="34" charset="0"/>
                <a:ea typeface="Georgia" pitchFamily="34" charset="-122"/>
                <a:cs typeface="Georgia" pitchFamily="34" charset="-120"/>
              </a:rPr>
              <a:t>Pharmacy</a:t>
            </a:r>
            <a:endParaRPr lang="en-US" sz="5400" dirty="0"/>
          </a:p>
        </p:txBody>
      </p:sp>
      <p:sp>
        <p:nvSpPr>
          <p:cNvPr id="6" name="Text 4"/>
          <p:cNvSpPr/>
          <p:nvPr/>
        </p:nvSpPr>
        <p:spPr>
          <a:xfrm>
            <a:off x="457200" y="1691640"/>
            <a:ext cx="8412480" cy="822960"/>
          </a:xfrm>
          <a:prstGeom prst="rect">
            <a:avLst/>
          </a:prstGeom>
          <a:noFill/>
          <a:ln/>
        </p:spPr>
        <p:txBody>
          <a:bodyPr wrap="square" rtlCol="0" anchor="ctr"/>
          <a:lstStyle/>
          <a:p>
            <a:pPr marL="0" indent="0">
              <a:buNone/>
            </a:pPr>
            <a:r>
              <a:rPr lang="en-US" sz="5400" b="1" dirty="0">
                <a:solidFill>
                  <a:srgbClr val="02C39A"/>
                </a:solidFill>
                <a:latin typeface="Georgia" pitchFamily="34" charset="0"/>
                <a:ea typeface="Georgia" pitchFamily="34" charset="-122"/>
                <a:cs typeface="Georgia" pitchFamily="34" charset="-120"/>
              </a:rPr>
              <a:t>Prescription Manager</a:t>
            </a:r>
            <a:endParaRPr lang="en-US" sz="5400" dirty="0"/>
          </a:p>
        </p:txBody>
      </p:sp>
      <p:sp>
        <p:nvSpPr>
          <p:cNvPr id="7" name="Text 5"/>
          <p:cNvSpPr/>
          <p:nvPr/>
        </p:nvSpPr>
        <p:spPr>
          <a:xfrm>
            <a:off x="457200" y="2606040"/>
            <a:ext cx="5943600" cy="685800"/>
          </a:xfrm>
          <a:prstGeom prst="rect">
            <a:avLst/>
          </a:prstGeom>
          <a:noFill/>
          <a:ln/>
        </p:spPr>
        <p:txBody>
          <a:bodyPr wrap="square" rtlCol="0" anchor="ctr"/>
          <a:lstStyle/>
          <a:p>
            <a:pPr marL="0" indent="0">
              <a:buNone/>
            </a:pPr>
            <a:r>
              <a:rPr lang="en-US" sz="1300" dirty="0">
                <a:solidFill>
                  <a:srgbClr val="CBD5E1"/>
                </a:solidFill>
                <a:latin typeface="Calibri" pitchFamily="34" charset="0"/>
                <a:ea typeface="Calibri" pitchFamily="34" charset="-122"/>
                <a:cs typeface="Calibri" pitchFamily="34" charset="-120"/>
              </a:rPr>
              <a:t>A Java Spring Boot web application for managing patient prescriptions with full automated</a:t>
            </a:r>
            <a:endParaRPr lang="en-US" sz="1300" dirty="0"/>
          </a:p>
          <a:p>
            <a:pPr marL="0" indent="0">
              <a:buNone/>
            </a:pPr>
            <a:r>
              <a:rPr lang="en-US" sz="1300" dirty="0">
                <a:solidFill>
                  <a:srgbClr val="CBD5E1"/>
                </a:solidFill>
                <a:latin typeface="Calibri" pitchFamily="34" charset="0"/>
                <a:ea typeface="Calibri" pitchFamily="34" charset="-122"/>
                <a:cs typeface="Calibri" pitchFamily="34" charset="-120"/>
              </a:rPr>
              <a:t>testing, CI/CD pipeline, mutation testing and live cloud deployment.</a:t>
            </a:r>
            <a:endParaRPr lang="en-US" sz="1300" dirty="0"/>
          </a:p>
        </p:txBody>
      </p:sp>
      <p:sp>
        <p:nvSpPr>
          <p:cNvPr id="8" name="Shape 6"/>
          <p:cNvSpPr/>
          <p:nvPr/>
        </p:nvSpPr>
        <p:spPr>
          <a:xfrm>
            <a:off x="457200" y="3401568"/>
            <a:ext cx="4023360" cy="1005840"/>
          </a:xfrm>
          <a:prstGeom prst="rect">
            <a:avLst/>
          </a:prstGeom>
          <a:solidFill>
            <a:srgbClr val="0D2137"/>
          </a:solidFill>
          <a:ln/>
        </p:spPr>
        <p:txBody>
          <a:bodyPr/>
          <a:lstStyle/>
          <a:p>
            <a:endParaRPr lang="en-US"/>
          </a:p>
        </p:txBody>
      </p:sp>
      <p:sp>
        <p:nvSpPr>
          <p:cNvPr id="9" name="Text 7"/>
          <p:cNvSpPr/>
          <p:nvPr/>
        </p:nvSpPr>
        <p:spPr>
          <a:xfrm>
            <a:off x="594360" y="3456432"/>
            <a:ext cx="3749040" cy="228600"/>
          </a:xfrm>
          <a:prstGeom prst="rect">
            <a:avLst/>
          </a:prstGeom>
          <a:noFill/>
          <a:ln/>
        </p:spPr>
        <p:txBody>
          <a:bodyPr wrap="square" rtlCol="0" anchor="ctr"/>
          <a:lstStyle/>
          <a:p>
            <a:pPr marL="0" indent="0">
              <a:buNone/>
            </a:pPr>
            <a:r>
              <a:rPr lang="en-US" sz="800" b="1" kern="0" spc="300" dirty="0">
                <a:solidFill>
                  <a:srgbClr val="02C39A"/>
                </a:solidFill>
                <a:latin typeface="Calibri" pitchFamily="34" charset="0"/>
                <a:ea typeface="Calibri" pitchFamily="34" charset="-122"/>
                <a:cs typeface="Calibri" pitchFamily="34" charset="-120"/>
              </a:rPr>
              <a:t>Software Automation and Testing</a:t>
            </a:r>
            <a:endParaRPr lang="en-US" sz="800" dirty="0"/>
          </a:p>
        </p:txBody>
      </p:sp>
      <p:sp>
        <p:nvSpPr>
          <p:cNvPr id="10" name="Text 8"/>
          <p:cNvSpPr/>
          <p:nvPr/>
        </p:nvSpPr>
        <p:spPr>
          <a:xfrm>
            <a:off x="594360" y="3685032"/>
            <a:ext cx="3749040" cy="347472"/>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Aneri Shastri</a:t>
            </a:r>
            <a:endParaRPr lang="en-US" sz="2000" dirty="0"/>
          </a:p>
        </p:txBody>
      </p:sp>
      <p:sp>
        <p:nvSpPr>
          <p:cNvPr id="11" name="Text 9"/>
          <p:cNvSpPr/>
          <p:nvPr/>
        </p:nvSpPr>
        <p:spPr>
          <a:xfrm>
            <a:off x="594360" y="4032504"/>
            <a:ext cx="3749040" cy="22860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02201546</a:t>
            </a:r>
            <a:endParaRPr lang="en-US" sz="1000" dirty="0"/>
          </a:p>
        </p:txBody>
      </p:sp>
      <p:sp>
        <p:nvSpPr>
          <p:cNvPr id="12" name="Shape 10"/>
          <p:cNvSpPr/>
          <p:nvPr/>
        </p:nvSpPr>
        <p:spPr>
          <a:xfrm>
            <a:off x="4846320" y="3401568"/>
            <a:ext cx="1920240" cy="457200"/>
          </a:xfrm>
          <a:prstGeom prst="rect">
            <a:avLst/>
          </a:prstGeom>
          <a:solidFill>
            <a:srgbClr val="028090"/>
          </a:solidFill>
          <a:ln/>
        </p:spPr>
        <p:txBody>
          <a:bodyPr/>
          <a:lstStyle/>
          <a:p>
            <a:endParaRPr lang="en-US"/>
          </a:p>
        </p:txBody>
      </p:sp>
      <p:sp>
        <p:nvSpPr>
          <p:cNvPr id="13" name="Text 11"/>
          <p:cNvSpPr/>
          <p:nvPr/>
        </p:nvSpPr>
        <p:spPr>
          <a:xfrm>
            <a:off x="4846320" y="3419856"/>
            <a:ext cx="754380" cy="420624"/>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109</a:t>
            </a:r>
            <a:endParaRPr lang="en-US" sz="2200" dirty="0"/>
          </a:p>
        </p:txBody>
      </p:sp>
      <p:sp>
        <p:nvSpPr>
          <p:cNvPr id="14" name="Text 12"/>
          <p:cNvSpPr/>
          <p:nvPr/>
        </p:nvSpPr>
        <p:spPr>
          <a:xfrm>
            <a:off x="5504688" y="3511296"/>
            <a:ext cx="1234440" cy="2377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Unit Tests</a:t>
            </a:r>
            <a:endParaRPr lang="en-US" sz="1100" dirty="0"/>
          </a:p>
        </p:txBody>
      </p:sp>
      <p:sp>
        <p:nvSpPr>
          <p:cNvPr id="15" name="Shape 13"/>
          <p:cNvSpPr/>
          <p:nvPr/>
        </p:nvSpPr>
        <p:spPr>
          <a:xfrm>
            <a:off x="6949440" y="3401568"/>
            <a:ext cx="1920240" cy="457200"/>
          </a:xfrm>
          <a:prstGeom prst="rect">
            <a:avLst/>
          </a:prstGeom>
          <a:solidFill>
            <a:srgbClr val="0A2540"/>
          </a:solidFill>
          <a:ln/>
        </p:spPr>
        <p:txBody>
          <a:bodyPr/>
          <a:lstStyle/>
          <a:p>
            <a:endParaRPr lang="en-US"/>
          </a:p>
        </p:txBody>
      </p:sp>
      <p:sp>
        <p:nvSpPr>
          <p:cNvPr id="16" name="Text 14"/>
          <p:cNvSpPr/>
          <p:nvPr/>
        </p:nvSpPr>
        <p:spPr>
          <a:xfrm>
            <a:off x="6949439" y="3419856"/>
            <a:ext cx="817705" cy="420624"/>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99%</a:t>
            </a:r>
            <a:endParaRPr lang="en-US" sz="2200" dirty="0"/>
          </a:p>
        </p:txBody>
      </p:sp>
      <p:sp>
        <p:nvSpPr>
          <p:cNvPr id="17" name="Text 15"/>
          <p:cNvSpPr/>
          <p:nvPr/>
        </p:nvSpPr>
        <p:spPr>
          <a:xfrm>
            <a:off x="7676808" y="3511296"/>
            <a:ext cx="1234440" cy="2377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Coverage</a:t>
            </a:r>
            <a:endParaRPr lang="en-US" sz="1100" dirty="0"/>
          </a:p>
        </p:txBody>
      </p:sp>
      <p:sp>
        <p:nvSpPr>
          <p:cNvPr id="18" name="Shape 16"/>
          <p:cNvSpPr/>
          <p:nvPr/>
        </p:nvSpPr>
        <p:spPr>
          <a:xfrm>
            <a:off x="4846320" y="3913632"/>
            <a:ext cx="1920240" cy="457200"/>
          </a:xfrm>
          <a:prstGeom prst="rect">
            <a:avLst/>
          </a:prstGeom>
          <a:solidFill>
            <a:srgbClr val="E67E22"/>
          </a:solidFill>
          <a:ln/>
        </p:spPr>
        <p:txBody>
          <a:bodyPr/>
          <a:lstStyle/>
          <a:p>
            <a:endParaRPr lang="en-US"/>
          </a:p>
        </p:txBody>
      </p:sp>
      <p:sp>
        <p:nvSpPr>
          <p:cNvPr id="19" name="Text 17"/>
          <p:cNvSpPr/>
          <p:nvPr/>
        </p:nvSpPr>
        <p:spPr>
          <a:xfrm>
            <a:off x="4846320" y="3931920"/>
            <a:ext cx="822960" cy="420624"/>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95%</a:t>
            </a:r>
            <a:endParaRPr lang="en-US" sz="2200" dirty="0"/>
          </a:p>
        </p:txBody>
      </p:sp>
      <p:sp>
        <p:nvSpPr>
          <p:cNvPr id="20" name="Text 18"/>
          <p:cNvSpPr/>
          <p:nvPr/>
        </p:nvSpPr>
        <p:spPr>
          <a:xfrm>
            <a:off x="5600700" y="4023360"/>
            <a:ext cx="1234440" cy="2377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Mutation Score</a:t>
            </a:r>
            <a:endParaRPr lang="en-US" sz="1100" dirty="0"/>
          </a:p>
        </p:txBody>
      </p:sp>
      <p:sp>
        <p:nvSpPr>
          <p:cNvPr id="21" name="Shape 19"/>
          <p:cNvSpPr/>
          <p:nvPr/>
        </p:nvSpPr>
        <p:spPr>
          <a:xfrm>
            <a:off x="6949440" y="3913632"/>
            <a:ext cx="1920240" cy="457200"/>
          </a:xfrm>
          <a:prstGeom prst="rect">
            <a:avLst/>
          </a:prstGeom>
          <a:solidFill>
            <a:srgbClr val="27AE60"/>
          </a:solidFill>
          <a:ln/>
        </p:spPr>
        <p:txBody>
          <a:bodyPr/>
          <a:lstStyle/>
          <a:p>
            <a:endParaRPr lang="en-US"/>
          </a:p>
        </p:txBody>
      </p:sp>
      <p:sp>
        <p:nvSpPr>
          <p:cNvPr id="22" name="Text 20"/>
          <p:cNvSpPr/>
          <p:nvPr/>
        </p:nvSpPr>
        <p:spPr>
          <a:xfrm>
            <a:off x="6949440" y="3931920"/>
            <a:ext cx="640080" cy="420624"/>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23" name="Text 21"/>
          <p:cNvSpPr/>
          <p:nvPr/>
        </p:nvSpPr>
        <p:spPr>
          <a:xfrm>
            <a:off x="7607808" y="4023360"/>
            <a:ext cx="1234440" cy="2377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Functions</a:t>
            </a:r>
            <a:endParaRPr lang="en-US" sz="1100" dirty="0"/>
          </a:p>
        </p:txBody>
      </p:sp>
      <p:sp>
        <p:nvSpPr>
          <p:cNvPr id="25" name="Shape 2">
            <a:extLst>
              <a:ext uri="{FF2B5EF4-FFF2-40B4-BE49-F238E27FC236}">
                <a16:creationId xmlns:a16="http://schemas.microsoft.com/office/drawing/2014/main" id="{21E1CDBF-84BB-8CC1-D2EC-A4BC83ED00DD}"/>
              </a:ext>
            </a:extLst>
          </p:cNvPr>
          <p:cNvSpPr/>
          <p:nvPr/>
        </p:nvSpPr>
        <p:spPr>
          <a:xfrm>
            <a:off x="365760" y="4703996"/>
            <a:ext cx="8412480" cy="347472"/>
          </a:xfrm>
          <a:prstGeom prst="rect">
            <a:avLst/>
          </a:prstGeom>
          <a:solidFill>
            <a:srgbClr val="0D2137"/>
          </a:solidFill>
          <a:ln/>
        </p:spPr>
        <p:txBody>
          <a:bodyPr/>
          <a:lstStyle/>
          <a:p>
            <a:endParaRPr lang="en-US"/>
          </a:p>
        </p:txBody>
      </p:sp>
      <p:sp>
        <p:nvSpPr>
          <p:cNvPr id="26" name="Text 3">
            <a:extLst>
              <a:ext uri="{FF2B5EF4-FFF2-40B4-BE49-F238E27FC236}">
                <a16:creationId xmlns:a16="http://schemas.microsoft.com/office/drawing/2014/main" id="{B9E8C50B-96FC-8D6B-5C25-10BFB03FD99D}"/>
              </a:ext>
            </a:extLst>
          </p:cNvPr>
          <p:cNvSpPr/>
          <p:nvPr/>
        </p:nvSpPr>
        <p:spPr>
          <a:xfrm>
            <a:off x="502920" y="4703996"/>
            <a:ext cx="1097280" cy="347472"/>
          </a:xfrm>
          <a:prstGeom prst="rect">
            <a:avLst/>
          </a:prstGeom>
          <a:noFill/>
          <a:ln/>
        </p:spPr>
        <p:txBody>
          <a:bodyPr wrap="square"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Live URL:</a:t>
            </a:r>
            <a:endParaRPr lang="en-US" sz="1000" dirty="0"/>
          </a:p>
        </p:txBody>
      </p:sp>
      <p:sp>
        <p:nvSpPr>
          <p:cNvPr id="27" name="Text 4">
            <a:extLst>
              <a:ext uri="{FF2B5EF4-FFF2-40B4-BE49-F238E27FC236}">
                <a16:creationId xmlns:a16="http://schemas.microsoft.com/office/drawing/2014/main" id="{20999317-C09E-4B1D-304B-82F030B65C54}"/>
              </a:ext>
            </a:extLst>
          </p:cNvPr>
          <p:cNvSpPr/>
          <p:nvPr/>
        </p:nvSpPr>
        <p:spPr>
          <a:xfrm>
            <a:off x="1051560" y="4692645"/>
            <a:ext cx="7040880" cy="347472"/>
          </a:xfrm>
          <a:prstGeom prst="rect">
            <a:avLst/>
          </a:prstGeom>
          <a:noFill/>
          <a:ln/>
        </p:spPr>
        <p:txBody>
          <a:bodyPr wrap="square" rtlCol="0" anchor="ctr"/>
          <a:lstStyle/>
          <a:p>
            <a:pPr marL="0" indent="0">
              <a:buNone/>
            </a:pPr>
            <a:r>
              <a:rPr lang="en-US" sz="1100" dirty="0" err="1">
                <a:solidFill>
                  <a:srgbClr val="FFFFFF"/>
                </a:solidFill>
                <a:latin typeface="Calibri" pitchFamily="34" charset="0"/>
                <a:ea typeface="Calibri" pitchFamily="34" charset="-122"/>
                <a:cs typeface="Calibri" pitchFamily="34" charset="-120"/>
              </a:rPr>
              <a:t>pharmacyprescriptionmanager-production.up.railway.app</a:t>
            </a:r>
            <a:endParaRPr lang="en-US" sz="1100" dirty="0"/>
          </a:p>
        </p:txBody>
      </p:sp>
      <p:sp>
        <p:nvSpPr>
          <p:cNvPr id="30" name="Text 3">
            <a:extLst>
              <a:ext uri="{FF2B5EF4-FFF2-40B4-BE49-F238E27FC236}">
                <a16:creationId xmlns:a16="http://schemas.microsoft.com/office/drawing/2014/main" id="{9ACE1BF0-0890-CFF5-F4DC-1ABAF7E37CCD}"/>
              </a:ext>
            </a:extLst>
          </p:cNvPr>
          <p:cNvSpPr/>
          <p:nvPr/>
        </p:nvSpPr>
        <p:spPr>
          <a:xfrm>
            <a:off x="4480560" y="4695469"/>
            <a:ext cx="1097280" cy="347472"/>
          </a:xfrm>
          <a:prstGeom prst="rect">
            <a:avLst/>
          </a:prstGeom>
          <a:noFill/>
          <a:ln/>
        </p:spPr>
        <p:txBody>
          <a:bodyPr wrap="square"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GitHub URL:</a:t>
            </a:r>
            <a:endParaRPr lang="en-US" sz="1000" dirty="0"/>
          </a:p>
        </p:txBody>
      </p:sp>
      <p:sp>
        <p:nvSpPr>
          <p:cNvPr id="35" name="Text 4">
            <a:extLst>
              <a:ext uri="{FF2B5EF4-FFF2-40B4-BE49-F238E27FC236}">
                <a16:creationId xmlns:a16="http://schemas.microsoft.com/office/drawing/2014/main" id="{05995A7E-9A75-A78D-B9C4-D006DEC4705D}"/>
              </a:ext>
            </a:extLst>
          </p:cNvPr>
          <p:cNvSpPr/>
          <p:nvPr/>
        </p:nvSpPr>
        <p:spPr>
          <a:xfrm>
            <a:off x="5223510" y="4689821"/>
            <a:ext cx="7040880" cy="347472"/>
          </a:xfrm>
          <a:prstGeom prst="rect">
            <a:avLst/>
          </a:prstGeom>
          <a:noFill/>
          <a:ln/>
        </p:spPr>
        <p:txBody>
          <a:bodyPr wrap="square" rtlCol="0" anchor="ctr"/>
          <a:lstStyle/>
          <a:p>
            <a:r>
              <a:rPr lang="en-US" sz="1100" dirty="0" err="1">
                <a:solidFill>
                  <a:schemeClr val="bg1"/>
                </a:solidFill>
                <a:latin typeface="Calibri" pitchFamily="34" charset="0"/>
                <a:ea typeface="Calibri" pitchFamily="34" charset="-122"/>
                <a:cs typeface="Calibri" pitchFamily="34" charset="-120"/>
              </a:rPr>
              <a:t>github.com</a:t>
            </a:r>
            <a:r>
              <a:rPr lang="en-US" sz="1100" dirty="0">
                <a:solidFill>
                  <a:schemeClr val="bg1"/>
                </a:solidFill>
                <a:latin typeface="Calibri" pitchFamily="34" charset="0"/>
                <a:ea typeface="Calibri" pitchFamily="34" charset="-122"/>
                <a:cs typeface="Calibri" pitchFamily="34" charset="-120"/>
              </a:rPr>
              <a:t>/ashastri7/</a:t>
            </a:r>
            <a:r>
              <a:rPr lang="en-US" sz="1100" dirty="0" err="1">
                <a:solidFill>
                  <a:schemeClr val="bg1"/>
                </a:solidFill>
                <a:latin typeface="Calibri" pitchFamily="34" charset="0"/>
                <a:ea typeface="Calibri" pitchFamily="34" charset="-122"/>
                <a:cs typeface="Calibri" pitchFamily="34" charset="-120"/>
              </a:rPr>
              <a:t>Pharmacy_Prescription_Manager</a:t>
            </a:r>
            <a:endParaRPr lang="en-US" sz="11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chemeClr val="tx1"/>
          </a:solidFill>
          <a:ln/>
        </p:spPr>
        <p:txBody>
          <a:bodyPr/>
          <a:lstStyle/>
          <a:p>
            <a:endParaRPr lang="en-US"/>
          </a:p>
        </p:txBody>
      </p:sp>
      <p:sp>
        <p:nvSpPr>
          <p:cNvPr id="3" name="Text 1"/>
          <p:cNvSpPr/>
          <p:nvPr/>
        </p:nvSpPr>
        <p:spPr>
          <a:xfrm>
            <a:off x="274320" y="178308"/>
            <a:ext cx="8412480" cy="640080"/>
          </a:xfrm>
          <a:prstGeom prst="rect">
            <a:avLst/>
          </a:prstGeom>
          <a:noFill/>
          <a:ln/>
        </p:spPr>
        <p:txBody>
          <a:bodyPr wrap="square" rtlCol="0" anchor="b"/>
          <a:lstStyle/>
          <a:p>
            <a:pPr marL="0" indent="0">
              <a:buNone/>
            </a:pPr>
            <a:r>
              <a:rPr lang="en-US" sz="2800" b="1" dirty="0">
                <a:solidFill>
                  <a:srgbClr val="FFFFFF"/>
                </a:solidFill>
                <a:latin typeface="Georgia" pitchFamily="34" charset="0"/>
                <a:ea typeface="Georgia" pitchFamily="34" charset="-122"/>
                <a:cs typeface="Georgia" pitchFamily="34" charset="-120"/>
              </a:rPr>
              <a:t>Project Flow</a:t>
            </a:r>
            <a:endParaRPr lang="en-US" sz="2800" dirty="0"/>
          </a:p>
        </p:txBody>
      </p:sp>
      <p:sp>
        <p:nvSpPr>
          <p:cNvPr id="5" name="Shape 3"/>
          <p:cNvSpPr/>
          <p:nvPr/>
        </p:nvSpPr>
        <p:spPr>
          <a:xfrm>
            <a:off x="457200" y="1143000"/>
            <a:ext cx="8229600" cy="329184"/>
          </a:xfrm>
          <a:prstGeom prst="rect">
            <a:avLst/>
          </a:prstGeom>
          <a:solidFill>
            <a:srgbClr val="028090"/>
          </a:solidFill>
          <a:ln/>
        </p:spPr>
        <p:txBody>
          <a:bodyPr/>
          <a:lstStyle/>
          <a:p>
            <a:endParaRPr lang="en-US"/>
          </a:p>
        </p:txBody>
      </p:sp>
      <p:sp>
        <p:nvSpPr>
          <p:cNvPr id="6" name="Text 4"/>
          <p:cNvSpPr/>
          <p:nvPr/>
        </p:nvSpPr>
        <p:spPr>
          <a:xfrm>
            <a:off x="457200" y="1143000"/>
            <a:ext cx="8229600" cy="329184"/>
          </a:xfrm>
          <a:prstGeom prst="rect">
            <a:avLst/>
          </a:prstGeom>
          <a:noFill/>
          <a:ln/>
        </p:spPr>
        <p:txBody>
          <a:bodyPr wrap="square" lIns="0" tIns="0" rIns="0" bIns="0" rtlCol="0" anchor="ctr"/>
          <a:lstStyle/>
          <a:p>
            <a:pPr marL="0" indent="0" algn="ctr">
              <a:buNone/>
            </a:pPr>
            <a:endParaRPr lang="en-US" sz="1100" dirty="0"/>
          </a:p>
        </p:txBody>
      </p:sp>
      <p:sp>
        <p:nvSpPr>
          <p:cNvPr id="9" name="Text 7"/>
          <p:cNvSpPr/>
          <p:nvPr/>
        </p:nvSpPr>
        <p:spPr>
          <a:xfrm>
            <a:off x="914400" y="1755648"/>
            <a:ext cx="1828800" cy="1828800"/>
          </a:xfrm>
          <a:prstGeom prst="rect">
            <a:avLst/>
          </a:prstGeom>
          <a:noFill/>
          <a:ln/>
        </p:spPr>
        <p:txBody>
          <a:bodyPr wrap="square" rtlCol="0" anchor="ctr"/>
          <a:lstStyle/>
          <a:p>
            <a:pPr marL="0" indent="0" algn="ctr">
              <a:buNone/>
            </a:pPr>
            <a:endParaRPr lang="en-US" sz="4000" dirty="0"/>
          </a:p>
        </p:txBody>
      </p:sp>
      <p:sp>
        <p:nvSpPr>
          <p:cNvPr id="14" name="Shape 12"/>
          <p:cNvSpPr/>
          <p:nvPr/>
        </p:nvSpPr>
        <p:spPr>
          <a:xfrm>
            <a:off x="1920240" y="1700784"/>
            <a:ext cx="5257800" cy="74980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1920240" y="1700784"/>
            <a:ext cx="73152" cy="749808"/>
          </a:xfrm>
          <a:prstGeom prst="rect">
            <a:avLst/>
          </a:prstGeom>
          <a:solidFill>
            <a:srgbClr val="028090"/>
          </a:solidFill>
          <a:ln/>
        </p:spPr>
        <p:txBody>
          <a:bodyPr/>
          <a:lstStyle/>
          <a:p>
            <a:endParaRPr lang="en-US"/>
          </a:p>
        </p:txBody>
      </p:sp>
      <p:sp>
        <p:nvSpPr>
          <p:cNvPr id="16" name="Text 14"/>
          <p:cNvSpPr/>
          <p:nvPr/>
        </p:nvSpPr>
        <p:spPr>
          <a:xfrm>
            <a:off x="2103120" y="1755648"/>
            <a:ext cx="4937760" cy="228600"/>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Application Development</a:t>
            </a:r>
            <a:endParaRPr lang="en-US" sz="1200" dirty="0"/>
          </a:p>
        </p:txBody>
      </p:sp>
      <p:sp>
        <p:nvSpPr>
          <p:cNvPr id="17" name="Text 15"/>
          <p:cNvSpPr/>
          <p:nvPr/>
        </p:nvSpPr>
        <p:spPr>
          <a:xfrm>
            <a:off x="2103120" y="1993392"/>
            <a:ext cx="4983480" cy="402336"/>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Built 5 core Java functions using Spring Boot framework. Created the full data model, validation logic, and business rules.</a:t>
            </a:r>
            <a:endParaRPr lang="en-US" sz="1000" dirty="0"/>
          </a:p>
        </p:txBody>
      </p:sp>
      <p:sp>
        <p:nvSpPr>
          <p:cNvPr id="18" name="Shape 16"/>
          <p:cNvSpPr/>
          <p:nvPr/>
        </p:nvSpPr>
        <p:spPr>
          <a:xfrm>
            <a:off x="1920240" y="2505456"/>
            <a:ext cx="5257800" cy="74980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1920240" y="2505456"/>
            <a:ext cx="73152" cy="749808"/>
          </a:xfrm>
          <a:prstGeom prst="rect">
            <a:avLst/>
          </a:prstGeom>
          <a:solidFill>
            <a:srgbClr val="1565C0"/>
          </a:solidFill>
          <a:ln/>
        </p:spPr>
        <p:txBody>
          <a:bodyPr/>
          <a:lstStyle/>
          <a:p>
            <a:endParaRPr lang="en-US"/>
          </a:p>
        </p:txBody>
      </p:sp>
      <p:sp>
        <p:nvSpPr>
          <p:cNvPr id="20" name="Text 18"/>
          <p:cNvSpPr/>
          <p:nvPr/>
        </p:nvSpPr>
        <p:spPr>
          <a:xfrm>
            <a:off x="2103120" y="2560320"/>
            <a:ext cx="4937760" cy="228600"/>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Test Engineering</a:t>
            </a:r>
            <a:endParaRPr lang="en-US" sz="1200" dirty="0"/>
          </a:p>
        </p:txBody>
      </p:sp>
      <p:sp>
        <p:nvSpPr>
          <p:cNvPr id="21" name="Text 19"/>
          <p:cNvSpPr/>
          <p:nvPr/>
        </p:nvSpPr>
        <p:spPr>
          <a:xfrm>
            <a:off x="2103120" y="2798064"/>
            <a:ext cx="4983480" cy="402336"/>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Wrote 109 unit tests covering BVA, EPC, Statement, Branch, Condition and Path coverage. Added PITest for 95% mutation score.</a:t>
            </a:r>
            <a:endParaRPr lang="en-US" sz="1000" dirty="0"/>
          </a:p>
        </p:txBody>
      </p:sp>
      <p:sp>
        <p:nvSpPr>
          <p:cNvPr id="22" name="Shape 20"/>
          <p:cNvSpPr/>
          <p:nvPr/>
        </p:nvSpPr>
        <p:spPr>
          <a:xfrm>
            <a:off x="1920240" y="3310128"/>
            <a:ext cx="5257800" cy="74980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3" name="Shape 21"/>
          <p:cNvSpPr/>
          <p:nvPr/>
        </p:nvSpPr>
        <p:spPr>
          <a:xfrm>
            <a:off x="1920240" y="3310128"/>
            <a:ext cx="73152" cy="749808"/>
          </a:xfrm>
          <a:prstGeom prst="rect">
            <a:avLst/>
          </a:prstGeom>
          <a:solidFill>
            <a:srgbClr val="27AE60"/>
          </a:solidFill>
          <a:ln/>
        </p:spPr>
        <p:txBody>
          <a:bodyPr/>
          <a:lstStyle/>
          <a:p>
            <a:endParaRPr lang="en-US"/>
          </a:p>
        </p:txBody>
      </p:sp>
      <p:sp>
        <p:nvSpPr>
          <p:cNvPr id="24" name="Text 22"/>
          <p:cNvSpPr/>
          <p:nvPr/>
        </p:nvSpPr>
        <p:spPr>
          <a:xfrm>
            <a:off x="2103120" y="3364992"/>
            <a:ext cx="4937760" cy="228600"/>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DevOps &amp; CI/CD</a:t>
            </a:r>
            <a:endParaRPr lang="en-US" sz="1200" dirty="0"/>
          </a:p>
        </p:txBody>
      </p:sp>
      <p:sp>
        <p:nvSpPr>
          <p:cNvPr id="25" name="Text 23"/>
          <p:cNvSpPr/>
          <p:nvPr/>
        </p:nvSpPr>
        <p:spPr>
          <a:xfrm>
            <a:off x="2103120" y="3602736"/>
            <a:ext cx="4983480" cy="402336"/>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Configured GitHub Actions pipeline that auto-runs all tests on every git push. Connected Railway cloud for automatic deployment.</a:t>
            </a:r>
            <a:endParaRPr lang="en-US" sz="1000" dirty="0"/>
          </a:p>
        </p:txBody>
      </p:sp>
      <p:sp>
        <p:nvSpPr>
          <p:cNvPr id="26" name="Shape 24"/>
          <p:cNvSpPr/>
          <p:nvPr/>
        </p:nvSpPr>
        <p:spPr>
          <a:xfrm>
            <a:off x="1920240" y="4114800"/>
            <a:ext cx="5257800" cy="74980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7" name="Shape 25"/>
          <p:cNvSpPr/>
          <p:nvPr/>
        </p:nvSpPr>
        <p:spPr>
          <a:xfrm>
            <a:off x="1920240" y="4114800"/>
            <a:ext cx="73152" cy="749808"/>
          </a:xfrm>
          <a:prstGeom prst="rect">
            <a:avLst/>
          </a:prstGeom>
          <a:solidFill>
            <a:srgbClr val="E67E22"/>
          </a:solidFill>
          <a:ln/>
        </p:spPr>
        <p:txBody>
          <a:bodyPr/>
          <a:lstStyle/>
          <a:p>
            <a:endParaRPr lang="en-US"/>
          </a:p>
        </p:txBody>
      </p:sp>
      <p:sp>
        <p:nvSpPr>
          <p:cNvPr id="28" name="Text 26"/>
          <p:cNvSpPr/>
          <p:nvPr/>
        </p:nvSpPr>
        <p:spPr>
          <a:xfrm>
            <a:off x="2103120" y="4169664"/>
            <a:ext cx="4937760" cy="228600"/>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Documentation</a:t>
            </a:r>
            <a:endParaRPr lang="en-US" sz="1200" dirty="0"/>
          </a:p>
        </p:txBody>
      </p:sp>
      <p:sp>
        <p:nvSpPr>
          <p:cNvPr id="29" name="Text 27"/>
          <p:cNvSpPr/>
          <p:nvPr/>
        </p:nvSpPr>
        <p:spPr>
          <a:xfrm>
            <a:off x="2103120" y="4407408"/>
            <a:ext cx="4983480" cy="402336"/>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Wrote comprehensive README with data model, schema, API endpoints, BVA/EPC tables, CFG diagrams and version history.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txBody>
          <a:bodyPr/>
          <a:lstStyle/>
          <a:p>
            <a:endParaRPr lang="en-US"/>
          </a:p>
        </p:txBody>
      </p:sp>
      <p:sp>
        <p:nvSpPr>
          <p:cNvPr id="3" name="Text 1"/>
          <p:cNvSpPr/>
          <p:nvPr/>
        </p:nvSpPr>
        <p:spPr>
          <a:xfrm>
            <a:off x="365760" y="201168"/>
            <a:ext cx="8412480" cy="50292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Project Overview</a:t>
            </a:r>
            <a:endParaRPr lang="en-US" sz="3000" dirty="0"/>
          </a:p>
        </p:txBody>
      </p:sp>
      <p:sp>
        <p:nvSpPr>
          <p:cNvPr id="4" name="Text 2"/>
          <p:cNvSpPr/>
          <p:nvPr/>
        </p:nvSpPr>
        <p:spPr>
          <a:xfrm>
            <a:off x="365760" y="713232"/>
            <a:ext cx="8412480" cy="292608"/>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A full-stack Java Spring Boot pharmacy system with automated testing, CI/CD and cloud deployment</a:t>
            </a:r>
            <a:endParaRPr lang="en-US" sz="1200" dirty="0"/>
          </a:p>
        </p:txBody>
      </p:sp>
      <p:sp>
        <p:nvSpPr>
          <p:cNvPr id="5" name="Shape 3"/>
          <p:cNvSpPr/>
          <p:nvPr/>
        </p:nvSpPr>
        <p:spPr>
          <a:xfrm>
            <a:off x="365760" y="1078992"/>
            <a:ext cx="4114800" cy="3767328"/>
          </a:xfrm>
          <a:prstGeom prst="rect">
            <a:avLst/>
          </a:prstGeom>
          <a:solidFill>
            <a:srgbClr val="0D2137"/>
          </a:solidFill>
          <a:ln/>
        </p:spPr>
        <p:txBody>
          <a:bodyPr/>
          <a:lstStyle/>
          <a:p>
            <a:endParaRPr lang="en-US"/>
          </a:p>
        </p:txBody>
      </p:sp>
      <p:sp>
        <p:nvSpPr>
          <p:cNvPr id="6" name="Text 4"/>
          <p:cNvSpPr/>
          <p:nvPr/>
        </p:nvSpPr>
        <p:spPr>
          <a:xfrm>
            <a:off x="548640" y="1170432"/>
            <a:ext cx="3749040" cy="256032"/>
          </a:xfrm>
          <a:prstGeom prst="rect">
            <a:avLst/>
          </a:prstGeom>
          <a:noFill/>
          <a:ln/>
        </p:spPr>
        <p:txBody>
          <a:bodyPr wrap="square" rtlCol="0" anchor="ctr"/>
          <a:lstStyle/>
          <a:p>
            <a:pPr marL="0" indent="0">
              <a:buNone/>
            </a:pPr>
            <a:r>
              <a:rPr lang="en-US" sz="900" b="1" kern="0" spc="300" dirty="0">
                <a:solidFill>
                  <a:srgbClr val="02C39A"/>
                </a:solidFill>
                <a:latin typeface="Calibri" pitchFamily="34" charset="0"/>
                <a:ea typeface="Calibri" pitchFamily="34" charset="-122"/>
                <a:cs typeface="Calibri" pitchFamily="34" charset="-120"/>
              </a:rPr>
              <a:t>WHAT IT DOES</a:t>
            </a:r>
            <a:endParaRPr lang="en-US" sz="900" dirty="0"/>
          </a:p>
        </p:txBody>
      </p:sp>
      <p:sp>
        <p:nvSpPr>
          <p:cNvPr id="7" name="Shape 5"/>
          <p:cNvSpPr/>
          <p:nvPr/>
        </p:nvSpPr>
        <p:spPr>
          <a:xfrm>
            <a:off x="548640" y="1563624"/>
            <a:ext cx="164592" cy="164592"/>
          </a:xfrm>
          <a:prstGeom prst="ellipse">
            <a:avLst/>
          </a:prstGeom>
          <a:solidFill>
            <a:srgbClr val="028090"/>
          </a:solidFill>
          <a:ln/>
        </p:spPr>
        <p:txBody>
          <a:bodyPr/>
          <a:lstStyle/>
          <a:p>
            <a:endParaRPr lang="en-US"/>
          </a:p>
        </p:txBody>
      </p:sp>
      <p:sp>
        <p:nvSpPr>
          <p:cNvPr id="8" name="Text 6"/>
          <p:cNvSpPr/>
          <p:nvPr/>
        </p:nvSpPr>
        <p:spPr>
          <a:xfrm>
            <a:off x="804672" y="1508760"/>
            <a:ext cx="347472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Register patient prescriptions</a:t>
            </a:r>
            <a:endParaRPr lang="en-US" sz="1200" dirty="0"/>
          </a:p>
        </p:txBody>
      </p:sp>
      <p:sp>
        <p:nvSpPr>
          <p:cNvPr id="9" name="Text 7"/>
          <p:cNvSpPr/>
          <p:nvPr/>
        </p:nvSpPr>
        <p:spPr>
          <a:xfrm>
            <a:off x="804672" y="1764792"/>
            <a:ext cx="3474720" cy="22860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with full input validation</a:t>
            </a:r>
            <a:endParaRPr lang="en-US" sz="1000" dirty="0"/>
          </a:p>
        </p:txBody>
      </p:sp>
      <p:sp>
        <p:nvSpPr>
          <p:cNvPr id="10" name="Shape 8"/>
          <p:cNvSpPr/>
          <p:nvPr/>
        </p:nvSpPr>
        <p:spPr>
          <a:xfrm>
            <a:off x="548640" y="2221992"/>
            <a:ext cx="164592" cy="164592"/>
          </a:xfrm>
          <a:prstGeom prst="ellipse">
            <a:avLst/>
          </a:prstGeom>
          <a:solidFill>
            <a:srgbClr val="028090"/>
          </a:solidFill>
          <a:ln/>
        </p:spPr>
        <p:txBody>
          <a:bodyPr/>
          <a:lstStyle/>
          <a:p>
            <a:endParaRPr lang="en-US"/>
          </a:p>
        </p:txBody>
      </p:sp>
      <p:sp>
        <p:nvSpPr>
          <p:cNvPr id="11" name="Text 9"/>
          <p:cNvSpPr/>
          <p:nvPr/>
        </p:nvSpPr>
        <p:spPr>
          <a:xfrm>
            <a:off x="804672" y="2167128"/>
            <a:ext cx="347472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Calculate safe dosage</a:t>
            </a:r>
            <a:endParaRPr lang="en-US" sz="1200" dirty="0"/>
          </a:p>
        </p:txBody>
      </p:sp>
      <p:sp>
        <p:nvSpPr>
          <p:cNvPr id="12" name="Text 10"/>
          <p:cNvSpPr/>
          <p:nvPr/>
        </p:nvSpPr>
        <p:spPr>
          <a:xfrm>
            <a:off x="804672" y="2423160"/>
            <a:ext cx="3474720" cy="22860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by age category × body weight</a:t>
            </a:r>
            <a:endParaRPr lang="en-US" sz="1000" dirty="0"/>
          </a:p>
        </p:txBody>
      </p:sp>
      <p:sp>
        <p:nvSpPr>
          <p:cNvPr id="13" name="Shape 11"/>
          <p:cNvSpPr/>
          <p:nvPr/>
        </p:nvSpPr>
        <p:spPr>
          <a:xfrm>
            <a:off x="548640" y="2880360"/>
            <a:ext cx="164592" cy="164592"/>
          </a:xfrm>
          <a:prstGeom prst="ellipse">
            <a:avLst/>
          </a:prstGeom>
          <a:solidFill>
            <a:srgbClr val="028090"/>
          </a:solidFill>
          <a:ln/>
        </p:spPr>
        <p:txBody>
          <a:bodyPr/>
          <a:lstStyle/>
          <a:p>
            <a:endParaRPr lang="en-US"/>
          </a:p>
        </p:txBody>
      </p:sp>
      <p:sp>
        <p:nvSpPr>
          <p:cNvPr id="14" name="Text 12"/>
          <p:cNvSpPr/>
          <p:nvPr/>
        </p:nvSpPr>
        <p:spPr>
          <a:xfrm>
            <a:off x="804672" y="2825496"/>
            <a:ext cx="347472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Validate prescription eligibility</a:t>
            </a:r>
            <a:endParaRPr lang="en-US" sz="1200" dirty="0"/>
          </a:p>
        </p:txBody>
      </p:sp>
      <p:sp>
        <p:nvSpPr>
          <p:cNvPr id="15" name="Text 13"/>
          <p:cNvSpPr/>
          <p:nvPr/>
        </p:nvSpPr>
        <p:spPr>
          <a:xfrm>
            <a:off x="804672" y="3081528"/>
            <a:ext cx="3474720" cy="22860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before dispensing</a:t>
            </a:r>
            <a:endParaRPr lang="en-US" sz="1000" dirty="0"/>
          </a:p>
        </p:txBody>
      </p:sp>
      <p:sp>
        <p:nvSpPr>
          <p:cNvPr id="16" name="Shape 14"/>
          <p:cNvSpPr/>
          <p:nvPr/>
        </p:nvSpPr>
        <p:spPr>
          <a:xfrm>
            <a:off x="548640" y="3538728"/>
            <a:ext cx="164592" cy="164592"/>
          </a:xfrm>
          <a:prstGeom prst="ellipse">
            <a:avLst/>
          </a:prstGeom>
          <a:solidFill>
            <a:srgbClr val="028090"/>
          </a:solidFill>
          <a:ln/>
        </p:spPr>
        <p:txBody>
          <a:bodyPr/>
          <a:lstStyle/>
          <a:p>
            <a:endParaRPr lang="en-US"/>
          </a:p>
        </p:txBody>
      </p:sp>
      <p:sp>
        <p:nvSpPr>
          <p:cNvPr id="17" name="Text 15"/>
          <p:cNvSpPr/>
          <p:nvPr/>
        </p:nvSpPr>
        <p:spPr>
          <a:xfrm>
            <a:off x="804672" y="3483864"/>
            <a:ext cx="347472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Dispense medication</a:t>
            </a:r>
            <a:endParaRPr lang="en-US" sz="1200" dirty="0"/>
          </a:p>
        </p:txBody>
      </p:sp>
      <p:sp>
        <p:nvSpPr>
          <p:cNvPr id="18" name="Text 16"/>
          <p:cNvSpPr/>
          <p:nvPr/>
        </p:nvSpPr>
        <p:spPr>
          <a:xfrm>
            <a:off x="804672" y="3739896"/>
            <a:ext cx="3474720" cy="22860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and track remaining refills</a:t>
            </a:r>
            <a:endParaRPr lang="en-US" sz="1000" dirty="0"/>
          </a:p>
        </p:txBody>
      </p:sp>
      <p:sp>
        <p:nvSpPr>
          <p:cNvPr id="19" name="Shape 17"/>
          <p:cNvSpPr/>
          <p:nvPr/>
        </p:nvSpPr>
        <p:spPr>
          <a:xfrm>
            <a:off x="548640" y="4197096"/>
            <a:ext cx="164592" cy="164592"/>
          </a:xfrm>
          <a:prstGeom prst="ellipse">
            <a:avLst/>
          </a:prstGeom>
          <a:solidFill>
            <a:srgbClr val="028090"/>
          </a:solidFill>
          <a:ln/>
        </p:spPr>
        <p:txBody>
          <a:bodyPr/>
          <a:lstStyle/>
          <a:p>
            <a:endParaRPr lang="en-US"/>
          </a:p>
        </p:txBody>
      </p:sp>
      <p:sp>
        <p:nvSpPr>
          <p:cNvPr id="20" name="Text 18"/>
          <p:cNvSpPr/>
          <p:nvPr/>
        </p:nvSpPr>
        <p:spPr>
          <a:xfrm>
            <a:off x="804672" y="4142232"/>
            <a:ext cx="347472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Calculate prescription cost</a:t>
            </a:r>
            <a:endParaRPr lang="en-US" sz="1200" dirty="0"/>
          </a:p>
        </p:txBody>
      </p:sp>
      <p:sp>
        <p:nvSpPr>
          <p:cNvPr id="21" name="Text 19"/>
          <p:cNvSpPr/>
          <p:nvPr/>
        </p:nvSpPr>
        <p:spPr>
          <a:xfrm>
            <a:off x="804672" y="4398264"/>
            <a:ext cx="3474720" cy="22860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with age-based pricing rules</a:t>
            </a:r>
            <a:endParaRPr lang="en-US" sz="1000" dirty="0"/>
          </a:p>
        </p:txBody>
      </p:sp>
      <p:sp>
        <p:nvSpPr>
          <p:cNvPr id="22" name="Text 20"/>
          <p:cNvSpPr/>
          <p:nvPr/>
        </p:nvSpPr>
        <p:spPr>
          <a:xfrm>
            <a:off x="4709160" y="1170432"/>
            <a:ext cx="4206240" cy="256032"/>
          </a:xfrm>
          <a:prstGeom prst="rect">
            <a:avLst/>
          </a:prstGeom>
          <a:noFill/>
          <a:ln/>
        </p:spPr>
        <p:txBody>
          <a:bodyPr wrap="square" rtlCol="0" anchor="ctr"/>
          <a:lstStyle/>
          <a:p>
            <a:pPr marL="0" indent="0">
              <a:buNone/>
            </a:pPr>
            <a:r>
              <a:rPr lang="en-US" sz="900" b="1" kern="0" spc="300" dirty="0">
                <a:solidFill>
                  <a:srgbClr val="02C39A"/>
                </a:solidFill>
                <a:latin typeface="Calibri" pitchFamily="34" charset="0"/>
                <a:ea typeface="Calibri" pitchFamily="34" charset="-122"/>
                <a:cs typeface="Calibri" pitchFamily="34" charset="-120"/>
              </a:rPr>
              <a:t>TECH STACK</a:t>
            </a:r>
            <a:endParaRPr lang="en-US" sz="900" dirty="0"/>
          </a:p>
        </p:txBody>
      </p:sp>
      <p:sp>
        <p:nvSpPr>
          <p:cNvPr id="23" name="Shape 21"/>
          <p:cNvSpPr/>
          <p:nvPr/>
        </p:nvSpPr>
        <p:spPr>
          <a:xfrm>
            <a:off x="4709160" y="1508760"/>
            <a:ext cx="2011680" cy="640080"/>
          </a:xfrm>
          <a:prstGeom prst="rect">
            <a:avLst/>
          </a:prstGeom>
          <a:solidFill>
            <a:srgbClr val="0D2137"/>
          </a:solidFill>
          <a:ln/>
        </p:spPr>
        <p:txBody>
          <a:bodyPr/>
          <a:lstStyle/>
          <a:p>
            <a:endParaRPr lang="en-US"/>
          </a:p>
        </p:txBody>
      </p:sp>
      <p:sp>
        <p:nvSpPr>
          <p:cNvPr id="24" name="Shape 22"/>
          <p:cNvSpPr/>
          <p:nvPr/>
        </p:nvSpPr>
        <p:spPr>
          <a:xfrm>
            <a:off x="4709160" y="1508760"/>
            <a:ext cx="2011680" cy="54864"/>
          </a:xfrm>
          <a:prstGeom prst="rect">
            <a:avLst/>
          </a:prstGeom>
          <a:solidFill>
            <a:srgbClr val="028090"/>
          </a:solidFill>
          <a:ln/>
        </p:spPr>
        <p:txBody>
          <a:bodyPr/>
          <a:lstStyle/>
          <a:p>
            <a:endParaRPr lang="en-US"/>
          </a:p>
        </p:txBody>
      </p:sp>
      <p:sp>
        <p:nvSpPr>
          <p:cNvPr id="25" name="Text 23"/>
          <p:cNvSpPr/>
          <p:nvPr/>
        </p:nvSpPr>
        <p:spPr>
          <a:xfrm>
            <a:off x="4782312" y="1618488"/>
            <a:ext cx="1865376"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Java 21</a:t>
            </a:r>
            <a:endParaRPr lang="en-US" sz="1200" dirty="0"/>
          </a:p>
        </p:txBody>
      </p:sp>
      <p:sp>
        <p:nvSpPr>
          <p:cNvPr id="26" name="Text 24"/>
          <p:cNvSpPr/>
          <p:nvPr/>
        </p:nvSpPr>
        <p:spPr>
          <a:xfrm>
            <a:off x="4782312" y="1856232"/>
            <a:ext cx="1865376" cy="237744"/>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Core programming language</a:t>
            </a:r>
            <a:endParaRPr lang="en-US" sz="900" dirty="0"/>
          </a:p>
        </p:txBody>
      </p:sp>
      <p:sp>
        <p:nvSpPr>
          <p:cNvPr id="27" name="Shape 25"/>
          <p:cNvSpPr/>
          <p:nvPr/>
        </p:nvSpPr>
        <p:spPr>
          <a:xfrm>
            <a:off x="6830568" y="1508760"/>
            <a:ext cx="2011680" cy="640080"/>
          </a:xfrm>
          <a:prstGeom prst="rect">
            <a:avLst/>
          </a:prstGeom>
          <a:solidFill>
            <a:srgbClr val="0D2137"/>
          </a:solidFill>
          <a:ln/>
        </p:spPr>
        <p:txBody>
          <a:bodyPr/>
          <a:lstStyle/>
          <a:p>
            <a:endParaRPr lang="en-US"/>
          </a:p>
        </p:txBody>
      </p:sp>
      <p:sp>
        <p:nvSpPr>
          <p:cNvPr id="28" name="Shape 26"/>
          <p:cNvSpPr/>
          <p:nvPr/>
        </p:nvSpPr>
        <p:spPr>
          <a:xfrm>
            <a:off x="6830568" y="1508760"/>
            <a:ext cx="2011680" cy="54864"/>
          </a:xfrm>
          <a:prstGeom prst="rect">
            <a:avLst/>
          </a:prstGeom>
          <a:solidFill>
            <a:srgbClr val="0A2540"/>
          </a:solidFill>
          <a:ln/>
        </p:spPr>
        <p:txBody>
          <a:bodyPr/>
          <a:lstStyle/>
          <a:p>
            <a:endParaRPr lang="en-US"/>
          </a:p>
        </p:txBody>
      </p:sp>
      <p:sp>
        <p:nvSpPr>
          <p:cNvPr id="29" name="Text 27"/>
          <p:cNvSpPr/>
          <p:nvPr/>
        </p:nvSpPr>
        <p:spPr>
          <a:xfrm>
            <a:off x="6903720" y="1618488"/>
            <a:ext cx="1865376"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Spring Boot 3.2</a:t>
            </a:r>
            <a:endParaRPr lang="en-US" sz="1200" dirty="0"/>
          </a:p>
        </p:txBody>
      </p:sp>
      <p:sp>
        <p:nvSpPr>
          <p:cNvPr id="30" name="Text 28"/>
          <p:cNvSpPr/>
          <p:nvPr/>
        </p:nvSpPr>
        <p:spPr>
          <a:xfrm>
            <a:off x="6903720" y="1856232"/>
            <a:ext cx="1865376" cy="237744"/>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Web framework &amp; REST layer</a:t>
            </a:r>
            <a:endParaRPr lang="en-US" sz="900" dirty="0"/>
          </a:p>
        </p:txBody>
      </p:sp>
      <p:sp>
        <p:nvSpPr>
          <p:cNvPr id="31" name="Shape 29"/>
          <p:cNvSpPr/>
          <p:nvPr/>
        </p:nvSpPr>
        <p:spPr>
          <a:xfrm>
            <a:off x="4709160" y="2221992"/>
            <a:ext cx="2011680" cy="640080"/>
          </a:xfrm>
          <a:prstGeom prst="rect">
            <a:avLst/>
          </a:prstGeom>
          <a:solidFill>
            <a:srgbClr val="0D2137"/>
          </a:solidFill>
          <a:ln/>
        </p:spPr>
        <p:txBody>
          <a:bodyPr/>
          <a:lstStyle/>
          <a:p>
            <a:endParaRPr lang="en-US"/>
          </a:p>
        </p:txBody>
      </p:sp>
      <p:sp>
        <p:nvSpPr>
          <p:cNvPr id="32" name="Shape 30"/>
          <p:cNvSpPr/>
          <p:nvPr/>
        </p:nvSpPr>
        <p:spPr>
          <a:xfrm>
            <a:off x="4709160" y="2221992"/>
            <a:ext cx="2011680" cy="54864"/>
          </a:xfrm>
          <a:prstGeom prst="rect">
            <a:avLst/>
          </a:prstGeom>
          <a:solidFill>
            <a:srgbClr val="028090"/>
          </a:solidFill>
          <a:ln/>
        </p:spPr>
        <p:txBody>
          <a:bodyPr/>
          <a:lstStyle/>
          <a:p>
            <a:endParaRPr lang="en-US"/>
          </a:p>
        </p:txBody>
      </p:sp>
      <p:sp>
        <p:nvSpPr>
          <p:cNvPr id="33" name="Text 31"/>
          <p:cNvSpPr/>
          <p:nvPr/>
        </p:nvSpPr>
        <p:spPr>
          <a:xfrm>
            <a:off x="4782312" y="2331720"/>
            <a:ext cx="1865376"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Thymeleaf</a:t>
            </a:r>
            <a:endParaRPr lang="en-US" sz="1200" dirty="0"/>
          </a:p>
        </p:txBody>
      </p:sp>
      <p:sp>
        <p:nvSpPr>
          <p:cNvPr id="34" name="Text 32"/>
          <p:cNvSpPr/>
          <p:nvPr/>
        </p:nvSpPr>
        <p:spPr>
          <a:xfrm>
            <a:off x="4782312" y="2569464"/>
            <a:ext cx="1865376" cy="237744"/>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HTML template engine</a:t>
            </a:r>
            <a:endParaRPr lang="en-US" sz="900" dirty="0"/>
          </a:p>
        </p:txBody>
      </p:sp>
      <p:sp>
        <p:nvSpPr>
          <p:cNvPr id="35" name="Shape 33"/>
          <p:cNvSpPr/>
          <p:nvPr/>
        </p:nvSpPr>
        <p:spPr>
          <a:xfrm>
            <a:off x="6830568" y="2221992"/>
            <a:ext cx="2011680" cy="640080"/>
          </a:xfrm>
          <a:prstGeom prst="rect">
            <a:avLst/>
          </a:prstGeom>
          <a:solidFill>
            <a:srgbClr val="0D2137"/>
          </a:solidFill>
          <a:ln/>
        </p:spPr>
        <p:txBody>
          <a:bodyPr/>
          <a:lstStyle/>
          <a:p>
            <a:endParaRPr lang="en-US"/>
          </a:p>
        </p:txBody>
      </p:sp>
      <p:sp>
        <p:nvSpPr>
          <p:cNvPr id="36" name="Shape 34"/>
          <p:cNvSpPr/>
          <p:nvPr/>
        </p:nvSpPr>
        <p:spPr>
          <a:xfrm>
            <a:off x="6830568" y="2221992"/>
            <a:ext cx="2011680" cy="54864"/>
          </a:xfrm>
          <a:prstGeom prst="rect">
            <a:avLst/>
          </a:prstGeom>
          <a:solidFill>
            <a:srgbClr val="27AE60"/>
          </a:solidFill>
          <a:ln/>
        </p:spPr>
        <p:txBody>
          <a:bodyPr/>
          <a:lstStyle/>
          <a:p>
            <a:endParaRPr lang="en-US"/>
          </a:p>
        </p:txBody>
      </p:sp>
      <p:sp>
        <p:nvSpPr>
          <p:cNvPr id="37" name="Text 35"/>
          <p:cNvSpPr/>
          <p:nvPr/>
        </p:nvSpPr>
        <p:spPr>
          <a:xfrm>
            <a:off x="6903720" y="2331720"/>
            <a:ext cx="1865376"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JUnit 5</a:t>
            </a:r>
            <a:endParaRPr lang="en-US" sz="1200" dirty="0"/>
          </a:p>
        </p:txBody>
      </p:sp>
      <p:sp>
        <p:nvSpPr>
          <p:cNvPr id="38" name="Text 36"/>
          <p:cNvSpPr/>
          <p:nvPr/>
        </p:nvSpPr>
        <p:spPr>
          <a:xfrm>
            <a:off x="6903720" y="2569464"/>
            <a:ext cx="1865376" cy="237744"/>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Unit &amp; integration testing</a:t>
            </a:r>
            <a:endParaRPr lang="en-US" sz="900" dirty="0"/>
          </a:p>
        </p:txBody>
      </p:sp>
      <p:sp>
        <p:nvSpPr>
          <p:cNvPr id="39" name="Shape 37"/>
          <p:cNvSpPr/>
          <p:nvPr/>
        </p:nvSpPr>
        <p:spPr>
          <a:xfrm>
            <a:off x="4709160" y="2935224"/>
            <a:ext cx="2011680" cy="640080"/>
          </a:xfrm>
          <a:prstGeom prst="rect">
            <a:avLst/>
          </a:prstGeom>
          <a:solidFill>
            <a:srgbClr val="0D2137"/>
          </a:solidFill>
          <a:ln/>
        </p:spPr>
        <p:txBody>
          <a:bodyPr/>
          <a:lstStyle/>
          <a:p>
            <a:endParaRPr lang="en-US"/>
          </a:p>
        </p:txBody>
      </p:sp>
      <p:sp>
        <p:nvSpPr>
          <p:cNvPr id="40" name="Shape 38"/>
          <p:cNvSpPr/>
          <p:nvPr/>
        </p:nvSpPr>
        <p:spPr>
          <a:xfrm>
            <a:off x="4709160" y="2935224"/>
            <a:ext cx="2011680" cy="54864"/>
          </a:xfrm>
          <a:prstGeom prst="rect">
            <a:avLst/>
          </a:prstGeom>
          <a:solidFill>
            <a:srgbClr val="1565C0"/>
          </a:solidFill>
          <a:ln/>
        </p:spPr>
        <p:txBody>
          <a:bodyPr/>
          <a:lstStyle/>
          <a:p>
            <a:endParaRPr lang="en-US"/>
          </a:p>
        </p:txBody>
      </p:sp>
      <p:sp>
        <p:nvSpPr>
          <p:cNvPr id="41" name="Text 39"/>
          <p:cNvSpPr/>
          <p:nvPr/>
        </p:nvSpPr>
        <p:spPr>
          <a:xfrm>
            <a:off x="4782312" y="3044952"/>
            <a:ext cx="1865376"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JaCoCo 0.8.10</a:t>
            </a:r>
            <a:endParaRPr lang="en-US" sz="1200" dirty="0"/>
          </a:p>
        </p:txBody>
      </p:sp>
      <p:sp>
        <p:nvSpPr>
          <p:cNvPr id="42" name="Text 40"/>
          <p:cNvSpPr/>
          <p:nvPr/>
        </p:nvSpPr>
        <p:spPr>
          <a:xfrm>
            <a:off x="4782312" y="3282696"/>
            <a:ext cx="1865376" cy="237744"/>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Code coverage (96%)</a:t>
            </a:r>
            <a:endParaRPr lang="en-US" sz="900" dirty="0"/>
          </a:p>
        </p:txBody>
      </p:sp>
      <p:sp>
        <p:nvSpPr>
          <p:cNvPr id="43" name="Shape 41"/>
          <p:cNvSpPr/>
          <p:nvPr/>
        </p:nvSpPr>
        <p:spPr>
          <a:xfrm>
            <a:off x="6830568" y="2935224"/>
            <a:ext cx="2011680" cy="640080"/>
          </a:xfrm>
          <a:prstGeom prst="rect">
            <a:avLst/>
          </a:prstGeom>
          <a:solidFill>
            <a:srgbClr val="0D2137"/>
          </a:solidFill>
          <a:ln/>
        </p:spPr>
        <p:txBody>
          <a:bodyPr/>
          <a:lstStyle/>
          <a:p>
            <a:endParaRPr lang="en-US"/>
          </a:p>
        </p:txBody>
      </p:sp>
      <p:sp>
        <p:nvSpPr>
          <p:cNvPr id="44" name="Shape 42"/>
          <p:cNvSpPr/>
          <p:nvPr/>
        </p:nvSpPr>
        <p:spPr>
          <a:xfrm>
            <a:off x="6830568" y="2935224"/>
            <a:ext cx="2011680" cy="54864"/>
          </a:xfrm>
          <a:prstGeom prst="rect">
            <a:avLst/>
          </a:prstGeom>
          <a:solidFill>
            <a:srgbClr val="E67E22"/>
          </a:solidFill>
          <a:ln/>
        </p:spPr>
        <p:txBody>
          <a:bodyPr/>
          <a:lstStyle/>
          <a:p>
            <a:endParaRPr lang="en-US"/>
          </a:p>
        </p:txBody>
      </p:sp>
      <p:sp>
        <p:nvSpPr>
          <p:cNvPr id="45" name="Text 43"/>
          <p:cNvSpPr/>
          <p:nvPr/>
        </p:nvSpPr>
        <p:spPr>
          <a:xfrm>
            <a:off x="6903720" y="3044952"/>
            <a:ext cx="1865376"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PITest 1.15</a:t>
            </a:r>
            <a:endParaRPr lang="en-US" sz="1200" dirty="0"/>
          </a:p>
        </p:txBody>
      </p:sp>
      <p:sp>
        <p:nvSpPr>
          <p:cNvPr id="46" name="Text 44"/>
          <p:cNvSpPr/>
          <p:nvPr/>
        </p:nvSpPr>
        <p:spPr>
          <a:xfrm>
            <a:off x="6903720" y="3282696"/>
            <a:ext cx="1865376" cy="237744"/>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Mutation testing (91%)</a:t>
            </a:r>
            <a:endParaRPr lang="en-US" sz="900" dirty="0"/>
          </a:p>
        </p:txBody>
      </p:sp>
      <p:sp>
        <p:nvSpPr>
          <p:cNvPr id="47" name="Shape 45"/>
          <p:cNvSpPr/>
          <p:nvPr/>
        </p:nvSpPr>
        <p:spPr>
          <a:xfrm>
            <a:off x="4709160" y="3648456"/>
            <a:ext cx="2011680" cy="640080"/>
          </a:xfrm>
          <a:prstGeom prst="rect">
            <a:avLst/>
          </a:prstGeom>
          <a:solidFill>
            <a:srgbClr val="0D2137"/>
          </a:solidFill>
          <a:ln/>
        </p:spPr>
        <p:txBody>
          <a:bodyPr/>
          <a:lstStyle/>
          <a:p>
            <a:endParaRPr lang="en-US"/>
          </a:p>
        </p:txBody>
      </p:sp>
      <p:sp>
        <p:nvSpPr>
          <p:cNvPr id="48" name="Shape 46"/>
          <p:cNvSpPr/>
          <p:nvPr/>
        </p:nvSpPr>
        <p:spPr>
          <a:xfrm>
            <a:off x="4709160" y="3648456"/>
            <a:ext cx="2011680" cy="54864"/>
          </a:xfrm>
          <a:prstGeom prst="rect">
            <a:avLst/>
          </a:prstGeom>
          <a:solidFill>
            <a:srgbClr val="0A2540"/>
          </a:solidFill>
          <a:ln/>
        </p:spPr>
        <p:txBody>
          <a:bodyPr/>
          <a:lstStyle/>
          <a:p>
            <a:endParaRPr lang="en-US"/>
          </a:p>
        </p:txBody>
      </p:sp>
      <p:sp>
        <p:nvSpPr>
          <p:cNvPr id="49" name="Text 47"/>
          <p:cNvSpPr/>
          <p:nvPr/>
        </p:nvSpPr>
        <p:spPr>
          <a:xfrm>
            <a:off x="4782312" y="3758184"/>
            <a:ext cx="1865376"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GitHub Actions</a:t>
            </a:r>
            <a:endParaRPr lang="en-US" sz="1200" dirty="0"/>
          </a:p>
        </p:txBody>
      </p:sp>
      <p:sp>
        <p:nvSpPr>
          <p:cNvPr id="50" name="Text 48"/>
          <p:cNvSpPr/>
          <p:nvPr/>
        </p:nvSpPr>
        <p:spPr>
          <a:xfrm>
            <a:off x="4782312" y="3995928"/>
            <a:ext cx="1865376" cy="237744"/>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CI/CD pipeline automation</a:t>
            </a:r>
            <a:endParaRPr lang="en-US" sz="900" dirty="0"/>
          </a:p>
        </p:txBody>
      </p:sp>
      <p:sp>
        <p:nvSpPr>
          <p:cNvPr id="51" name="Shape 49"/>
          <p:cNvSpPr/>
          <p:nvPr/>
        </p:nvSpPr>
        <p:spPr>
          <a:xfrm>
            <a:off x="6830568" y="3648456"/>
            <a:ext cx="2011680" cy="640080"/>
          </a:xfrm>
          <a:prstGeom prst="rect">
            <a:avLst/>
          </a:prstGeom>
          <a:solidFill>
            <a:srgbClr val="0D2137"/>
          </a:solidFill>
          <a:ln/>
        </p:spPr>
        <p:txBody>
          <a:bodyPr/>
          <a:lstStyle/>
          <a:p>
            <a:endParaRPr lang="en-US"/>
          </a:p>
        </p:txBody>
      </p:sp>
      <p:sp>
        <p:nvSpPr>
          <p:cNvPr id="52" name="Shape 50"/>
          <p:cNvSpPr/>
          <p:nvPr/>
        </p:nvSpPr>
        <p:spPr>
          <a:xfrm>
            <a:off x="6830568" y="3648456"/>
            <a:ext cx="2011680" cy="54864"/>
          </a:xfrm>
          <a:prstGeom prst="rect">
            <a:avLst/>
          </a:prstGeom>
          <a:solidFill>
            <a:srgbClr val="27AE60"/>
          </a:solidFill>
          <a:ln/>
        </p:spPr>
        <p:txBody>
          <a:bodyPr/>
          <a:lstStyle/>
          <a:p>
            <a:endParaRPr lang="en-US"/>
          </a:p>
        </p:txBody>
      </p:sp>
      <p:sp>
        <p:nvSpPr>
          <p:cNvPr id="53" name="Text 51"/>
          <p:cNvSpPr/>
          <p:nvPr/>
        </p:nvSpPr>
        <p:spPr>
          <a:xfrm>
            <a:off x="6903720" y="3758184"/>
            <a:ext cx="1865376"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Railway</a:t>
            </a:r>
            <a:endParaRPr lang="en-US" sz="1200" dirty="0"/>
          </a:p>
        </p:txBody>
      </p:sp>
      <p:sp>
        <p:nvSpPr>
          <p:cNvPr id="54" name="Text 52"/>
          <p:cNvSpPr/>
          <p:nvPr/>
        </p:nvSpPr>
        <p:spPr>
          <a:xfrm>
            <a:off x="6903720" y="3995928"/>
            <a:ext cx="1865376" cy="237744"/>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Cloud deployment platform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chemeClr val="tx1"/>
          </a:solidFill>
          <a:ln/>
        </p:spPr>
        <p:txBody>
          <a:bodyPr/>
          <a:lstStyle/>
          <a:p>
            <a:endParaRPr lang="en-US"/>
          </a:p>
        </p:txBody>
      </p:sp>
      <p:sp>
        <p:nvSpPr>
          <p:cNvPr id="3" name="Text 1"/>
          <p:cNvSpPr/>
          <p:nvPr/>
        </p:nvSpPr>
        <p:spPr>
          <a:xfrm>
            <a:off x="502920" y="0"/>
            <a:ext cx="8412480" cy="640080"/>
          </a:xfrm>
          <a:prstGeom prst="rect">
            <a:avLst/>
          </a:prstGeom>
          <a:noFill/>
          <a:ln/>
        </p:spPr>
        <p:txBody>
          <a:bodyPr wrap="square" rtlCol="0" anchor="b"/>
          <a:lstStyle/>
          <a:p>
            <a:pPr marL="0" indent="0">
              <a:buNone/>
            </a:pPr>
            <a:r>
              <a:rPr lang="en-US" sz="2800" b="1" dirty="0">
                <a:solidFill>
                  <a:srgbClr val="FFFFFF"/>
                </a:solidFill>
                <a:latin typeface="Georgia" pitchFamily="34" charset="0"/>
                <a:ea typeface="Georgia" pitchFamily="34" charset="-122"/>
                <a:cs typeface="Georgia" pitchFamily="34" charset="-120"/>
              </a:rPr>
              <a:t>Function 1 — registerPrescription()</a:t>
            </a:r>
            <a:endParaRPr lang="en-US" sz="2800" dirty="0"/>
          </a:p>
        </p:txBody>
      </p:sp>
      <p:sp>
        <p:nvSpPr>
          <p:cNvPr id="4" name="Text 2"/>
          <p:cNvSpPr/>
          <p:nvPr/>
        </p:nvSpPr>
        <p:spPr>
          <a:xfrm>
            <a:off x="502920" y="658368"/>
            <a:ext cx="8412480" cy="347472"/>
          </a:xfrm>
          <a:prstGeom prst="rect">
            <a:avLst/>
          </a:prstGeom>
          <a:noFill/>
          <a:ln/>
        </p:spPr>
        <p:txBody>
          <a:bodyPr wrap="square" rtlCol="0" anchor="t"/>
          <a:lstStyle/>
          <a:p>
            <a:pPr marL="0" indent="0">
              <a:buNone/>
            </a:pPr>
            <a:r>
              <a:rPr lang="en-US" sz="1200" dirty="0">
                <a:solidFill>
                  <a:srgbClr val="CBD5E1"/>
                </a:solidFill>
                <a:latin typeface="Calibri" pitchFamily="34" charset="0"/>
                <a:ea typeface="Calibri" pitchFamily="34" charset="-122"/>
                <a:cs typeface="Calibri" pitchFamily="34" charset="-120"/>
              </a:rPr>
              <a:t>Saves a new patient prescription into the system after validating all 8 input parameters</a:t>
            </a:r>
            <a:endParaRPr lang="en-US" sz="1200" dirty="0"/>
          </a:p>
        </p:txBody>
      </p:sp>
      <p:sp>
        <p:nvSpPr>
          <p:cNvPr id="5" name="Shape 3"/>
          <p:cNvSpPr/>
          <p:nvPr/>
        </p:nvSpPr>
        <p:spPr>
          <a:xfrm>
            <a:off x="457200" y="1143000"/>
            <a:ext cx="3200400" cy="3657600"/>
          </a:xfrm>
          <a:prstGeom prst="rect">
            <a:avLst/>
          </a:prstGeom>
          <a:solidFill>
            <a:srgbClr val="0A2540"/>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594360" y="1261872"/>
            <a:ext cx="2926080" cy="228600"/>
          </a:xfrm>
          <a:prstGeom prst="rect">
            <a:avLst/>
          </a:prstGeom>
          <a:noFill/>
          <a:ln/>
        </p:spPr>
        <p:txBody>
          <a:bodyPr wrap="square" rtlCol="0" anchor="ctr"/>
          <a:lstStyle/>
          <a:p>
            <a:pPr marL="0" indent="0">
              <a:buNone/>
            </a:pPr>
            <a:r>
              <a:rPr lang="en-US" sz="800" b="1" kern="0" spc="300" dirty="0">
                <a:solidFill>
                  <a:srgbClr val="02C39A"/>
                </a:solidFill>
                <a:latin typeface="Calibri" pitchFamily="34" charset="0"/>
                <a:ea typeface="Calibri" pitchFamily="34" charset="-122"/>
                <a:cs typeface="Calibri" pitchFamily="34" charset="-120"/>
              </a:rPr>
              <a:t>WHAT IT DOES</a:t>
            </a:r>
            <a:endParaRPr lang="en-US" sz="800" dirty="0"/>
          </a:p>
        </p:txBody>
      </p:sp>
      <p:sp>
        <p:nvSpPr>
          <p:cNvPr id="7" name="Text 5"/>
          <p:cNvSpPr/>
          <p:nvPr/>
        </p:nvSpPr>
        <p:spPr>
          <a:xfrm>
            <a:off x="594360" y="1572768"/>
            <a:ext cx="2926080" cy="3227832"/>
          </a:xfrm>
          <a:prstGeom prst="rect">
            <a:avLst/>
          </a:prstGeom>
          <a:noFill/>
          <a:ln/>
        </p:spPr>
        <p:txBody>
          <a:bodyPr wrap="square" rtlCol="0" anchor="t"/>
          <a:lstStyle/>
          <a:p>
            <a:pPr marL="0" indent="0">
              <a:buNone/>
            </a:pPr>
            <a:r>
              <a:rPr lang="en-US" sz="1100" dirty="0">
                <a:solidFill>
                  <a:srgbClr val="CBD5E1"/>
                </a:solidFill>
                <a:latin typeface="Calibri" pitchFamily="34" charset="0"/>
                <a:ea typeface="Calibri" pitchFamily="34" charset="-122"/>
                <a:cs typeface="Calibri" pitchFamily="34" charset="-120"/>
              </a:rPr>
              <a:t>Think of it as: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A pharmacist filling out a new prescription form and filing it in a cabinet.
</a:t>
            </a:r>
            <a:endParaRPr lang="en-US" sz="1100" dirty="0"/>
          </a:p>
          <a:p>
            <a:pPr marL="0" indent="0">
              <a:buNone/>
            </a:pPr>
            <a:r>
              <a:rPr lang="en-US" sz="1100" b="1" dirty="0">
                <a:solidFill>
                  <a:srgbClr val="02C39A"/>
                </a:solidFill>
                <a:latin typeface="Calibri" pitchFamily="34" charset="0"/>
                <a:ea typeface="Calibri" pitchFamily="34" charset="-122"/>
                <a:cs typeface="Calibri" pitchFamily="34" charset="-120"/>
              </a:rPr>
              <a:t>What happens:
</a:t>
            </a:r>
            <a:endParaRPr lang="en-US" sz="1100" dirty="0"/>
          </a:p>
          <a:p>
            <a:pPr marL="0" indent="0">
              <a:buNone/>
            </a:pPr>
            <a:r>
              <a:rPr lang="en-US" sz="1000" dirty="0">
                <a:solidFill>
                  <a:srgbClr val="FFFFFF"/>
                </a:solidFill>
                <a:latin typeface="Calibri" pitchFamily="34" charset="0"/>
                <a:ea typeface="Calibri" pitchFamily="34" charset="-122"/>
                <a:cs typeface="Calibri" pitchFamily="34" charset="-120"/>
              </a:rPr>
              <a:t>1. Validates every input field
</a:t>
            </a:r>
            <a:endParaRPr lang="en-US" sz="1100" dirty="0"/>
          </a:p>
          <a:p>
            <a:pPr marL="0" indent="0">
              <a:buNone/>
            </a:pPr>
            <a:r>
              <a:rPr lang="en-US" sz="1000" dirty="0">
                <a:solidFill>
                  <a:srgbClr val="FFFFFF"/>
                </a:solidFill>
                <a:latin typeface="Calibri" pitchFamily="34" charset="0"/>
                <a:ea typeface="Calibri" pitchFamily="34" charset="-122"/>
                <a:cs typeface="Calibri" pitchFamily="34" charset="-120"/>
              </a:rPr>
              <a:t>2. Throws error if anything invalid
</a:t>
            </a:r>
            <a:endParaRPr lang="en-US" sz="1100" dirty="0"/>
          </a:p>
          <a:p>
            <a:pPr marL="0" indent="0">
              <a:buNone/>
            </a:pPr>
            <a:r>
              <a:rPr lang="en-US" sz="1000" dirty="0">
                <a:solidFill>
                  <a:srgbClr val="FFFFFF"/>
                </a:solidFill>
                <a:latin typeface="Calibri" pitchFamily="34" charset="0"/>
                <a:ea typeface="Calibri" pitchFamily="34" charset="-122"/>
                <a:cs typeface="Calibri" pitchFamily="34" charset="-120"/>
              </a:rPr>
              <a:t>3. Checks no duplicate ID
</a:t>
            </a:r>
            <a:endParaRPr lang="en-US" sz="1100" dirty="0"/>
          </a:p>
          <a:p>
            <a:pPr marL="0" indent="0">
              <a:buNone/>
            </a:pPr>
            <a:r>
              <a:rPr lang="en-US" sz="1000" dirty="0">
                <a:solidFill>
                  <a:srgbClr val="FFFFFF"/>
                </a:solidFill>
                <a:latin typeface="Calibri" pitchFamily="34" charset="0"/>
                <a:ea typeface="Calibri" pitchFamily="34" charset="-122"/>
                <a:cs typeface="Calibri" pitchFamily="34" charset="-120"/>
              </a:rPr>
              <a:t>4. Saves Prescription object
   into the HashMap</a:t>
            </a:r>
          </a:p>
          <a:p>
            <a:pPr marL="0" indent="0">
              <a:buNone/>
            </a:pPr>
            <a:endParaRPr lang="en-US" sz="1100" dirty="0"/>
          </a:p>
          <a:p>
            <a:pPr marL="0" indent="0">
              <a:buNone/>
            </a:pPr>
            <a:r>
              <a:rPr lang="en-US" sz="1100" b="1" dirty="0">
                <a:solidFill>
                  <a:srgbClr val="02C39A"/>
                </a:solidFill>
                <a:latin typeface="Calibri" pitchFamily="34" charset="0"/>
                <a:ea typeface="Calibri" pitchFamily="34" charset="-122"/>
                <a:cs typeface="Calibri" pitchFamily="34" charset="-120"/>
              </a:rPr>
              <a:t>Output:
</a:t>
            </a:r>
            <a:endParaRPr lang="en-US" sz="1100" dirty="0"/>
          </a:p>
          <a:p>
            <a:pPr marL="0" indent="0">
              <a:buNone/>
            </a:pPr>
            <a:r>
              <a:rPr lang="en-US" sz="1000" dirty="0">
                <a:solidFill>
                  <a:srgbClr val="CBD5E1"/>
                </a:solidFill>
                <a:latin typeface="Calibri" pitchFamily="34" charset="0"/>
                <a:ea typeface="Calibri" pitchFamily="34" charset="-122"/>
                <a:cs typeface="Calibri" pitchFamily="34" charset="-120"/>
              </a:rPr>
              <a:t>Void: nothing returned,</a:t>
            </a:r>
            <a:endParaRPr lang="en-US" sz="1100" dirty="0"/>
          </a:p>
          <a:p>
            <a:pPr marL="0" indent="0">
              <a:buNone/>
            </a:pPr>
            <a:r>
              <a:rPr lang="en-US" sz="1000" dirty="0">
                <a:solidFill>
                  <a:srgbClr val="CBD5E1"/>
                </a:solidFill>
                <a:latin typeface="Calibri" pitchFamily="34" charset="0"/>
                <a:ea typeface="Calibri" pitchFamily="34" charset="-122"/>
                <a:cs typeface="Calibri" pitchFamily="34" charset="-120"/>
              </a:rPr>
              <a:t>but data is now stored</a:t>
            </a:r>
            <a:endParaRPr lang="en-US" sz="1100" dirty="0"/>
          </a:p>
        </p:txBody>
      </p:sp>
      <p:sp>
        <p:nvSpPr>
          <p:cNvPr id="9" name="Shape 7"/>
          <p:cNvSpPr/>
          <p:nvPr/>
        </p:nvSpPr>
        <p:spPr>
          <a:xfrm>
            <a:off x="3886200" y="1143000"/>
            <a:ext cx="4800600" cy="347472"/>
          </a:xfrm>
          <a:prstGeom prst="rect">
            <a:avLst/>
          </a:prstGeom>
          <a:solidFill>
            <a:srgbClr val="028090"/>
          </a:solidFill>
          <a:ln/>
        </p:spPr>
        <p:txBody>
          <a:bodyPr/>
          <a:lstStyle/>
          <a:p>
            <a:endParaRPr lang="en-US"/>
          </a:p>
        </p:txBody>
      </p:sp>
      <p:sp>
        <p:nvSpPr>
          <p:cNvPr id="10" name="Text 8"/>
          <p:cNvSpPr/>
          <p:nvPr/>
        </p:nvSpPr>
        <p:spPr>
          <a:xfrm>
            <a:off x="4005072" y="1143000"/>
            <a:ext cx="457200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INPUT PARAMETERS</a:t>
            </a:r>
            <a:endParaRPr lang="en-US" sz="1100" dirty="0"/>
          </a:p>
        </p:txBody>
      </p:sp>
      <p:sp>
        <p:nvSpPr>
          <p:cNvPr id="11" name="Text 9"/>
          <p:cNvSpPr/>
          <p:nvPr/>
        </p:nvSpPr>
        <p:spPr>
          <a:xfrm>
            <a:off x="4005072" y="1536192"/>
            <a:ext cx="1188720" cy="237744"/>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Parameter</a:t>
            </a:r>
            <a:endParaRPr lang="en-US" sz="900" dirty="0"/>
          </a:p>
        </p:txBody>
      </p:sp>
      <p:sp>
        <p:nvSpPr>
          <p:cNvPr id="12" name="Text 10"/>
          <p:cNvSpPr/>
          <p:nvPr/>
        </p:nvSpPr>
        <p:spPr>
          <a:xfrm>
            <a:off x="5193792" y="1536192"/>
            <a:ext cx="914400" cy="237744"/>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Type</a:t>
            </a:r>
            <a:endParaRPr lang="en-US" sz="900" dirty="0"/>
          </a:p>
        </p:txBody>
      </p:sp>
      <p:sp>
        <p:nvSpPr>
          <p:cNvPr id="13" name="Text 11"/>
          <p:cNvSpPr/>
          <p:nvPr/>
        </p:nvSpPr>
        <p:spPr>
          <a:xfrm>
            <a:off x="6108192" y="1536192"/>
            <a:ext cx="1234440" cy="237744"/>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Valid Range</a:t>
            </a:r>
            <a:endParaRPr lang="en-US" sz="900" dirty="0"/>
          </a:p>
        </p:txBody>
      </p:sp>
      <p:sp>
        <p:nvSpPr>
          <p:cNvPr id="14" name="Text 12"/>
          <p:cNvSpPr/>
          <p:nvPr/>
        </p:nvSpPr>
        <p:spPr>
          <a:xfrm>
            <a:off x="7342632" y="1536192"/>
            <a:ext cx="1280160" cy="237744"/>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Example</a:t>
            </a:r>
            <a:endParaRPr lang="en-US" sz="900" dirty="0"/>
          </a:p>
        </p:txBody>
      </p:sp>
      <p:sp>
        <p:nvSpPr>
          <p:cNvPr id="15" name="Shape 13"/>
          <p:cNvSpPr/>
          <p:nvPr/>
        </p:nvSpPr>
        <p:spPr>
          <a:xfrm>
            <a:off x="4005072" y="1810512"/>
            <a:ext cx="1188720" cy="301752"/>
          </a:xfrm>
          <a:prstGeom prst="rect">
            <a:avLst/>
          </a:prstGeom>
          <a:solidFill>
            <a:srgbClr val="EDF2F7"/>
          </a:solidFill>
          <a:ln/>
        </p:spPr>
        <p:txBody>
          <a:bodyPr/>
          <a:lstStyle/>
          <a:p>
            <a:endParaRPr lang="en-US"/>
          </a:p>
        </p:txBody>
      </p:sp>
      <p:sp>
        <p:nvSpPr>
          <p:cNvPr id="16" name="Text 14"/>
          <p:cNvSpPr/>
          <p:nvPr/>
        </p:nvSpPr>
        <p:spPr>
          <a:xfrm>
            <a:off x="4041648" y="1810512"/>
            <a:ext cx="1133856" cy="301752"/>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id</a:t>
            </a:r>
            <a:endParaRPr lang="en-US" sz="900" dirty="0"/>
          </a:p>
        </p:txBody>
      </p:sp>
      <p:sp>
        <p:nvSpPr>
          <p:cNvPr id="17" name="Shape 15"/>
          <p:cNvSpPr/>
          <p:nvPr/>
        </p:nvSpPr>
        <p:spPr>
          <a:xfrm>
            <a:off x="5193792" y="1810512"/>
            <a:ext cx="914400" cy="301752"/>
          </a:xfrm>
          <a:prstGeom prst="rect">
            <a:avLst/>
          </a:prstGeom>
          <a:solidFill>
            <a:srgbClr val="EDF2F7"/>
          </a:solidFill>
          <a:ln/>
        </p:spPr>
        <p:txBody>
          <a:bodyPr/>
          <a:lstStyle/>
          <a:p>
            <a:endParaRPr lang="en-US"/>
          </a:p>
        </p:txBody>
      </p:sp>
      <p:sp>
        <p:nvSpPr>
          <p:cNvPr id="18" name="Text 16"/>
          <p:cNvSpPr/>
          <p:nvPr/>
        </p:nvSpPr>
        <p:spPr>
          <a:xfrm>
            <a:off x="5230368" y="1810512"/>
            <a:ext cx="859536" cy="30175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String</a:t>
            </a:r>
            <a:endParaRPr lang="en-US" sz="900" dirty="0"/>
          </a:p>
        </p:txBody>
      </p:sp>
      <p:sp>
        <p:nvSpPr>
          <p:cNvPr id="19" name="Shape 17"/>
          <p:cNvSpPr/>
          <p:nvPr/>
        </p:nvSpPr>
        <p:spPr>
          <a:xfrm>
            <a:off x="6108192" y="1810512"/>
            <a:ext cx="1234440" cy="301752"/>
          </a:xfrm>
          <a:prstGeom prst="rect">
            <a:avLst/>
          </a:prstGeom>
          <a:solidFill>
            <a:srgbClr val="EDF2F7"/>
          </a:solidFill>
          <a:ln/>
        </p:spPr>
        <p:txBody>
          <a:bodyPr/>
          <a:lstStyle/>
          <a:p>
            <a:endParaRPr lang="en-US"/>
          </a:p>
        </p:txBody>
      </p:sp>
      <p:sp>
        <p:nvSpPr>
          <p:cNvPr id="20" name="Text 18"/>
          <p:cNvSpPr/>
          <p:nvPr/>
        </p:nvSpPr>
        <p:spPr>
          <a:xfrm>
            <a:off x="6144768" y="1810512"/>
            <a:ext cx="1179576" cy="301752"/>
          </a:xfrm>
          <a:prstGeom prst="rect">
            <a:avLst/>
          </a:prstGeom>
          <a:noFill/>
          <a:ln/>
        </p:spPr>
        <p:txBody>
          <a:bodyPr wrap="square" rtlCol="0" anchor="ctr"/>
          <a:lstStyle/>
          <a:p>
            <a:pPr marL="0" indent="0">
              <a:buNone/>
            </a:pPr>
            <a:r>
              <a:rPr lang="en-US" sz="900" dirty="0">
                <a:solidFill>
                  <a:srgbClr val="27AE60"/>
                </a:solidFill>
                <a:latin typeface="Calibri" pitchFamily="34" charset="0"/>
                <a:ea typeface="Calibri" pitchFamily="34" charset="-122"/>
                <a:cs typeface="Calibri" pitchFamily="34" charset="-120"/>
              </a:rPr>
              <a:t>Not empty, unique</a:t>
            </a:r>
            <a:endParaRPr lang="en-US" sz="900" dirty="0"/>
          </a:p>
        </p:txBody>
      </p:sp>
      <p:sp>
        <p:nvSpPr>
          <p:cNvPr id="21" name="Shape 19"/>
          <p:cNvSpPr/>
          <p:nvPr/>
        </p:nvSpPr>
        <p:spPr>
          <a:xfrm>
            <a:off x="7342632" y="1810512"/>
            <a:ext cx="1280160" cy="301752"/>
          </a:xfrm>
          <a:prstGeom prst="rect">
            <a:avLst/>
          </a:prstGeom>
          <a:solidFill>
            <a:srgbClr val="EDF2F7"/>
          </a:solidFill>
          <a:ln/>
        </p:spPr>
        <p:txBody>
          <a:bodyPr/>
          <a:lstStyle/>
          <a:p>
            <a:endParaRPr lang="en-US"/>
          </a:p>
        </p:txBody>
      </p:sp>
      <p:sp>
        <p:nvSpPr>
          <p:cNvPr id="22" name="Text 20"/>
          <p:cNvSpPr/>
          <p:nvPr/>
        </p:nvSpPr>
        <p:spPr>
          <a:xfrm>
            <a:off x="7379208" y="1810512"/>
            <a:ext cx="1225296" cy="30175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e.g. RX001</a:t>
            </a:r>
            <a:endParaRPr lang="en-US" sz="900" dirty="0"/>
          </a:p>
        </p:txBody>
      </p:sp>
      <p:sp>
        <p:nvSpPr>
          <p:cNvPr id="23" name="Shape 21"/>
          <p:cNvSpPr/>
          <p:nvPr/>
        </p:nvSpPr>
        <p:spPr>
          <a:xfrm>
            <a:off x="4005072" y="2130552"/>
            <a:ext cx="1188720" cy="301752"/>
          </a:xfrm>
          <a:prstGeom prst="rect">
            <a:avLst/>
          </a:prstGeom>
          <a:solidFill>
            <a:srgbClr val="FFFFFF"/>
          </a:solidFill>
          <a:ln/>
        </p:spPr>
        <p:txBody>
          <a:bodyPr/>
          <a:lstStyle/>
          <a:p>
            <a:endParaRPr lang="en-US"/>
          </a:p>
        </p:txBody>
      </p:sp>
      <p:sp>
        <p:nvSpPr>
          <p:cNvPr id="24" name="Text 22"/>
          <p:cNvSpPr/>
          <p:nvPr/>
        </p:nvSpPr>
        <p:spPr>
          <a:xfrm>
            <a:off x="4041648" y="2130552"/>
            <a:ext cx="1133856" cy="301752"/>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patientName</a:t>
            </a:r>
            <a:endParaRPr lang="en-US" sz="900" dirty="0"/>
          </a:p>
        </p:txBody>
      </p:sp>
      <p:sp>
        <p:nvSpPr>
          <p:cNvPr id="25" name="Shape 23"/>
          <p:cNvSpPr/>
          <p:nvPr/>
        </p:nvSpPr>
        <p:spPr>
          <a:xfrm>
            <a:off x="5193792" y="2130552"/>
            <a:ext cx="914400" cy="301752"/>
          </a:xfrm>
          <a:prstGeom prst="rect">
            <a:avLst/>
          </a:prstGeom>
          <a:solidFill>
            <a:srgbClr val="FFFFFF"/>
          </a:solidFill>
          <a:ln/>
        </p:spPr>
        <p:txBody>
          <a:bodyPr/>
          <a:lstStyle/>
          <a:p>
            <a:endParaRPr lang="en-US"/>
          </a:p>
        </p:txBody>
      </p:sp>
      <p:sp>
        <p:nvSpPr>
          <p:cNvPr id="26" name="Text 24"/>
          <p:cNvSpPr/>
          <p:nvPr/>
        </p:nvSpPr>
        <p:spPr>
          <a:xfrm>
            <a:off x="5230368" y="2130552"/>
            <a:ext cx="859536" cy="30175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String</a:t>
            </a:r>
            <a:endParaRPr lang="en-US" sz="900" dirty="0"/>
          </a:p>
        </p:txBody>
      </p:sp>
      <p:sp>
        <p:nvSpPr>
          <p:cNvPr id="27" name="Shape 25"/>
          <p:cNvSpPr/>
          <p:nvPr/>
        </p:nvSpPr>
        <p:spPr>
          <a:xfrm>
            <a:off x="6108192" y="2130552"/>
            <a:ext cx="1234440" cy="301752"/>
          </a:xfrm>
          <a:prstGeom prst="rect">
            <a:avLst/>
          </a:prstGeom>
          <a:solidFill>
            <a:srgbClr val="FFFFFF"/>
          </a:solidFill>
          <a:ln/>
        </p:spPr>
        <p:txBody>
          <a:bodyPr/>
          <a:lstStyle/>
          <a:p>
            <a:endParaRPr lang="en-US"/>
          </a:p>
        </p:txBody>
      </p:sp>
      <p:sp>
        <p:nvSpPr>
          <p:cNvPr id="28" name="Text 26"/>
          <p:cNvSpPr/>
          <p:nvPr/>
        </p:nvSpPr>
        <p:spPr>
          <a:xfrm>
            <a:off x="6144768" y="2130552"/>
            <a:ext cx="1179576" cy="301752"/>
          </a:xfrm>
          <a:prstGeom prst="rect">
            <a:avLst/>
          </a:prstGeom>
          <a:noFill/>
          <a:ln/>
        </p:spPr>
        <p:txBody>
          <a:bodyPr wrap="square" rtlCol="0" anchor="ctr"/>
          <a:lstStyle/>
          <a:p>
            <a:pPr marL="0" indent="0">
              <a:buNone/>
            </a:pPr>
            <a:r>
              <a:rPr lang="en-US" sz="900" dirty="0">
                <a:solidFill>
                  <a:srgbClr val="27AE60"/>
                </a:solidFill>
                <a:latin typeface="Calibri" pitchFamily="34" charset="0"/>
                <a:ea typeface="Calibri" pitchFamily="34" charset="-122"/>
                <a:cs typeface="Calibri" pitchFamily="34" charset="-120"/>
              </a:rPr>
              <a:t>Not empty</a:t>
            </a:r>
            <a:endParaRPr lang="en-US" sz="900" dirty="0"/>
          </a:p>
        </p:txBody>
      </p:sp>
      <p:sp>
        <p:nvSpPr>
          <p:cNvPr id="29" name="Shape 27"/>
          <p:cNvSpPr/>
          <p:nvPr/>
        </p:nvSpPr>
        <p:spPr>
          <a:xfrm>
            <a:off x="7342632" y="2130552"/>
            <a:ext cx="1280160" cy="301752"/>
          </a:xfrm>
          <a:prstGeom prst="rect">
            <a:avLst/>
          </a:prstGeom>
          <a:solidFill>
            <a:srgbClr val="FFFFFF"/>
          </a:solidFill>
          <a:ln/>
        </p:spPr>
        <p:txBody>
          <a:bodyPr/>
          <a:lstStyle/>
          <a:p>
            <a:endParaRPr lang="en-US"/>
          </a:p>
        </p:txBody>
      </p:sp>
      <p:sp>
        <p:nvSpPr>
          <p:cNvPr id="30" name="Text 28"/>
          <p:cNvSpPr/>
          <p:nvPr/>
        </p:nvSpPr>
        <p:spPr>
          <a:xfrm>
            <a:off x="7379208" y="2130552"/>
            <a:ext cx="1225296" cy="30175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Aneri Shastri</a:t>
            </a:r>
            <a:endParaRPr lang="en-US" sz="900" dirty="0"/>
          </a:p>
        </p:txBody>
      </p:sp>
      <p:sp>
        <p:nvSpPr>
          <p:cNvPr id="31" name="Shape 29"/>
          <p:cNvSpPr/>
          <p:nvPr/>
        </p:nvSpPr>
        <p:spPr>
          <a:xfrm>
            <a:off x="4005072" y="2450592"/>
            <a:ext cx="1188720" cy="301752"/>
          </a:xfrm>
          <a:prstGeom prst="rect">
            <a:avLst/>
          </a:prstGeom>
          <a:solidFill>
            <a:srgbClr val="EDF2F7"/>
          </a:solidFill>
          <a:ln/>
        </p:spPr>
        <p:txBody>
          <a:bodyPr/>
          <a:lstStyle/>
          <a:p>
            <a:endParaRPr lang="en-US"/>
          </a:p>
        </p:txBody>
      </p:sp>
      <p:sp>
        <p:nvSpPr>
          <p:cNvPr id="32" name="Text 30"/>
          <p:cNvSpPr/>
          <p:nvPr/>
        </p:nvSpPr>
        <p:spPr>
          <a:xfrm>
            <a:off x="4041648" y="2450592"/>
            <a:ext cx="1133856" cy="301752"/>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patientAge</a:t>
            </a:r>
            <a:endParaRPr lang="en-US" sz="900" dirty="0"/>
          </a:p>
        </p:txBody>
      </p:sp>
      <p:sp>
        <p:nvSpPr>
          <p:cNvPr id="33" name="Shape 31"/>
          <p:cNvSpPr/>
          <p:nvPr/>
        </p:nvSpPr>
        <p:spPr>
          <a:xfrm>
            <a:off x="5193792" y="2450592"/>
            <a:ext cx="914400" cy="301752"/>
          </a:xfrm>
          <a:prstGeom prst="rect">
            <a:avLst/>
          </a:prstGeom>
          <a:solidFill>
            <a:srgbClr val="EDF2F7"/>
          </a:solidFill>
          <a:ln/>
        </p:spPr>
        <p:txBody>
          <a:bodyPr/>
          <a:lstStyle/>
          <a:p>
            <a:endParaRPr lang="en-US"/>
          </a:p>
        </p:txBody>
      </p:sp>
      <p:sp>
        <p:nvSpPr>
          <p:cNvPr id="34" name="Text 32"/>
          <p:cNvSpPr/>
          <p:nvPr/>
        </p:nvSpPr>
        <p:spPr>
          <a:xfrm>
            <a:off x="5230368" y="2450592"/>
            <a:ext cx="859536" cy="30175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int</a:t>
            </a:r>
            <a:endParaRPr lang="en-US" sz="900" dirty="0"/>
          </a:p>
        </p:txBody>
      </p:sp>
      <p:sp>
        <p:nvSpPr>
          <p:cNvPr id="35" name="Shape 33"/>
          <p:cNvSpPr/>
          <p:nvPr/>
        </p:nvSpPr>
        <p:spPr>
          <a:xfrm>
            <a:off x="6108192" y="2450592"/>
            <a:ext cx="1234440" cy="301752"/>
          </a:xfrm>
          <a:prstGeom prst="rect">
            <a:avLst/>
          </a:prstGeom>
          <a:solidFill>
            <a:srgbClr val="EDF2F7"/>
          </a:solidFill>
          <a:ln/>
        </p:spPr>
        <p:txBody>
          <a:bodyPr/>
          <a:lstStyle/>
          <a:p>
            <a:endParaRPr lang="en-US"/>
          </a:p>
        </p:txBody>
      </p:sp>
      <p:sp>
        <p:nvSpPr>
          <p:cNvPr id="36" name="Text 34"/>
          <p:cNvSpPr/>
          <p:nvPr/>
        </p:nvSpPr>
        <p:spPr>
          <a:xfrm>
            <a:off x="6144768" y="2450592"/>
            <a:ext cx="1179576" cy="301752"/>
          </a:xfrm>
          <a:prstGeom prst="rect">
            <a:avLst/>
          </a:prstGeom>
          <a:noFill/>
          <a:ln/>
        </p:spPr>
        <p:txBody>
          <a:bodyPr wrap="square" rtlCol="0" anchor="ctr"/>
          <a:lstStyle/>
          <a:p>
            <a:pPr marL="0" indent="0">
              <a:buNone/>
            </a:pPr>
            <a:r>
              <a:rPr lang="en-US" sz="900" dirty="0">
                <a:solidFill>
                  <a:srgbClr val="27AE60"/>
                </a:solidFill>
                <a:latin typeface="Calibri" pitchFamily="34" charset="0"/>
                <a:ea typeface="Calibri" pitchFamily="34" charset="-122"/>
                <a:cs typeface="Calibri" pitchFamily="34" charset="-120"/>
              </a:rPr>
              <a:t>0 – 120</a:t>
            </a:r>
            <a:endParaRPr lang="en-US" sz="900" dirty="0"/>
          </a:p>
        </p:txBody>
      </p:sp>
      <p:sp>
        <p:nvSpPr>
          <p:cNvPr id="37" name="Shape 35"/>
          <p:cNvSpPr/>
          <p:nvPr/>
        </p:nvSpPr>
        <p:spPr>
          <a:xfrm>
            <a:off x="7342632" y="2450592"/>
            <a:ext cx="1280160" cy="301752"/>
          </a:xfrm>
          <a:prstGeom prst="rect">
            <a:avLst/>
          </a:prstGeom>
          <a:solidFill>
            <a:srgbClr val="EDF2F7"/>
          </a:solidFill>
          <a:ln/>
        </p:spPr>
        <p:txBody>
          <a:bodyPr/>
          <a:lstStyle/>
          <a:p>
            <a:endParaRPr lang="en-US"/>
          </a:p>
        </p:txBody>
      </p:sp>
      <p:sp>
        <p:nvSpPr>
          <p:cNvPr id="38" name="Text 36"/>
          <p:cNvSpPr/>
          <p:nvPr/>
        </p:nvSpPr>
        <p:spPr>
          <a:xfrm>
            <a:off x="7379208" y="2450592"/>
            <a:ext cx="1225296" cy="30175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28</a:t>
            </a:r>
            <a:endParaRPr lang="en-US" sz="900" dirty="0"/>
          </a:p>
        </p:txBody>
      </p:sp>
      <p:sp>
        <p:nvSpPr>
          <p:cNvPr id="39" name="Shape 37"/>
          <p:cNvSpPr/>
          <p:nvPr/>
        </p:nvSpPr>
        <p:spPr>
          <a:xfrm>
            <a:off x="4005072" y="2770632"/>
            <a:ext cx="1188720" cy="301752"/>
          </a:xfrm>
          <a:prstGeom prst="rect">
            <a:avLst/>
          </a:prstGeom>
          <a:solidFill>
            <a:srgbClr val="FFFFFF"/>
          </a:solidFill>
          <a:ln/>
        </p:spPr>
        <p:txBody>
          <a:bodyPr/>
          <a:lstStyle/>
          <a:p>
            <a:endParaRPr lang="en-US"/>
          </a:p>
        </p:txBody>
      </p:sp>
      <p:sp>
        <p:nvSpPr>
          <p:cNvPr id="40" name="Text 38"/>
          <p:cNvSpPr/>
          <p:nvPr/>
        </p:nvSpPr>
        <p:spPr>
          <a:xfrm>
            <a:off x="4041648" y="2770632"/>
            <a:ext cx="1133856" cy="301752"/>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weightKg</a:t>
            </a:r>
            <a:endParaRPr lang="en-US" sz="900" dirty="0"/>
          </a:p>
        </p:txBody>
      </p:sp>
      <p:sp>
        <p:nvSpPr>
          <p:cNvPr id="41" name="Shape 39"/>
          <p:cNvSpPr/>
          <p:nvPr/>
        </p:nvSpPr>
        <p:spPr>
          <a:xfrm>
            <a:off x="5193792" y="2770632"/>
            <a:ext cx="914400" cy="301752"/>
          </a:xfrm>
          <a:prstGeom prst="rect">
            <a:avLst/>
          </a:prstGeom>
          <a:solidFill>
            <a:srgbClr val="FFFFFF"/>
          </a:solidFill>
          <a:ln/>
        </p:spPr>
        <p:txBody>
          <a:bodyPr/>
          <a:lstStyle/>
          <a:p>
            <a:endParaRPr lang="en-US"/>
          </a:p>
        </p:txBody>
      </p:sp>
      <p:sp>
        <p:nvSpPr>
          <p:cNvPr id="42" name="Text 40"/>
          <p:cNvSpPr/>
          <p:nvPr/>
        </p:nvSpPr>
        <p:spPr>
          <a:xfrm>
            <a:off x="5230368" y="2770632"/>
            <a:ext cx="859536" cy="30175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double</a:t>
            </a:r>
            <a:endParaRPr lang="en-US" sz="900" dirty="0"/>
          </a:p>
        </p:txBody>
      </p:sp>
      <p:sp>
        <p:nvSpPr>
          <p:cNvPr id="43" name="Shape 41"/>
          <p:cNvSpPr/>
          <p:nvPr/>
        </p:nvSpPr>
        <p:spPr>
          <a:xfrm>
            <a:off x="6108192" y="2770632"/>
            <a:ext cx="1234440" cy="301752"/>
          </a:xfrm>
          <a:prstGeom prst="rect">
            <a:avLst/>
          </a:prstGeom>
          <a:solidFill>
            <a:srgbClr val="FFFFFF"/>
          </a:solidFill>
          <a:ln/>
        </p:spPr>
        <p:txBody>
          <a:bodyPr/>
          <a:lstStyle/>
          <a:p>
            <a:endParaRPr lang="en-US"/>
          </a:p>
        </p:txBody>
      </p:sp>
      <p:sp>
        <p:nvSpPr>
          <p:cNvPr id="44" name="Text 42"/>
          <p:cNvSpPr/>
          <p:nvPr/>
        </p:nvSpPr>
        <p:spPr>
          <a:xfrm>
            <a:off x="6144768" y="2770632"/>
            <a:ext cx="1179576" cy="301752"/>
          </a:xfrm>
          <a:prstGeom prst="rect">
            <a:avLst/>
          </a:prstGeom>
          <a:noFill/>
          <a:ln/>
        </p:spPr>
        <p:txBody>
          <a:bodyPr wrap="square" rtlCol="0" anchor="ctr"/>
          <a:lstStyle/>
          <a:p>
            <a:pPr marL="0" indent="0">
              <a:buNone/>
            </a:pPr>
            <a:r>
              <a:rPr lang="en-US" sz="900" dirty="0">
                <a:solidFill>
                  <a:srgbClr val="27AE60"/>
                </a:solidFill>
                <a:latin typeface="Calibri" pitchFamily="34" charset="0"/>
                <a:ea typeface="Calibri" pitchFamily="34" charset="-122"/>
                <a:cs typeface="Calibri" pitchFamily="34" charset="-120"/>
              </a:rPr>
              <a:t>0 – 300 kg</a:t>
            </a:r>
            <a:endParaRPr lang="en-US" sz="900" dirty="0"/>
          </a:p>
        </p:txBody>
      </p:sp>
      <p:sp>
        <p:nvSpPr>
          <p:cNvPr id="45" name="Shape 43"/>
          <p:cNvSpPr/>
          <p:nvPr/>
        </p:nvSpPr>
        <p:spPr>
          <a:xfrm>
            <a:off x="7342632" y="2770632"/>
            <a:ext cx="1280160" cy="301752"/>
          </a:xfrm>
          <a:prstGeom prst="rect">
            <a:avLst/>
          </a:prstGeom>
          <a:solidFill>
            <a:srgbClr val="FFFFFF"/>
          </a:solidFill>
          <a:ln/>
        </p:spPr>
        <p:txBody>
          <a:bodyPr/>
          <a:lstStyle/>
          <a:p>
            <a:endParaRPr lang="en-US"/>
          </a:p>
        </p:txBody>
      </p:sp>
      <p:sp>
        <p:nvSpPr>
          <p:cNvPr id="46" name="Text 44"/>
          <p:cNvSpPr/>
          <p:nvPr/>
        </p:nvSpPr>
        <p:spPr>
          <a:xfrm>
            <a:off x="7379208" y="2770632"/>
            <a:ext cx="1225296" cy="30175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70.0</a:t>
            </a:r>
            <a:endParaRPr lang="en-US" sz="900" dirty="0"/>
          </a:p>
        </p:txBody>
      </p:sp>
      <p:sp>
        <p:nvSpPr>
          <p:cNvPr id="47" name="Shape 45"/>
          <p:cNvSpPr/>
          <p:nvPr/>
        </p:nvSpPr>
        <p:spPr>
          <a:xfrm>
            <a:off x="4005072" y="3090672"/>
            <a:ext cx="1188720" cy="301752"/>
          </a:xfrm>
          <a:prstGeom prst="rect">
            <a:avLst/>
          </a:prstGeom>
          <a:solidFill>
            <a:srgbClr val="EDF2F7"/>
          </a:solidFill>
          <a:ln/>
        </p:spPr>
        <p:txBody>
          <a:bodyPr/>
          <a:lstStyle/>
          <a:p>
            <a:endParaRPr lang="en-US"/>
          </a:p>
        </p:txBody>
      </p:sp>
      <p:sp>
        <p:nvSpPr>
          <p:cNvPr id="48" name="Text 46"/>
          <p:cNvSpPr/>
          <p:nvPr/>
        </p:nvSpPr>
        <p:spPr>
          <a:xfrm>
            <a:off x="4041648" y="3090672"/>
            <a:ext cx="1133856" cy="301752"/>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drugName</a:t>
            </a:r>
            <a:endParaRPr lang="en-US" sz="900" dirty="0"/>
          </a:p>
        </p:txBody>
      </p:sp>
      <p:sp>
        <p:nvSpPr>
          <p:cNvPr id="49" name="Shape 47"/>
          <p:cNvSpPr/>
          <p:nvPr/>
        </p:nvSpPr>
        <p:spPr>
          <a:xfrm>
            <a:off x="5193792" y="3090672"/>
            <a:ext cx="914400" cy="301752"/>
          </a:xfrm>
          <a:prstGeom prst="rect">
            <a:avLst/>
          </a:prstGeom>
          <a:solidFill>
            <a:srgbClr val="EDF2F7"/>
          </a:solidFill>
          <a:ln/>
        </p:spPr>
        <p:txBody>
          <a:bodyPr/>
          <a:lstStyle/>
          <a:p>
            <a:endParaRPr lang="en-US"/>
          </a:p>
        </p:txBody>
      </p:sp>
      <p:sp>
        <p:nvSpPr>
          <p:cNvPr id="50" name="Text 48"/>
          <p:cNvSpPr/>
          <p:nvPr/>
        </p:nvSpPr>
        <p:spPr>
          <a:xfrm>
            <a:off x="5230368" y="3090672"/>
            <a:ext cx="859536" cy="30175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String</a:t>
            </a:r>
            <a:endParaRPr lang="en-US" sz="900" dirty="0"/>
          </a:p>
        </p:txBody>
      </p:sp>
      <p:sp>
        <p:nvSpPr>
          <p:cNvPr id="51" name="Shape 49"/>
          <p:cNvSpPr/>
          <p:nvPr/>
        </p:nvSpPr>
        <p:spPr>
          <a:xfrm>
            <a:off x="6108192" y="3090672"/>
            <a:ext cx="1234440" cy="301752"/>
          </a:xfrm>
          <a:prstGeom prst="rect">
            <a:avLst/>
          </a:prstGeom>
          <a:solidFill>
            <a:srgbClr val="EDF2F7"/>
          </a:solidFill>
          <a:ln/>
        </p:spPr>
        <p:txBody>
          <a:bodyPr/>
          <a:lstStyle/>
          <a:p>
            <a:endParaRPr lang="en-US"/>
          </a:p>
        </p:txBody>
      </p:sp>
      <p:sp>
        <p:nvSpPr>
          <p:cNvPr id="52" name="Text 50"/>
          <p:cNvSpPr/>
          <p:nvPr/>
        </p:nvSpPr>
        <p:spPr>
          <a:xfrm>
            <a:off x="6144768" y="3090672"/>
            <a:ext cx="1179576" cy="301752"/>
          </a:xfrm>
          <a:prstGeom prst="rect">
            <a:avLst/>
          </a:prstGeom>
          <a:noFill/>
          <a:ln/>
        </p:spPr>
        <p:txBody>
          <a:bodyPr wrap="square" rtlCol="0" anchor="ctr"/>
          <a:lstStyle/>
          <a:p>
            <a:pPr marL="0" indent="0">
              <a:buNone/>
            </a:pPr>
            <a:r>
              <a:rPr lang="en-US" sz="900" dirty="0">
                <a:solidFill>
                  <a:srgbClr val="27AE60"/>
                </a:solidFill>
                <a:latin typeface="Calibri" pitchFamily="34" charset="0"/>
                <a:ea typeface="Calibri" pitchFamily="34" charset="-122"/>
                <a:cs typeface="Calibri" pitchFamily="34" charset="-120"/>
              </a:rPr>
              <a:t>Not empty</a:t>
            </a:r>
            <a:endParaRPr lang="en-US" sz="900" dirty="0"/>
          </a:p>
        </p:txBody>
      </p:sp>
      <p:sp>
        <p:nvSpPr>
          <p:cNvPr id="53" name="Shape 51"/>
          <p:cNvSpPr/>
          <p:nvPr/>
        </p:nvSpPr>
        <p:spPr>
          <a:xfrm>
            <a:off x="7342632" y="3090672"/>
            <a:ext cx="1280160" cy="301752"/>
          </a:xfrm>
          <a:prstGeom prst="rect">
            <a:avLst/>
          </a:prstGeom>
          <a:solidFill>
            <a:srgbClr val="EDF2F7"/>
          </a:solidFill>
          <a:ln/>
        </p:spPr>
        <p:txBody>
          <a:bodyPr/>
          <a:lstStyle/>
          <a:p>
            <a:endParaRPr lang="en-US"/>
          </a:p>
        </p:txBody>
      </p:sp>
      <p:sp>
        <p:nvSpPr>
          <p:cNvPr id="54" name="Text 52"/>
          <p:cNvSpPr/>
          <p:nvPr/>
        </p:nvSpPr>
        <p:spPr>
          <a:xfrm>
            <a:off x="7379208" y="3090672"/>
            <a:ext cx="1225296" cy="30175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Amoxicillin</a:t>
            </a:r>
            <a:endParaRPr lang="en-US" sz="900" dirty="0"/>
          </a:p>
        </p:txBody>
      </p:sp>
      <p:sp>
        <p:nvSpPr>
          <p:cNvPr id="55" name="Shape 53"/>
          <p:cNvSpPr/>
          <p:nvPr/>
        </p:nvSpPr>
        <p:spPr>
          <a:xfrm>
            <a:off x="4005072" y="3410712"/>
            <a:ext cx="1188720" cy="301752"/>
          </a:xfrm>
          <a:prstGeom prst="rect">
            <a:avLst/>
          </a:prstGeom>
          <a:solidFill>
            <a:srgbClr val="FFFFFF"/>
          </a:solidFill>
          <a:ln/>
        </p:spPr>
        <p:txBody>
          <a:bodyPr/>
          <a:lstStyle/>
          <a:p>
            <a:endParaRPr lang="en-US"/>
          </a:p>
        </p:txBody>
      </p:sp>
      <p:sp>
        <p:nvSpPr>
          <p:cNvPr id="56" name="Text 54"/>
          <p:cNvSpPr/>
          <p:nvPr/>
        </p:nvSpPr>
        <p:spPr>
          <a:xfrm>
            <a:off x="4041648" y="3410712"/>
            <a:ext cx="1133856" cy="301752"/>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dosageMg</a:t>
            </a:r>
            <a:endParaRPr lang="en-US" sz="900" dirty="0"/>
          </a:p>
        </p:txBody>
      </p:sp>
      <p:sp>
        <p:nvSpPr>
          <p:cNvPr id="57" name="Shape 55"/>
          <p:cNvSpPr/>
          <p:nvPr/>
        </p:nvSpPr>
        <p:spPr>
          <a:xfrm>
            <a:off x="5193792" y="3410712"/>
            <a:ext cx="914400" cy="301752"/>
          </a:xfrm>
          <a:prstGeom prst="rect">
            <a:avLst/>
          </a:prstGeom>
          <a:solidFill>
            <a:srgbClr val="FFFFFF"/>
          </a:solidFill>
          <a:ln/>
        </p:spPr>
        <p:txBody>
          <a:bodyPr/>
          <a:lstStyle/>
          <a:p>
            <a:endParaRPr lang="en-US"/>
          </a:p>
        </p:txBody>
      </p:sp>
      <p:sp>
        <p:nvSpPr>
          <p:cNvPr id="58" name="Text 56"/>
          <p:cNvSpPr/>
          <p:nvPr/>
        </p:nvSpPr>
        <p:spPr>
          <a:xfrm>
            <a:off x="5230368" y="3410712"/>
            <a:ext cx="859536" cy="30175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double</a:t>
            </a:r>
            <a:endParaRPr lang="en-US" sz="900" dirty="0"/>
          </a:p>
        </p:txBody>
      </p:sp>
      <p:sp>
        <p:nvSpPr>
          <p:cNvPr id="59" name="Shape 57"/>
          <p:cNvSpPr/>
          <p:nvPr/>
        </p:nvSpPr>
        <p:spPr>
          <a:xfrm>
            <a:off x="6108192" y="3410712"/>
            <a:ext cx="1234440" cy="301752"/>
          </a:xfrm>
          <a:prstGeom prst="rect">
            <a:avLst/>
          </a:prstGeom>
          <a:solidFill>
            <a:srgbClr val="FFFFFF"/>
          </a:solidFill>
          <a:ln/>
        </p:spPr>
        <p:txBody>
          <a:bodyPr/>
          <a:lstStyle/>
          <a:p>
            <a:endParaRPr lang="en-US"/>
          </a:p>
        </p:txBody>
      </p:sp>
      <p:sp>
        <p:nvSpPr>
          <p:cNvPr id="60" name="Text 58"/>
          <p:cNvSpPr/>
          <p:nvPr/>
        </p:nvSpPr>
        <p:spPr>
          <a:xfrm>
            <a:off x="6144768" y="3410712"/>
            <a:ext cx="1179576" cy="301752"/>
          </a:xfrm>
          <a:prstGeom prst="rect">
            <a:avLst/>
          </a:prstGeom>
          <a:noFill/>
          <a:ln/>
        </p:spPr>
        <p:txBody>
          <a:bodyPr wrap="square" rtlCol="0" anchor="ctr"/>
          <a:lstStyle/>
          <a:p>
            <a:pPr marL="0" indent="0">
              <a:buNone/>
            </a:pPr>
            <a:r>
              <a:rPr lang="en-US" sz="900" dirty="0">
                <a:solidFill>
                  <a:srgbClr val="27AE60"/>
                </a:solidFill>
                <a:latin typeface="Calibri" pitchFamily="34" charset="0"/>
                <a:ea typeface="Calibri" pitchFamily="34" charset="-122"/>
                <a:cs typeface="Calibri" pitchFamily="34" charset="-120"/>
              </a:rPr>
              <a:t>Greater than 0</a:t>
            </a:r>
            <a:endParaRPr lang="en-US" sz="900" dirty="0"/>
          </a:p>
        </p:txBody>
      </p:sp>
      <p:sp>
        <p:nvSpPr>
          <p:cNvPr id="61" name="Shape 59"/>
          <p:cNvSpPr/>
          <p:nvPr/>
        </p:nvSpPr>
        <p:spPr>
          <a:xfrm>
            <a:off x="7342632" y="3410712"/>
            <a:ext cx="1280160" cy="301752"/>
          </a:xfrm>
          <a:prstGeom prst="rect">
            <a:avLst/>
          </a:prstGeom>
          <a:solidFill>
            <a:srgbClr val="FFFFFF"/>
          </a:solidFill>
          <a:ln/>
        </p:spPr>
        <p:txBody>
          <a:bodyPr/>
          <a:lstStyle/>
          <a:p>
            <a:endParaRPr lang="en-US"/>
          </a:p>
        </p:txBody>
      </p:sp>
      <p:sp>
        <p:nvSpPr>
          <p:cNvPr id="62" name="Text 60"/>
          <p:cNvSpPr/>
          <p:nvPr/>
        </p:nvSpPr>
        <p:spPr>
          <a:xfrm>
            <a:off x="7379208" y="3410712"/>
            <a:ext cx="1225296" cy="30175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250.0</a:t>
            </a:r>
            <a:endParaRPr lang="en-US" sz="900" dirty="0"/>
          </a:p>
        </p:txBody>
      </p:sp>
      <p:sp>
        <p:nvSpPr>
          <p:cNvPr id="63" name="Shape 61"/>
          <p:cNvSpPr/>
          <p:nvPr/>
        </p:nvSpPr>
        <p:spPr>
          <a:xfrm>
            <a:off x="4005072" y="3730752"/>
            <a:ext cx="1188720" cy="301752"/>
          </a:xfrm>
          <a:prstGeom prst="rect">
            <a:avLst/>
          </a:prstGeom>
          <a:solidFill>
            <a:srgbClr val="EDF2F7"/>
          </a:solidFill>
          <a:ln/>
        </p:spPr>
        <p:txBody>
          <a:bodyPr/>
          <a:lstStyle/>
          <a:p>
            <a:endParaRPr lang="en-US"/>
          </a:p>
        </p:txBody>
      </p:sp>
      <p:sp>
        <p:nvSpPr>
          <p:cNvPr id="64" name="Text 62"/>
          <p:cNvSpPr/>
          <p:nvPr/>
        </p:nvSpPr>
        <p:spPr>
          <a:xfrm>
            <a:off x="4041648" y="3730752"/>
            <a:ext cx="1133856" cy="301752"/>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refills</a:t>
            </a:r>
            <a:endParaRPr lang="en-US" sz="900" dirty="0"/>
          </a:p>
        </p:txBody>
      </p:sp>
      <p:sp>
        <p:nvSpPr>
          <p:cNvPr id="65" name="Shape 63"/>
          <p:cNvSpPr/>
          <p:nvPr/>
        </p:nvSpPr>
        <p:spPr>
          <a:xfrm>
            <a:off x="5193792" y="3730752"/>
            <a:ext cx="914400" cy="301752"/>
          </a:xfrm>
          <a:prstGeom prst="rect">
            <a:avLst/>
          </a:prstGeom>
          <a:solidFill>
            <a:srgbClr val="EDF2F7"/>
          </a:solidFill>
          <a:ln/>
        </p:spPr>
        <p:txBody>
          <a:bodyPr/>
          <a:lstStyle/>
          <a:p>
            <a:endParaRPr lang="en-US"/>
          </a:p>
        </p:txBody>
      </p:sp>
      <p:sp>
        <p:nvSpPr>
          <p:cNvPr id="66" name="Text 64"/>
          <p:cNvSpPr/>
          <p:nvPr/>
        </p:nvSpPr>
        <p:spPr>
          <a:xfrm>
            <a:off x="5230368" y="3730752"/>
            <a:ext cx="859536" cy="30175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int</a:t>
            </a:r>
            <a:endParaRPr lang="en-US" sz="900" dirty="0"/>
          </a:p>
        </p:txBody>
      </p:sp>
      <p:sp>
        <p:nvSpPr>
          <p:cNvPr id="67" name="Shape 65"/>
          <p:cNvSpPr/>
          <p:nvPr/>
        </p:nvSpPr>
        <p:spPr>
          <a:xfrm>
            <a:off x="6108192" y="3730752"/>
            <a:ext cx="1234440" cy="301752"/>
          </a:xfrm>
          <a:prstGeom prst="rect">
            <a:avLst/>
          </a:prstGeom>
          <a:solidFill>
            <a:srgbClr val="EDF2F7"/>
          </a:solidFill>
          <a:ln/>
        </p:spPr>
        <p:txBody>
          <a:bodyPr/>
          <a:lstStyle/>
          <a:p>
            <a:endParaRPr lang="en-US"/>
          </a:p>
        </p:txBody>
      </p:sp>
      <p:sp>
        <p:nvSpPr>
          <p:cNvPr id="68" name="Text 66"/>
          <p:cNvSpPr/>
          <p:nvPr/>
        </p:nvSpPr>
        <p:spPr>
          <a:xfrm>
            <a:off x="6144768" y="3730752"/>
            <a:ext cx="1179576" cy="301752"/>
          </a:xfrm>
          <a:prstGeom prst="rect">
            <a:avLst/>
          </a:prstGeom>
          <a:noFill/>
          <a:ln/>
        </p:spPr>
        <p:txBody>
          <a:bodyPr wrap="square" rtlCol="0" anchor="ctr"/>
          <a:lstStyle/>
          <a:p>
            <a:pPr marL="0" indent="0">
              <a:buNone/>
            </a:pPr>
            <a:r>
              <a:rPr lang="en-US" sz="900" dirty="0">
                <a:solidFill>
                  <a:srgbClr val="27AE60"/>
                </a:solidFill>
                <a:latin typeface="Calibri" pitchFamily="34" charset="0"/>
                <a:ea typeface="Calibri" pitchFamily="34" charset="-122"/>
                <a:cs typeface="Calibri" pitchFamily="34" charset="-120"/>
              </a:rPr>
              <a:t>0 – 12</a:t>
            </a:r>
            <a:endParaRPr lang="en-US" sz="900" dirty="0"/>
          </a:p>
        </p:txBody>
      </p:sp>
      <p:sp>
        <p:nvSpPr>
          <p:cNvPr id="69" name="Shape 67"/>
          <p:cNvSpPr/>
          <p:nvPr/>
        </p:nvSpPr>
        <p:spPr>
          <a:xfrm>
            <a:off x="7342632" y="3730752"/>
            <a:ext cx="1280160" cy="301752"/>
          </a:xfrm>
          <a:prstGeom prst="rect">
            <a:avLst/>
          </a:prstGeom>
          <a:solidFill>
            <a:srgbClr val="EDF2F7"/>
          </a:solidFill>
          <a:ln/>
        </p:spPr>
        <p:txBody>
          <a:bodyPr/>
          <a:lstStyle/>
          <a:p>
            <a:endParaRPr lang="en-US"/>
          </a:p>
        </p:txBody>
      </p:sp>
      <p:sp>
        <p:nvSpPr>
          <p:cNvPr id="70" name="Text 68"/>
          <p:cNvSpPr/>
          <p:nvPr/>
        </p:nvSpPr>
        <p:spPr>
          <a:xfrm>
            <a:off x="7379208" y="3730752"/>
            <a:ext cx="1225296" cy="30175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3</a:t>
            </a:r>
            <a:endParaRPr lang="en-US" sz="900" dirty="0"/>
          </a:p>
        </p:txBody>
      </p:sp>
      <p:sp>
        <p:nvSpPr>
          <p:cNvPr id="72" name="Text 70"/>
          <p:cNvSpPr/>
          <p:nvPr/>
        </p:nvSpPr>
        <p:spPr>
          <a:xfrm>
            <a:off x="4041648" y="4050792"/>
            <a:ext cx="1133856" cy="301752"/>
          </a:xfrm>
          <a:prstGeom prst="rect">
            <a:avLst/>
          </a:prstGeom>
          <a:noFill/>
          <a:ln/>
        </p:spPr>
        <p:txBody>
          <a:bodyPr wrap="square" rtlCol="0" anchor="ctr"/>
          <a:lstStyle/>
          <a:p>
            <a:pPr marL="0" indent="0">
              <a:buNone/>
            </a:pPr>
            <a:endParaRPr lang="en-US" sz="900" dirty="0"/>
          </a:p>
        </p:txBody>
      </p:sp>
      <p:sp>
        <p:nvSpPr>
          <p:cNvPr id="79" name="Shape 77"/>
          <p:cNvSpPr/>
          <p:nvPr/>
        </p:nvSpPr>
        <p:spPr>
          <a:xfrm>
            <a:off x="3886200" y="4846320"/>
            <a:ext cx="4800600" cy="274320"/>
          </a:xfrm>
          <a:prstGeom prst="rect">
            <a:avLst/>
          </a:prstGeom>
          <a:solidFill>
            <a:srgbClr val="FCF0F0"/>
          </a:solidFill>
          <a:ln/>
        </p:spPr>
        <p:txBody>
          <a:bodyPr/>
          <a:lstStyle/>
          <a:p>
            <a:endParaRPr lang="en-US"/>
          </a:p>
        </p:txBody>
      </p:sp>
      <p:sp>
        <p:nvSpPr>
          <p:cNvPr id="80" name="Text 78"/>
          <p:cNvSpPr/>
          <p:nvPr/>
        </p:nvSpPr>
        <p:spPr>
          <a:xfrm>
            <a:off x="4005072" y="4027932"/>
            <a:ext cx="4663440" cy="274320"/>
          </a:xfrm>
          <a:prstGeom prst="rect">
            <a:avLst/>
          </a:prstGeom>
          <a:noFill/>
          <a:ln/>
        </p:spPr>
        <p:txBody>
          <a:bodyPr wrap="square" rtlCol="0" anchor="ctr"/>
          <a:lstStyle/>
          <a:p>
            <a:pPr marL="0" indent="0">
              <a:buNone/>
            </a:pPr>
            <a:r>
              <a:rPr lang="en-US" sz="900" dirty="0">
                <a:solidFill>
                  <a:srgbClr val="C0392B"/>
                </a:solidFill>
                <a:latin typeface="Calibri" pitchFamily="34" charset="0"/>
                <a:ea typeface="Calibri" pitchFamily="34" charset="-122"/>
                <a:cs typeface="Calibri" pitchFamily="34" charset="-120"/>
              </a:rPr>
              <a:t>Throws IllegalArgumentException for any invalid input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chemeClr val="tx1"/>
          </a:solidFill>
          <a:ln/>
        </p:spPr>
        <p:txBody>
          <a:bodyPr/>
          <a:lstStyle/>
          <a:p>
            <a:endParaRPr lang="en-US"/>
          </a:p>
        </p:txBody>
      </p:sp>
      <p:sp>
        <p:nvSpPr>
          <p:cNvPr id="3" name="Text 1"/>
          <p:cNvSpPr/>
          <p:nvPr/>
        </p:nvSpPr>
        <p:spPr>
          <a:xfrm>
            <a:off x="502920" y="0"/>
            <a:ext cx="8412480" cy="640080"/>
          </a:xfrm>
          <a:prstGeom prst="rect">
            <a:avLst/>
          </a:prstGeom>
          <a:noFill/>
          <a:ln/>
        </p:spPr>
        <p:txBody>
          <a:bodyPr wrap="square" rtlCol="0" anchor="b"/>
          <a:lstStyle/>
          <a:p>
            <a:pPr marL="0" indent="0">
              <a:buNone/>
            </a:pPr>
            <a:r>
              <a:rPr lang="en-US" sz="2800" b="1" dirty="0">
                <a:solidFill>
                  <a:srgbClr val="FFFFFF"/>
                </a:solidFill>
                <a:latin typeface="Georgia" pitchFamily="34" charset="0"/>
                <a:ea typeface="Georgia" pitchFamily="34" charset="-122"/>
                <a:cs typeface="Georgia" pitchFamily="34" charset="-120"/>
              </a:rPr>
              <a:t>Function 2 — calculateDosage()</a:t>
            </a:r>
            <a:endParaRPr lang="en-US" sz="2800" dirty="0"/>
          </a:p>
        </p:txBody>
      </p:sp>
      <p:sp>
        <p:nvSpPr>
          <p:cNvPr id="4" name="Text 2"/>
          <p:cNvSpPr/>
          <p:nvPr/>
        </p:nvSpPr>
        <p:spPr>
          <a:xfrm>
            <a:off x="502920" y="658368"/>
            <a:ext cx="8412480" cy="347472"/>
          </a:xfrm>
          <a:prstGeom prst="rect">
            <a:avLst/>
          </a:prstGeom>
          <a:noFill/>
          <a:ln/>
        </p:spPr>
        <p:txBody>
          <a:bodyPr wrap="square" rtlCol="0" anchor="t"/>
          <a:lstStyle/>
          <a:p>
            <a:pPr marL="0" indent="0">
              <a:buNone/>
            </a:pPr>
            <a:r>
              <a:rPr lang="en-US" sz="1200" dirty="0">
                <a:solidFill>
                  <a:srgbClr val="CBD5E1"/>
                </a:solidFill>
                <a:latin typeface="Calibri" pitchFamily="34" charset="0"/>
                <a:ea typeface="Calibri" pitchFamily="34" charset="-122"/>
                <a:cs typeface="Calibri" pitchFamily="34" charset="-120"/>
              </a:rPr>
              <a:t>Computes the recommended safe medication dosage based on patient age category and body weight</a:t>
            </a:r>
            <a:endParaRPr lang="en-US" sz="1200" dirty="0"/>
          </a:p>
        </p:txBody>
      </p:sp>
      <p:sp>
        <p:nvSpPr>
          <p:cNvPr id="5" name="Shape 3"/>
          <p:cNvSpPr/>
          <p:nvPr/>
        </p:nvSpPr>
        <p:spPr>
          <a:xfrm>
            <a:off x="457200" y="1143000"/>
            <a:ext cx="5303520" cy="914400"/>
          </a:xfrm>
          <a:prstGeom prst="rect">
            <a:avLst/>
          </a:prstGeom>
          <a:solidFill>
            <a:srgbClr val="0A2540"/>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594360" y="1207008"/>
            <a:ext cx="5029200" cy="201168"/>
          </a:xfrm>
          <a:prstGeom prst="rect">
            <a:avLst/>
          </a:prstGeom>
          <a:noFill/>
          <a:ln/>
        </p:spPr>
        <p:txBody>
          <a:bodyPr wrap="square" rtlCol="0" anchor="ctr"/>
          <a:lstStyle/>
          <a:p>
            <a:pPr marL="0" indent="0">
              <a:buNone/>
            </a:pPr>
            <a:r>
              <a:rPr lang="en-US" sz="800" b="1" kern="0" spc="300" dirty="0">
                <a:solidFill>
                  <a:srgbClr val="02C39A"/>
                </a:solidFill>
                <a:latin typeface="Calibri" pitchFamily="34" charset="0"/>
                <a:ea typeface="Calibri" pitchFamily="34" charset="-122"/>
                <a:cs typeface="Calibri" pitchFamily="34" charset="-120"/>
              </a:rPr>
              <a:t>FORMULA</a:t>
            </a:r>
            <a:endParaRPr lang="en-US" sz="800" dirty="0"/>
          </a:p>
        </p:txBody>
      </p:sp>
      <p:sp>
        <p:nvSpPr>
          <p:cNvPr id="7" name="Text 5"/>
          <p:cNvSpPr/>
          <p:nvPr/>
        </p:nvSpPr>
        <p:spPr>
          <a:xfrm>
            <a:off x="594360" y="1417320"/>
            <a:ext cx="5029200" cy="457200"/>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dosage  =  mgPerKg  ×  weightKg</a:t>
            </a:r>
            <a:endParaRPr lang="en-US" sz="2000" dirty="0"/>
          </a:p>
        </p:txBody>
      </p:sp>
      <p:sp>
        <p:nvSpPr>
          <p:cNvPr id="8" name="Shape 6"/>
          <p:cNvSpPr/>
          <p:nvPr/>
        </p:nvSpPr>
        <p:spPr>
          <a:xfrm>
            <a:off x="5989320" y="1143000"/>
            <a:ext cx="2697480" cy="914400"/>
          </a:xfrm>
          <a:prstGeom prst="rect">
            <a:avLst/>
          </a:prstGeom>
          <a:solidFill>
            <a:srgbClr val="028090"/>
          </a:solidFill>
          <a:ln/>
          <a:effectLst>
            <a:outerShdw blurRad="101600" dist="38100" dir="8100000" algn="bl" rotWithShape="0">
              <a:srgbClr val="000000">
                <a:alpha val="12000"/>
              </a:srgbClr>
            </a:outerShdw>
          </a:effectLst>
        </p:spPr>
        <p:txBody>
          <a:bodyPr/>
          <a:lstStyle/>
          <a:p>
            <a:endParaRPr lang="en-US"/>
          </a:p>
        </p:txBody>
      </p:sp>
      <p:sp>
        <p:nvSpPr>
          <p:cNvPr id="9" name="Text 7"/>
          <p:cNvSpPr/>
          <p:nvPr/>
        </p:nvSpPr>
        <p:spPr>
          <a:xfrm>
            <a:off x="6126480" y="1188720"/>
            <a:ext cx="246888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Clamp Rules</a:t>
            </a:r>
            <a:endParaRPr lang="en-US" sz="1000" dirty="0"/>
          </a:p>
        </p:txBody>
      </p:sp>
      <p:sp>
        <p:nvSpPr>
          <p:cNvPr id="10" name="Text 8"/>
          <p:cNvSpPr/>
          <p:nvPr/>
        </p:nvSpPr>
        <p:spPr>
          <a:xfrm>
            <a:off x="6126480" y="1426464"/>
            <a:ext cx="2468880" cy="5486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Minimum: 10 mg</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Maximum: 500 mg</a:t>
            </a:r>
            <a:endParaRPr lang="en-US" sz="1200" dirty="0"/>
          </a:p>
        </p:txBody>
      </p:sp>
      <p:sp>
        <p:nvSpPr>
          <p:cNvPr id="11" name="Shape 9"/>
          <p:cNvSpPr/>
          <p:nvPr/>
        </p:nvSpPr>
        <p:spPr>
          <a:xfrm>
            <a:off x="457200" y="2212848"/>
            <a:ext cx="2743200" cy="258775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457200" y="2212848"/>
            <a:ext cx="2743200" cy="347472"/>
          </a:xfrm>
          <a:prstGeom prst="rect">
            <a:avLst/>
          </a:prstGeom>
          <a:solidFill>
            <a:srgbClr val="0D6E7E"/>
          </a:solidFill>
          <a:ln/>
        </p:spPr>
        <p:txBody>
          <a:bodyPr/>
          <a:lstStyle/>
          <a:p>
            <a:endParaRPr lang="en-US"/>
          </a:p>
        </p:txBody>
      </p:sp>
      <p:sp>
        <p:nvSpPr>
          <p:cNvPr id="13" name="Text 11"/>
          <p:cNvSpPr/>
          <p:nvPr/>
        </p:nvSpPr>
        <p:spPr>
          <a:xfrm>
            <a:off x="548640" y="2212848"/>
            <a:ext cx="25603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PEDIATRIC</a:t>
            </a:r>
            <a:endParaRPr lang="en-US" sz="1200" dirty="0"/>
          </a:p>
        </p:txBody>
      </p:sp>
      <p:sp>
        <p:nvSpPr>
          <p:cNvPr id="14" name="Text 12"/>
          <p:cNvSpPr/>
          <p:nvPr/>
        </p:nvSpPr>
        <p:spPr>
          <a:xfrm>
            <a:off x="548640" y="2633472"/>
            <a:ext cx="2560320" cy="25603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Age 0 – 17</a:t>
            </a:r>
            <a:endParaRPr lang="en-US" sz="1200" dirty="0"/>
          </a:p>
        </p:txBody>
      </p:sp>
      <p:sp>
        <p:nvSpPr>
          <p:cNvPr id="15" name="Shape 13"/>
          <p:cNvSpPr/>
          <p:nvPr/>
        </p:nvSpPr>
        <p:spPr>
          <a:xfrm>
            <a:off x="548640" y="2926080"/>
            <a:ext cx="2560320" cy="475488"/>
          </a:xfrm>
          <a:prstGeom prst="rect">
            <a:avLst/>
          </a:prstGeom>
          <a:solidFill>
            <a:srgbClr val="0D6E7E"/>
          </a:solidFill>
          <a:ln/>
        </p:spPr>
        <p:txBody>
          <a:bodyPr/>
          <a:lstStyle/>
          <a:p>
            <a:endParaRPr lang="en-US"/>
          </a:p>
        </p:txBody>
      </p:sp>
      <p:sp>
        <p:nvSpPr>
          <p:cNvPr id="16" name="Text 14"/>
          <p:cNvSpPr/>
          <p:nvPr/>
        </p:nvSpPr>
        <p:spPr>
          <a:xfrm>
            <a:off x="548640" y="2926080"/>
            <a:ext cx="2560320" cy="475488"/>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3.0 mg/kg</a:t>
            </a:r>
            <a:endParaRPr lang="en-US" sz="2400" dirty="0"/>
          </a:p>
        </p:txBody>
      </p:sp>
      <p:sp>
        <p:nvSpPr>
          <p:cNvPr id="17" name="Text 15"/>
          <p:cNvSpPr/>
          <p:nvPr/>
        </p:nvSpPr>
        <p:spPr>
          <a:xfrm>
            <a:off x="548640" y="3474720"/>
            <a:ext cx="2560320" cy="8686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Children get a gentler dose because their bodies are smaller and metabolize drugs differently</a:t>
            </a:r>
            <a:endParaRPr lang="en-US" sz="1000" dirty="0"/>
          </a:p>
        </p:txBody>
      </p:sp>
      <p:sp>
        <p:nvSpPr>
          <p:cNvPr id="18" name="Shape 16"/>
          <p:cNvSpPr/>
          <p:nvPr/>
        </p:nvSpPr>
        <p:spPr>
          <a:xfrm>
            <a:off x="3337560" y="2212848"/>
            <a:ext cx="2743200" cy="258775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3337560" y="2212848"/>
            <a:ext cx="2743200" cy="347472"/>
          </a:xfrm>
          <a:prstGeom prst="rect">
            <a:avLst/>
          </a:prstGeom>
          <a:solidFill>
            <a:srgbClr val="0A2540"/>
          </a:solidFill>
          <a:ln/>
        </p:spPr>
        <p:txBody>
          <a:bodyPr/>
          <a:lstStyle/>
          <a:p>
            <a:endParaRPr lang="en-US"/>
          </a:p>
        </p:txBody>
      </p:sp>
      <p:sp>
        <p:nvSpPr>
          <p:cNvPr id="20" name="Text 18"/>
          <p:cNvSpPr/>
          <p:nvPr/>
        </p:nvSpPr>
        <p:spPr>
          <a:xfrm>
            <a:off x="3429000" y="2212848"/>
            <a:ext cx="25603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ADULT</a:t>
            </a:r>
            <a:endParaRPr lang="en-US" sz="1200" dirty="0"/>
          </a:p>
        </p:txBody>
      </p:sp>
      <p:sp>
        <p:nvSpPr>
          <p:cNvPr id="21" name="Text 19"/>
          <p:cNvSpPr/>
          <p:nvPr/>
        </p:nvSpPr>
        <p:spPr>
          <a:xfrm>
            <a:off x="3429000" y="2633472"/>
            <a:ext cx="2560320" cy="25603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Age 18 – 64</a:t>
            </a:r>
            <a:endParaRPr lang="en-US" sz="1200" dirty="0"/>
          </a:p>
        </p:txBody>
      </p:sp>
      <p:sp>
        <p:nvSpPr>
          <p:cNvPr id="22" name="Shape 20"/>
          <p:cNvSpPr/>
          <p:nvPr/>
        </p:nvSpPr>
        <p:spPr>
          <a:xfrm>
            <a:off x="3429000" y="2926080"/>
            <a:ext cx="2560320" cy="475488"/>
          </a:xfrm>
          <a:prstGeom prst="rect">
            <a:avLst/>
          </a:prstGeom>
          <a:solidFill>
            <a:srgbClr val="0A2540"/>
          </a:solidFill>
          <a:ln/>
        </p:spPr>
        <p:txBody>
          <a:bodyPr/>
          <a:lstStyle/>
          <a:p>
            <a:endParaRPr lang="en-US"/>
          </a:p>
        </p:txBody>
      </p:sp>
      <p:sp>
        <p:nvSpPr>
          <p:cNvPr id="23" name="Text 21"/>
          <p:cNvSpPr/>
          <p:nvPr/>
        </p:nvSpPr>
        <p:spPr>
          <a:xfrm>
            <a:off x="3429000" y="2926080"/>
            <a:ext cx="2560320" cy="475488"/>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5.0 mg/kg</a:t>
            </a:r>
            <a:endParaRPr lang="en-US" sz="2400" dirty="0"/>
          </a:p>
        </p:txBody>
      </p:sp>
      <p:sp>
        <p:nvSpPr>
          <p:cNvPr id="24" name="Text 22"/>
          <p:cNvSpPr/>
          <p:nvPr/>
        </p:nvSpPr>
        <p:spPr>
          <a:xfrm>
            <a:off x="3429000" y="3474720"/>
            <a:ext cx="2560320" cy="8686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Adults receive the standard full dose. This is the main therapeutic range for most medications</a:t>
            </a:r>
            <a:endParaRPr lang="en-US" sz="1000" dirty="0"/>
          </a:p>
        </p:txBody>
      </p:sp>
      <p:sp>
        <p:nvSpPr>
          <p:cNvPr id="25" name="Shape 23"/>
          <p:cNvSpPr/>
          <p:nvPr/>
        </p:nvSpPr>
        <p:spPr>
          <a:xfrm>
            <a:off x="6217920" y="2212848"/>
            <a:ext cx="2743200" cy="258775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6" name="Shape 24"/>
          <p:cNvSpPr/>
          <p:nvPr/>
        </p:nvSpPr>
        <p:spPr>
          <a:xfrm>
            <a:off x="6217920" y="2212848"/>
            <a:ext cx="2743200" cy="347472"/>
          </a:xfrm>
          <a:prstGeom prst="rect">
            <a:avLst/>
          </a:prstGeom>
          <a:solidFill>
            <a:srgbClr val="7C3AED"/>
          </a:solidFill>
          <a:ln/>
        </p:spPr>
        <p:txBody>
          <a:bodyPr/>
          <a:lstStyle/>
          <a:p>
            <a:endParaRPr lang="en-US"/>
          </a:p>
        </p:txBody>
      </p:sp>
      <p:sp>
        <p:nvSpPr>
          <p:cNvPr id="27" name="Text 25"/>
          <p:cNvSpPr/>
          <p:nvPr/>
        </p:nvSpPr>
        <p:spPr>
          <a:xfrm>
            <a:off x="6309360" y="2212848"/>
            <a:ext cx="25603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ELDERLY</a:t>
            </a:r>
            <a:endParaRPr lang="en-US" sz="1200" dirty="0"/>
          </a:p>
        </p:txBody>
      </p:sp>
      <p:sp>
        <p:nvSpPr>
          <p:cNvPr id="28" name="Text 26"/>
          <p:cNvSpPr/>
          <p:nvPr/>
        </p:nvSpPr>
        <p:spPr>
          <a:xfrm>
            <a:off x="6309360" y="2633472"/>
            <a:ext cx="2560320" cy="25603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Age 65 – 120</a:t>
            </a:r>
            <a:endParaRPr lang="en-US" sz="1200" dirty="0"/>
          </a:p>
        </p:txBody>
      </p:sp>
      <p:sp>
        <p:nvSpPr>
          <p:cNvPr id="29" name="Shape 27"/>
          <p:cNvSpPr/>
          <p:nvPr/>
        </p:nvSpPr>
        <p:spPr>
          <a:xfrm>
            <a:off x="6309360" y="2926080"/>
            <a:ext cx="2560320" cy="475488"/>
          </a:xfrm>
          <a:prstGeom prst="rect">
            <a:avLst/>
          </a:prstGeom>
          <a:solidFill>
            <a:srgbClr val="7C3AED"/>
          </a:solidFill>
          <a:ln/>
        </p:spPr>
        <p:txBody>
          <a:bodyPr/>
          <a:lstStyle/>
          <a:p>
            <a:endParaRPr lang="en-US"/>
          </a:p>
        </p:txBody>
      </p:sp>
      <p:sp>
        <p:nvSpPr>
          <p:cNvPr id="30" name="Text 28"/>
          <p:cNvSpPr/>
          <p:nvPr/>
        </p:nvSpPr>
        <p:spPr>
          <a:xfrm>
            <a:off x="6309360" y="2926080"/>
            <a:ext cx="2560320" cy="475488"/>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4.0 mg/kg</a:t>
            </a:r>
            <a:endParaRPr lang="en-US" sz="2400" dirty="0"/>
          </a:p>
        </p:txBody>
      </p:sp>
      <p:sp>
        <p:nvSpPr>
          <p:cNvPr id="31" name="Text 29"/>
          <p:cNvSpPr/>
          <p:nvPr/>
        </p:nvSpPr>
        <p:spPr>
          <a:xfrm>
            <a:off x="6309360" y="3474720"/>
            <a:ext cx="2560320" cy="8686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Elderly patients get a reduced dose because aging affects kidney and liver drug processing</a:t>
            </a:r>
            <a:endParaRPr lang="en-US" sz="1000" dirty="0"/>
          </a:p>
        </p:txBody>
      </p:sp>
      <p:sp>
        <p:nvSpPr>
          <p:cNvPr id="32" name="Shape 30"/>
          <p:cNvSpPr/>
          <p:nvPr/>
        </p:nvSpPr>
        <p:spPr>
          <a:xfrm>
            <a:off x="457200" y="4846320"/>
            <a:ext cx="8229600" cy="256032"/>
          </a:xfrm>
          <a:prstGeom prst="rect">
            <a:avLst/>
          </a:prstGeom>
          <a:solidFill>
            <a:srgbClr val="E1F5EE"/>
          </a:solidFill>
          <a:ln/>
        </p:spPr>
        <p:txBody>
          <a:bodyPr/>
          <a:lstStyle/>
          <a:p>
            <a:endParaRPr lang="en-US"/>
          </a:p>
        </p:txBody>
      </p:sp>
      <p:sp>
        <p:nvSpPr>
          <p:cNvPr id="33" name="Text 31"/>
          <p:cNvSpPr/>
          <p:nvPr/>
        </p:nvSpPr>
        <p:spPr>
          <a:xfrm>
            <a:off x="594360" y="4846320"/>
            <a:ext cx="8046720" cy="256032"/>
          </a:xfrm>
          <a:prstGeom prst="rect">
            <a:avLst/>
          </a:prstGeom>
          <a:noFill/>
          <a:ln/>
        </p:spPr>
        <p:txBody>
          <a:bodyPr wrap="square" rtlCol="0" anchor="ctr"/>
          <a:lstStyle/>
          <a:p>
            <a:pPr marL="0" indent="0">
              <a:buNone/>
            </a:pPr>
            <a:r>
              <a:rPr lang="en-US" sz="1000" dirty="0">
                <a:solidFill>
                  <a:srgbClr val="0A5C3A"/>
                </a:solidFill>
                <a:latin typeface="Calibri" pitchFamily="34" charset="0"/>
                <a:ea typeface="Calibri" pitchFamily="34" charset="-122"/>
                <a:cs typeface="Calibri" pitchFamily="34" charset="-120"/>
              </a:rPr>
              <a:t>Example: Adult patient, age 30, weight 70 kg  →  5.0 × 70 = 350 mg (within 10–500 range, so returned as-is)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chemeClr val="tx1"/>
          </a:solidFill>
          <a:ln/>
        </p:spPr>
        <p:txBody>
          <a:bodyPr/>
          <a:lstStyle/>
          <a:p>
            <a:endParaRPr lang="en-US"/>
          </a:p>
        </p:txBody>
      </p:sp>
      <p:sp>
        <p:nvSpPr>
          <p:cNvPr id="3" name="Text 1"/>
          <p:cNvSpPr/>
          <p:nvPr/>
        </p:nvSpPr>
        <p:spPr>
          <a:xfrm>
            <a:off x="502920" y="0"/>
            <a:ext cx="8412480" cy="640080"/>
          </a:xfrm>
          <a:prstGeom prst="rect">
            <a:avLst/>
          </a:prstGeom>
          <a:noFill/>
          <a:ln/>
        </p:spPr>
        <p:txBody>
          <a:bodyPr wrap="square" rtlCol="0" anchor="b"/>
          <a:lstStyle/>
          <a:p>
            <a:pPr marL="0" indent="0">
              <a:buNone/>
            </a:pPr>
            <a:r>
              <a:rPr lang="en-US" sz="2800" b="1" dirty="0">
                <a:solidFill>
                  <a:srgbClr val="FFFFFF"/>
                </a:solidFill>
                <a:latin typeface="Georgia" pitchFamily="34" charset="0"/>
                <a:ea typeface="Georgia" pitchFamily="34" charset="-122"/>
                <a:cs typeface="Georgia" pitchFamily="34" charset="-120"/>
              </a:rPr>
              <a:t>Functions 3, 4 &amp; 5 — Validate, Dispense, Cost</a:t>
            </a:r>
            <a:endParaRPr lang="en-US" sz="2800" dirty="0"/>
          </a:p>
        </p:txBody>
      </p:sp>
      <p:sp>
        <p:nvSpPr>
          <p:cNvPr id="4" name="Text 2"/>
          <p:cNvSpPr/>
          <p:nvPr/>
        </p:nvSpPr>
        <p:spPr>
          <a:xfrm>
            <a:off x="502920" y="658368"/>
            <a:ext cx="8412480" cy="347472"/>
          </a:xfrm>
          <a:prstGeom prst="rect">
            <a:avLst/>
          </a:prstGeom>
          <a:noFill/>
          <a:ln/>
        </p:spPr>
        <p:txBody>
          <a:bodyPr wrap="square" rtlCol="0" anchor="t"/>
          <a:lstStyle/>
          <a:p>
            <a:pPr marL="0" indent="0">
              <a:buNone/>
            </a:pPr>
            <a:r>
              <a:rPr lang="en-US" sz="1200" dirty="0">
                <a:solidFill>
                  <a:srgbClr val="CBD5E1"/>
                </a:solidFill>
                <a:latin typeface="Calibri" pitchFamily="34" charset="0"/>
                <a:ea typeface="Calibri" pitchFamily="34" charset="-122"/>
                <a:cs typeface="Calibri" pitchFamily="34" charset="-120"/>
              </a:rPr>
              <a:t>Three interconnected functions that handle the prescription lifecycle from validation through to billing</a:t>
            </a:r>
            <a:endParaRPr lang="en-US" sz="1200" dirty="0"/>
          </a:p>
        </p:txBody>
      </p:sp>
      <p:sp>
        <p:nvSpPr>
          <p:cNvPr id="5" name="Shape 3"/>
          <p:cNvSpPr/>
          <p:nvPr/>
        </p:nvSpPr>
        <p:spPr>
          <a:xfrm>
            <a:off x="457200" y="1143000"/>
            <a:ext cx="2743200" cy="37490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457200" y="1143000"/>
            <a:ext cx="2743200" cy="402336"/>
          </a:xfrm>
          <a:prstGeom prst="rect">
            <a:avLst/>
          </a:prstGeom>
          <a:solidFill>
            <a:srgbClr val="028090"/>
          </a:solidFill>
          <a:ln/>
        </p:spPr>
        <p:txBody>
          <a:bodyPr/>
          <a:lstStyle/>
          <a:p>
            <a:endParaRPr lang="en-US"/>
          </a:p>
        </p:txBody>
      </p:sp>
      <p:sp>
        <p:nvSpPr>
          <p:cNvPr id="7" name="Text 5"/>
          <p:cNvSpPr/>
          <p:nvPr/>
        </p:nvSpPr>
        <p:spPr>
          <a:xfrm>
            <a:off x="548640" y="1143000"/>
            <a:ext cx="2560320" cy="40233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03  validatePrescription(id)</a:t>
            </a:r>
            <a:endParaRPr lang="en-US" sz="1000" dirty="0"/>
          </a:p>
        </p:txBody>
      </p:sp>
      <p:sp>
        <p:nvSpPr>
          <p:cNvPr id="8" name="Text 6"/>
          <p:cNvSpPr/>
          <p:nvPr/>
        </p:nvSpPr>
        <p:spPr>
          <a:xfrm>
            <a:off x="548640" y="1609344"/>
            <a:ext cx="2560320" cy="182880"/>
          </a:xfrm>
          <a:prstGeom prst="rect">
            <a:avLst/>
          </a:prstGeom>
          <a:noFill/>
          <a:ln/>
        </p:spPr>
        <p:txBody>
          <a:bodyPr wrap="square" rtlCol="0" anchor="ctr"/>
          <a:lstStyle/>
          <a:p>
            <a:pPr marL="0" indent="0">
              <a:buNone/>
            </a:pPr>
            <a:r>
              <a:rPr lang="en-US" sz="800" b="1" kern="0" spc="200" dirty="0">
                <a:solidFill>
                  <a:srgbClr val="64748B"/>
                </a:solidFill>
                <a:latin typeface="Calibri" pitchFamily="34" charset="0"/>
                <a:ea typeface="Calibri" pitchFamily="34" charset="-122"/>
                <a:cs typeface="Calibri" pitchFamily="34" charset="-120"/>
              </a:rPr>
              <a:t>INPUT</a:t>
            </a:r>
            <a:endParaRPr lang="en-US" sz="800" dirty="0"/>
          </a:p>
        </p:txBody>
      </p:sp>
      <p:sp>
        <p:nvSpPr>
          <p:cNvPr id="9" name="Text 7"/>
          <p:cNvSpPr/>
          <p:nvPr/>
        </p:nvSpPr>
        <p:spPr>
          <a:xfrm>
            <a:off x="548640" y="1792224"/>
            <a:ext cx="256032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String id — prescription identifier</a:t>
            </a:r>
            <a:endParaRPr lang="en-US" sz="900" dirty="0"/>
          </a:p>
        </p:txBody>
      </p:sp>
      <p:sp>
        <p:nvSpPr>
          <p:cNvPr id="10" name="Text 8"/>
          <p:cNvSpPr/>
          <p:nvPr/>
        </p:nvSpPr>
        <p:spPr>
          <a:xfrm>
            <a:off x="548640" y="2084832"/>
            <a:ext cx="2560320" cy="182880"/>
          </a:xfrm>
          <a:prstGeom prst="rect">
            <a:avLst/>
          </a:prstGeom>
          <a:noFill/>
          <a:ln/>
        </p:spPr>
        <p:txBody>
          <a:bodyPr wrap="square" rtlCol="0" anchor="ctr"/>
          <a:lstStyle/>
          <a:p>
            <a:pPr marL="0" indent="0">
              <a:buNone/>
            </a:pPr>
            <a:r>
              <a:rPr lang="en-US" sz="800" b="1" kern="0" spc="200" dirty="0">
                <a:solidFill>
                  <a:srgbClr val="64748B"/>
                </a:solidFill>
                <a:latin typeface="Calibri" pitchFamily="34" charset="0"/>
                <a:ea typeface="Calibri" pitchFamily="34" charset="-122"/>
                <a:cs typeface="Calibri" pitchFamily="34" charset="-120"/>
              </a:rPr>
              <a:t>OUTPUT</a:t>
            </a:r>
            <a:endParaRPr lang="en-US" sz="800" dirty="0"/>
          </a:p>
        </p:txBody>
      </p:sp>
      <p:sp>
        <p:nvSpPr>
          <p:cNvPr id="11" name="Text 9"/>
          <p:cNvSpPr/>
          <p:nvPr/>
        </p:nvSpPr>
        <p:spPr>
          <a:xfrm>
            <a:off x="548640" y="2267712"/>
            <a:ext cx="256032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boolean — true if valid, false if not</a:t>
            </a:r>
            <a:endParaRPr lang="en-US" sz="900" dirty="0"/>
          </a:p>
        </p:txBody>
      </p:sp>
      <p:sp>
        <p:nvSpPr>
          <p:cNvPr id="12" name="Text 10"/>
          <p:cNvSpPr/>
          <p:nvPr/>
        </p:nvSpPr>
        <p:spPr>
          <a:xfrm>
            <a:off x="548640" y="2560320"/>
            <a:ext cx="2560320" cy="182880"/>
          </a:xfrm>
          <a:prstGeom prst="rect">
            <a:avLst/>
          </a:prstGeom>
          <a:noFill/>
          <a:ln/>
        </p:spPr>
        <p:txBody>
          <a:bodyPr wrap="square" rtlCol="0" anchor="ctr"/>
          <a:lstStyle/>
          <a:p>
            <a:pPr marL="0" indent="0">
              <a:buNone/>
            </a:pPr>
            <a:r>
              <a:rPr lang="en-US" sz="800" b="1" kern="0" spc="200" dirty="0">
                <a:solidFill>
                  <a:srgbClr val="64748B"/>
                </a:solidFill>
                <a:latin typeface="Calibri" pitchFamily="34" charset="0"/>
                <a:ea typeface="Calibri" pitchFamily="34" charset="-122"/>
                <a:cs typeface="Calibri" pitchFamily="34" charset="-120"/>
              </a:rPr>
              <a:t>RULES</a:t>
            </a:r>
            <a:endParaRPr lang="en-US" sz="800" dirty="0"/>
          </a:p>
        </p:txBody>
      </p:sp>
      <p:sp>
        <p:nvSpPr>
          <p:cNvPr id="13" name="Shape 11"/>
          <p:cNvSpPr/>
          <p:nvPr/>
        </p:nvSpPr>
        <p:spPr>
          <a:xfrm>
            <a:off x="566928" y="2798064"/>
            <a:ext cx="91440" cy="91440"/>
          </a:xfrm>
          <a:prstGeom prst="ellipse">
            <a:avLst/>
          </a:prstGeom>
          <a:solidFill>
            <a:srgbClr val="028090"/>
          </a:solidFill>
          <a:ln/>
        </p:spPr>
        <p:txBody>
          <a:bodyPr/>
          <a:lstStyle/>
          <a:p>
            <a:endParaRPr lang="en-US"/>
          </a:p>
        </p:txBody>
      </p:sp>
      <p:sp>
        <p:nvSpPr>
          <p:cNvPr id="14" name="Text 12"/>
          <p:cNvSpPr/>
          <p:nvPr/>
        </p:nvSpPr>
        <p:spPr>
          <a:xfrm>
            <a:off x="713232" y="2743200"/>
            <a:ext cx="237744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refillsRemaining must be &gt; 0</a:t>
            </a:r>
            <a:endParaRPr lang="en-US" sz="900" dirty="0"/>
          </a:p>
        </p:txBody>
      </p:sp>
      <p:sp>
        <p:nvSpPr>
          <p:cNvPr id="15" name="Shape 13"/>
          <p:cNvSpPr/>
          <p:nvPr/>
        </p:nvSpPr>
        <p:spPr>
          <a:xfrm>
            <a:off x="566928" y="3072384"/>
            <a:ext cx="91440" cy="91440"/>
          </a:xfrm>
          <a:prstGeom prst="ellipse">
            <a:avLst/>
          </a:prstGeom>
          <a:solidFill>
            <a:srgbClr val="028090"/>
          </a:solidFill>
          <a:ln/>
        </p:spPr>
        <p:txBody>
          <a:bodyPr/>
          <a:lstStyle/>
          <a:p>
            <a:endParaRPr lang="en-US"/>
          </a:p>
        </p:txBody>
      </p:sp>
      <p:sp>
        <p:nvSpPr>
          <p:cNvPr id="16" name="Text 14"/>
          <p:cNvSpPr/>
          <p:nvPr/>
        </p:nvSpPr>
        <p:spPr>
          <a:xfrm>
            <a:off x="713232" y="3017520"/>
            <a:ext cx="237744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dosageMg must be 10 – 500 mg</a:t>
            </a:r>
            <a:endParaRPr lang="en-US" sz="900" dirty="0"/>
          </a:p>
        </p:txBody>
      </p:sp>
      <p:sp>
        <p:nvSpPr>
          <p:cNvPr id="17" name="Shape 15"/>
          <p:cNvSpPr/>
          <p:nvPr/>
        </p:nvSpPr>
        <p:spPr>
          <a:xfrm>
            <a:off x="566928" y="3346704"/>
            <a:ext cx="91440" cy="91440"/>
          </a:xfrm>
          <a:prstGeom prst="ellipse">
            <a:avLst/>
          </a:prstGeom>
          <a:solidFill>
            <a:srgbClr val="028090"/>
          </a:solidFill>
          <a:ln/>
        </p:spPr>
        <p:txBody>
          <a:bodyPr/>
          <a:lstStyle/>
          <a:p>
            <a:endParaRPr lang="en-US"/>
          </a:p>
        </p:txBody>
      </p:sp>
      <p:sp>
        <p:nvSpPr>
          <p:cNvPr id="18" name="Text 16"/>
          <p:cNvSpPr/>
          <p:nvPr/>
        </p:nvSpPr>
        <p:spPr>
          <a:xfrm>
            <a:off x="713232" y="3291840"/>
            <a:ext cx="237744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patientAge must be ≥ 1</a:t>
            </a:r>
            <a:endParaRPr lang="en-US" sz="900" dirty="0"/>
          </a:p>
        </p:txBody>
      </p:sp>
      <p:sp>
        <p:nvSpPr>
          <p:cNvPr id="19" name="Shape 17"/>
          <p:cNvSpPr/>
          <p:nvPr/>
        </p:nvSpPr>
        <p:spPr>
          <a:xfrm>
            <a:off x="457200" y="4297680"/>
            <a:ext cx="2743200" cy="594360"/>
          </a:xfrm>
          <a:prstGeom prst="rect">
            <a:avLst/>
          </a:prstGeom>
          <a:solidFill>
            <a:srgbClr val="028090"/>
          </a:solidFill>
          <a:ln/>
        </p:spPr>
        <p:txBody>
          <a:bodyPr/>
          <a:lstStyle/>
          <a:p>
            <a:endParaRPr lang="en-US"/>
          </a:p>
        </p:txBody>
      </p:sp>
      <p:sp>
        <p:nvSpPr>
          <p:cNvPr id="20" name="Text 18"/>
          <p:cNvSpPr/>
          <p:nvPr/>
        </p:nvSpPr>
        <p:spPr>
          <a:xfrm>
            <a:off x="548640" y="4334256"/>
            <a:ext cx="2560320" cy="53035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Before giving medicine, the pharmacist must check: is there still a refill available? Is the dosage safe? Is the patient old enough?</a:t>
            </a:r>
            <a:endParaRPr lang="en-US" sz="900" dirty="0"/>
          </a:p>
        </p:txBody>
      </p:sp>
      <p:sp>
        <p:nvSpPr>
          <p:cNvPr id="21" name="Shape 19"/>
          <p:cNvSpPr/>
          <p:nvPr/>
        </p:nvSpPr>
        <p:spPr>
          <a:xfrm>
            <a:off x="3337560" y="1143000"/>
            <a:ext cx="2743200" cy="37490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3337560" y="1143000"/>
            <a:ext cx="2743200" cy="402336"/>
          </a:xfrm>
          <a:prstGeom prst="rect">
            <a:avLst/>
          </a:prstGeom>
          <a:solidFill>
            <a:srgbClr val="0A2540"/>
          </a:solidFill>
          <a:ln/>
        </p:spPr>
        <p:txBody>
          <a:bodyPr/>
          <a:lstStyle/>
          <a:p>
            <a:endParaRPr lang="en-US"/>
          </a:p>
        </p:txBody>
      </p:sp>
      <p:sp>
        <p:nvSpPr>
          <p:cNvPr id="23" name="Text 21"/>
          <p:cNvSpPr/>
          <p:nvPr/>
        </p:nvSpPr>
        <p:spPr>
          <a:xfrm>
            <a:off x="3429000" y="1143000"/>
            <a:ext cx="2560320" cy="40233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04  dispenseMedication(id)</a:t>
            </a:r>
            <a:endParaRPr lang="en-US" sz="1000" dirty="0"/>
          </a:p>
        </p:txBody>
      </p:sp>
      <p:sp>
        <p:nvSpPr>
          <p:cNvPr id="24" name="Text 22"/>
          <p:cNvSpPr/>
          <p:nvPr/>
        </p:nvSpPr>
        <p:spPr>
          <a:xfrm>
            <a:off x="3429000" y="1609344"/>
            <a:ext cx="2560320" cy="182880"/>
          </a:xfrm>
          <a:prstGeom prst="rect">
            <a:avLst/>
          </a:prstGeom>
          <a:noFill/>
          <a:ln/>
        </p:spPr>
        <p:txBody>
          <a:bodyPr wrap="square" rtlCol="0" anchor="ctr"/>
          <a:lstStyle/>
          <a:p>
            <a:pPr marL="0" indent="0">
              <a:buNone/>
            </a:pPr>
            <a:r>
              <a:rPr lang="en-US" sz="800" b="1" kern="0" spc="200" dirty="0">
                <a:solidFill>
                  <a:srgbClr val="64748B"/>
                </a:solidFill>
                <a:latin typeface="Calibri" pitchFamily="34" charset="0"/>
                <a:ea typeface="Calibri" pitchFamily="34" charset="-122"/>
                <a:cs typeface="Calibri" pitchFamily="34" charset="-120"/>
              </a:rPr>
              <a:t>INPUT</a:t>
            </a:r>
            <a:endParaRPr lang="en-US" sz="800" dirty="0"/>
          </a:p>
        </p:txBody>
      </p:sp>
      <p:sp>
        <p:nvSpPr>
          <p:cNvPr id="25" name="Text 23"/>
          <p:cNvSpPr/>
          <p:nvPr/>
        </p:nvSpPr>
        <p:spPr>
          <a:xfrm>
            <a:off x="3429000" y="1792224"/>
            <a:ext cx="256032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String id — prescription identifier</a:t>
            </a:r>
            <a:endParaRPr lang="en-US" sz="900" dirty="0"/>
          </a:p>
        </p:txBody>
      </p:sp>
      <p:sp>
        <p:nvSpPr>
          <p:cNvPr id="26" name="Text 24"/>
          <p:cNvSpPr/>
          <p:nvPr/>
        </p:nvSpPr>
        <p:spPr>
          <a:xfrm>
            <a:off x="3429000" y="2084832"/>
            <a:ext cx="2560320" cy="182880"/>
          </a:xfrm>
          <a:prstGeom prst="rect">
            <a:avLst/>
          </a:prstGeom>
          <a:noFill/>
          <a:ln/>
        </p:spPr>
        <p:txBody>
          <a:bodyPr wrap="square" rtlCol="0" anchor="ctr"/>
          <a:lstStyle/>
          <a:p>
            <a:pPr marL="0" indent="0">
              <a:buNone/>
            </a:pPr>
            <a:r>
              <a:rPr lang="en-US" sz="800" b="1" kern="0" spc="200" dirty="0">
                <a:solidFill>
                  <a:srgbClr val="64748B"/>
                </a:solidFill>
                <a:latin typeface="Calibri" pitchFamily="34" charset="0"/>
                <a:ea typeface="Calibri" pitchFamily="34" charset="-122"/>
                <a:cs typeface="Calibri" pitchFamily="34" charset="-120"/>
              </a:rPr>
              <a:t>OUTPUT</a:t>
            </a:r>
            <a:endParaRPr lang="en-US" sz="800" dirty="0"/>
          </a:p>
        </p:txBody>
      </p:sp>
      <p:sp>
        <p:nvSpPr>
          <p:cNvPr id="27" name="Text 25"/>
          <p:cNvSpPr/>
          <p:nvPr/>
        </p:nvSpPr>
        <p:spPr>
          <a:xfrm>
            <a:off x="3429000" y="2267712"/>
            <a:ext cx="256032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String — confirmation message</a:t>
            </a:r>
            <a:endParaRPr lang="en-US" sz="900" dirty="0"/>
          </a:p>
        </p:txBody>
      </p:sp>
      <p:sp>
        <p:nvSpPr>
          <p:cNvPr id="28" name="Text 26"/>
          <p:cNvSpPr/>
          <p:nvPr/>
        </p:nvSpPr>
        <p:spPr>
          <a:xfrm>
            <a:off x="3429000" y="2560320"/>
            <a:ext cx="2560320" cy="182880"/>
          </a:xfrm>
          <a:prstGeom prst="rect">
            <a:avLst/>
          </a:prstGeom>
          <a:noFill/>
          <a:ln/>
        </p:spPr>
        <p:txBody>
          <a:bodyPr wrap="square" rtlCol="0" anchor="ctr"/>
          <a:lstStyle/>
          <a:p>
            <a:pPr marL="0" indent="0">
              <a:buNone/>
            </a:pPr>
            <a:r>
              <a:rPr lang="en-US" sz="800" b="1" kern="0" spc="200" dirty="0">
                <a:solidFill>
                  <a:srgbClr val="64748B"/>
                </a:solidFill>
                <a:latin typeface="Calibri" pitchFamily="34" charset="0"/>
                <a:ea typeface="Calibri" pitchFamily="34" charset="-122"/>
                <a:cs typeface="Calibri" pitchFamily="34" charset="-120"/>
              </a:rPr>
              <a:t>RULES</a:t>
            </a:r>
            <a:endParaRPr lang="en-US" sz="800" dirty="0"/>
          </a:p>
        </p:txBody>
      </p:sp>
      <p:sp>
        <p:nvSpPr>
          <p:cNvPr id="29" name="Shape 27"/>
          <p:cNvSpPr/>
          <p:nvPr/>
        </p:nvSpPr>
        <p:spPr>
          <a:xfrm>
            <a:off x="3447288" y="2798064"/>
            <a:ext cx="91440" cy="91440"/>
          </a:xfrm>
          <a:prstGeom prst="ellipse">
            <a:avLst/>
          </a:prstGeom>
          <a:solidFill>
            <a:srgbClr val="0A2540"/>
          </a:solidFill>
          <a:ln/>
        </p:spPr>
        <p:txBody>
          <a:bodyPr/>
          <a:lstStyle/>
          <a:p>
            <a:endParaRPr lang="en-US"/>
          </a:p>
        </p:txBody>
      </p:sp>
      <p:sp>
        <p:nvSpPr>
          <p:cNvPr id="30" name="Text 28"/>
          <p:cNvSpPr/>
          <p:nvPr/>
        </p:nvSpPr>
        <p:spPr>
          <a:xfrm>
            <a:off x="3593592" y="2743200"/>
            <a:ext cx="237744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Calls validatePrescription() first</a:t>
            </a:r>
            <a:endParaRPr lang="en-US" sz="900" dirty="0"/>
          </a:p>
        </p:txBody>
      </p:sp>
      <p:sp>
        <p:nvSpPr>
          <p:cNvPr id="31" name="Shape 29"/>
          <p:cNvSpPr/>
          <p:nvPr/>
        </p:nvSpPr>
        <p:spPr>
          <a:xfrm>
            <a:off x="3447288" y="3072384"/>
            <a:ext cx="91440" cy="91440"/>
          </a:xfrm>
          <a:prstGeom prst="ellipse">
            <a:avLst/>
          </a:prstGeom>
          <a:solidFill>
            <a:srgbClr val="0A2540"/>
          </a:solidFill>
          <a:ln/>
        </p:spPr>
        <p:txBody>
          <a:bodyPr/>
          <a:lstStyle/>
          <a:p>
            <a:endParaRPr lang="en-US"/>
          </a:p>
        </p:txBody>
      </p:sp>
      <p:sp>
        <p:nvSpPr>
          <p:cNvPr id="32" name="Text 30"/>
          <p:cNvSpPr/>
          <p:nvPr/>
        </p:nvSpPr>
        <p:spPr>
          <a:xfrm>
            <a:off x="3593592" y="3017520"/>
            <a:ext cx="237744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If invalid → throws IllegalStateException</a:t>
            </a:r>
            <a:endParaRPr lang="en-US" sz="900" dirty="0"/>
          </a:p>
        </p:txBody>
      </p:sp>
      <p:sp>
        <p:nvSpPr>
          <p:cNvPr id="33" name="Shape 31"/>
          <p:cNvSpPr/>
          <p:nvPr/>
        </p:nvSpPr>
        <p:spPr>
          <a:xfrm>
            <a:off x="3447288" y="3346704"/>
            <a:ext cx="91440" cy="91440"/>
          </a:xfrm>
          <a:prstGeom prst="ellipse">
            <a:avLst/>
          </a:prstGeom>
          <a:solidFill>
            <a:srgbClr val="0A2540"/>
          </a:solidFill>
          <a:ln/>
        </p:spPr>
        <p:txBody>
          <a:bodyPr/>
          <a:lstStyle/>
          <a:p>
            <a:endParaRPr lang="en-US"/>
          </a:p>
        </p:txBody>
      </p:sp>
      <p:sp>
        <p:nvSpPr>
          <p:cNvPr id="34" name="Text 32"/>
          <p:cNvSpPr/>
          <p:nvPr/>
        </p:nvSpPr>
        <p:spPr>
          <a:xfrm>
            <a:off x="3593592" y="3291840"/>
            <a:ext cx="237744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Reduces refillsRemaining by 1</a:t>
            </a:r>
            <a:endParaRPr lang="en-US" sz="900" dirty="0"/>
          </a:p>
        </p:txBody>
      </p:sp>
      <p:sp>
        <p:nvSpPr>
          <p:cNvPr id="35" name="Shape 33"/>
          <p:cNvSpPr/>
          <p:nvPr/>
        </p:nvSpPr>
        <p:spPr>
          <a:xfrm>
            <a:off x="3447288" y="3621024"/>
            <a:ext cx="91440" cy="91440"/>
          </a:xfrm>
          <a:prstGeom prst="ellipse">
            <a:avLst/>
          </a:prstGeom>
          <a:solidFill>
            <a:srgbClr val="0A2540"/>
          </a:solidFill>
          <a:ln/>
        </p:spPr>
        <p:txBody>
          <a:bodyPr/>
          <a:lstStyle/>
          <a:p>
            <a:endParaRPr lang="en-US"/>
          </a:p>
        </p:txBody>
      </p:sp>
      <p:sp>
        <p:nvSpPr>
          <p:cNvPr id="36" name="Text 34"/>
          <p:cNvSpPr/>
          <p:nvPr/>
        </p:nvSpPr>
        <p:spPr>
          <a:xfrm>
            <a:off x="3593592" y="3566160"/>
            <a:ext cx="237744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Returns message with drug + patient info</a:t>
            </a:r>
            <a:endParaRPr lang="en-US" sz="900" dirty="0"/>
          </a:p>
        </p:txBody>
      </p:sp>
      <p:sp>
        <p:nvSpPr>
          <p:cNvPr id="37" name="Shape 35"/>
          <p:cNvSpPr/>
          <p:nvPr/>
        </p:nvSpPr>
        <p:spPr>
          <a:xfrm>
            <a:off x="3337560" y="4297680"/>
            <a:ext cx="2743200" cy="594360"/>
          </a:xfrm>
          <a:prstGeom prst="rect">
            <a:avLst/>
          </a:prstGeom>
          <a:solidFill>
            <a:srgbClr val="0A2540"/>
          </a:solidFill>
          <a:ln/>
        </p:spPr>
        <p:txBody>
          <a:bodyPr/>
          <a:lstStyle/>
          <a:p>
            <a:endParaRPr lang="en-US"/>
          </a:p>
        </p:txBody>
      </p:sp>
      <p:sp>
        <p:nvSpPr>
          <p:cNvPr id="38" name="Text 36"/>
          <p:cNvSpPr/>
          <p:nvPr/>
        </p:nvSpPr>
        <p:spPr>
          <a:xfrm>
            <a:off x="3429000" y="4334256"/>
            <a:ext cx="2560320" cy="53035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This IS the act of handing over medicine. It won't work unless validatePrescription passes first — a safety gate.</a:t>
            </a:r>
            <a:endParaRPr lang="en-US" sz="900" dirty="0"/>
          </a:p>
        </p:txBody>
      </p:sp>
      <p:sp>
        <p:nvSpPr>
          <p:cNvPr id="39" name="Shape 37"/>
          <p:cNvSpPr/>
          <p:nvPr/>
        </p:nvSpPr>
        <p:spPr>
          <a:xfrm>
            <a:off x="6217920" y="1143000"/>
            <a:ext cx="2743200" cy="37490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40" name="Shape 38"/>
          <p:cNvSpPr/>
          <p:nvPr/>
        </p:nvSpPr>
        <p:spPr>
          <a:xfrm>
            <a:off x="6217920" y="1143000"/>
            <a:ext cx="2743200" cy="402336"/>
          </a:xfrm>
          <a:prstGeom prst="rect">
            <a:avLst/>
          </a:prstGeom>
          <a:solidFill>
            <a:srgbClr val="E67E22"/>
          </a:solidFill>
          <a:ln/>
        </p:spPr>
        <p:txBody>
          <a:bodyPr/>
          <a:lstStyle/>
          <a:p>
            <a:endParaRPr lang="en-US"/>
          </a:p>
        </p:txBody>
      </p:sp>
      <p:sp>
        <p:nvSpPr>
          <p:cNvPr id="41" name="Text 39"/>
          <p:cNvSpPr/>
          <p:nvPr/>
        </p:nvSpPr>
        <p:spPr>
          <a:xfrm>
            <a:off x="6309360" y="1143000"/>
            <a:ext cx="2560320" cy="40233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05  calculateCost(age, dosage)</a:t>
            </a:r>
            <a:endParaRPr lang="en-US" sz="1000" dirty="0"/>
          </a:p>
        </p:txBody>
      </p:sp>
      <p:sp>
        <p:nvSpPr>
          <p:cNvPr id="42" name="Text 40"/>
          <p:cNvSpPr/>
          <p:nvPr/>
        </p:nvSpPr>
        <p:spPr>
          <a:xfrm>
            <a:off x="6309360" y="1609344"/>
            <a:ext cx="2560320" cy="182880"/>
          </a:xfrm>
          <a:prstGeom prst="rect">
            <a:avLst/>
          </a:prstGeom>
          <a:noFill/>
          <a:ln/>
        </p:spPr>
        <p:txBody>
          <a:bodyPr wrap="square" rtlCol="0" anchor="ctr"/>
          <a:lstStyle/>
          <a:p>
            <a:pPr marL="0" indent="0">
              <a:buNone/>
            </a:pPr>
            <a:r>
              <a:rPr lang="en-US" sz="800" b="1" kern="0" spc="200" dirty="0">
                <a:solidFill>
                  <a:srgbClr val="64748B"/>
                </a:solidFill>
                <a:latin typeface="Calibri" pitchFamily="34" charset="0"/>
                <a:ea typeface="Calibri" pitchFamily="34" charset="-122"/>
                <a:cs typeface="Calibri" pitchFamily="34" charset="-120"/>
              </a:rPr>
              <a:t>INPUT</a:t>
            </a:r>
            <a:endParaRPr lang="en-US" sz="800" dirty="0"/>
          </a:p>
        </p:txBody>
      </p:sp>
      <p:sp>
        <p:nvSpPr>
          <p:cNvPr id="43" name="Text 41"/>
          <p:cNvSpPr/>
          <p:nvPr/>
        </p:nvSpPr>
        <p:spPr>
          <a:xfrm>
            <a:off x="6309360" y="1792224"/>
            <a:ext cx="256032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int age (0–120), double dosage (0–500)</a:t>
            </a:r>
            <a:endParaRPr lang="en-US" sz="900" dirty="0"/>
          </a:p>
        </p:txBody>
      </p:sp>
      <p:sp>
        <p:nvSpPr>
          <p:cNvPr id="44" name="Text 42"/>
          <p:cNvSpPr/>
          <p:nvPr/>
        </p:nvSpPr>
        <p:spPr>
          <a:xfrm>
            <a:off x="6309360" y="2084832"/>
            <a:ext cx="2560320" cy="182880"/>
          </a:xfrm>
          <a:prstGeom prst="rect">
            <a:avLst/>
          </a:prstGeom>
          <a:noFill/>
          <a:ln/>
        </p:spPr>
        <p:txBody>
          <a:bodyPr wrap="square" rtlCol="0" anchor="ctr"/>
          <a:lstStyle/>
          <a:p>
            <a:pPr marL="0" indent="0">
              <a:buNone/>
            </a:pPr>
            <a:r>
              <a:rPr lang="en-US" sz="800" b="1" kern="0" spc="200" dirty="0">
                <a:solidFill>
                  <a:srgbClr val="64748B"/>
                </a:solidFill>
                <a:latin typeface="Calibri" pitchFamily="34" charset="0"/>
                <a:ea typeface="Calibri" pitchFamily="34" charset="-122"/>
                <a:cs typeface="Calibri" pitchFamily="34" charset="-120"/>
              </a:rPr>
              <a:t>OUTPUT</a:t>
            </a:r>
            <a:endParaRPr lang="en-US" sz="800" dirty="0"/>
          </a:p>
        </p:txBody>
      </p:sp>
      <p:sp>
        <p:nvSpPr>
          <p:cNvPr id="45" name="Text 43"/>
          <p:cNvSpPr/>
          <p:nvPr/>
        </p:nvSpPr>
        <p:spPr>
          <a:xfrm>
            <a:off x="6309360" y="2267712"/>
            <a:ext cx="256032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double — total cost in USD</a:t>
            </a:r>
            <a:endParaRPr lang="en-US" sz="900" dirty="0"/>
          </a:p>
        </p:txBody>
      </p:sp>
      <p:sp>
        <p:nvSpPr>
          <p:cNvPr id="46" name="Text 44"/>
          <p:cNvSpPr/>
          <p:nvPr/>
        </p:nvSpPr>
        <p:spPr>
          <a:xfrm>
            <a:off x="6309360" y="2560320"/>
            <a:ext cx="2560320" cy="182880"/>
          </a:xfrm>
          <a:prstGeom prst="rect">
            <a:avLst/>
          </a:prstGeom>
          <a:noFill/>
          <a:ln/>
        </p:spPr>
        <p:txBody>
          <a:bodyPr wrap="square" rtlCol="0" anchor="ctr"/>
          <a:lstStyle/>
          <a:p>
            <a:pPr marL="0" indent="0">
              <a:buNone/>
            </a:pPr>
            <a:r>
              <a:rPr lang="en-US" sz="800" b="1" kern="0" spc="200" dirty="0">
                <a:solidFill>
                  <a:srgbClr val="64748B"/>
                </a:solidFill>
                <a:latin typeface="Calibri" pitchFamily="34" charset="0"/>
                <a:ea typeface="Calibri" pitchFamily="34" charset="-122"/>
                <a:cs typeface="Calibri" pitchFamily="34" charset="-120"/>
              </a:rPr>
              <a:t>RULES</a:t>
            </a:r>
            <a:endParaRPr lang="en-US" sz="800" dirty="0"/>
          </a:p>
        </p:txBody>
      </p:sp>
      <p:sp>
        <p:nvSpPr>
          <p:cNvPr id="47" name="Shape 45"/>
          <p:cNvSpPr/>
          <p:nvPr/>
        </p:nvSpPr>
        <p:spPr>
          <a:xfrm>
            <a:off x="6327648" y="2798064"/>
            <a:ext cx="91440" cy="91440"/>
          </a:xfrm>
          <a:prstGeom prst="ellipse">
            <a:avLst/>
          </a:prstGeom>
          <a:solidFill>
            <a:srgbClr val="E67E22"/>
          </a:solidFill>
          <a:ln/>
        </p:spPr>
        <p:txBody>
          <a:bodyPr/>
          <a:lstStyle/>
          <a:p>
            <a:endParaRPr lang="en-US"/>
          </a:p>
        </p:txBody>
      </p:sp>
      <p:sp>
        <p:nvSpPr>
          <p:cNvPr id="48" name="Text 46"/>
          <p:cNvSpPr/>
          <p:nvPr/>
        </p:nvSpPr>
        <p:spPr>
          <a:xfrm>
            <a:off x="6473952" y="2743200"/>
            <a:ext cx="237744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Base = $20.00 + ($0.50 × dosageMg)</a:t>
            </a:r>
            <a:endParaRPr lang="en-US" sz="900" dirty="0"/>
          </a:p>
        </p:txBody>
      </p:sp>
      <p:sp>
        <p:nvSpPr>
          <p:cNvPr id="49" name="Shape 47"/>
          <p:cNvSpPr/>
          <p:nvPr/>
        </p:nvSpPr>
        <p:spPr>
          <a:xfrm>
            <a:off x="6327648" y="3072384"/>
            <a:ext cx="91440" cy="91440"/>
          </a:xfrm>
          <a:prstGeom prst="ellipse">
            <a:avLst/>
          </a:prstGeom>
          <a:solidFill>
            <a:srgbClr val="E67E22"/>
          </a:solidFill>
          <a:ln/>
        </p:spPr>
        <p:txBody>
          <a:bodyPr/>
          <a:lstStyle/>
          <a:p>
            <a:endParaRPr lang="en-US"/>
          </a:p>
        </p:txBody>
      </p:sp>
      <p:sp>
        <p:nvSpPr>
          <p:cNvPr id="50" name="Text 48"/>
          <p:cNvSpPr/>
          <p:nvPr/>
        </p:nvSpPr>
        <p:spPr>
          <a:xfrm>
            <a:off x="6473952" y="3017520"/>
            <a:ext cx="237744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Age &lt; 18 → add $15 surcharge</a:t>
            </a:r>
            <a:endParaRPr lang="en-US" sz="900" dirty="0"/>
          </a:p>
        </p:txBody>
      </p:sp>
      <p:sp>
        <p:nvSpPr>
          <p:cNvPr id="51" name="Shape 49"/>
          <p:cNvSpPr/>
          <p:nvPr/>
        </p:nvSpPr>
        <p:spPr>
          <a:xfrm>
            <a:off x="6327648" y="3346704"/>
            <a:ext cx="91440" cy="91440"/>
          </a:xfrm>
          <a:prstGeom prst="ellipse">
            <a:avLst/>
          </a:prstGeom>
          <a:solidFill>
            <a:srgbClr val="E67E22"/>
          </a:solidFill>
          <a:ln/>
        </p:spPr>
        <p:txBody>
          <a:bodyPr/>
          <a:lstStyle/>
          <a:p>
            <a:endParaRPr lang="en-US"/>
          </a:p>
        </p:txBody>
      </p:sp>
      <p:sp>
        <p:nvSpPr>
          <p:cNvPr id="52" name="Text 50"/>
          <p:cNvSpPr/>
          <p:nvPr/>
        </p:nvSpPr>
        <p:spPr>
          <a:xfrm>
            <a:off x="6473952" y="3291840"/>
            <a:ext cx="237744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Age ≥ 65 → subtract $10 discount</a:t>
            </a:r>
            <a:endParaRPr lang="en-US" sz="900" dirty="0"/>
          </a:p>
        </p:txBody>
      </p:sp>
      <p:sp>
        <p:nvSpPr>
          <p:cNvPr id="53" name="Shape 51"/>
          <p:cNvSpPr/>
          <p:nvPr/>
        </p:nvSpPr>
        <p:spPr>
          <a:xfrm>
            <a:off x="6327648" y="3621024"/>
            <a:ext cx="91440" cy="91440"/>
          </a:xfrm>
          <a:prstGeom prst="ellipse">
            <a:avLst/>
          </a:prstGeom>
          <a:solidFill>
            <a:srgbClr val="E67E22"/>
          </a:solidFill>
          <a:ln/>
        </p:spPr>
        <p:txBody>
          <a:bodyPr/>
          <a:lstStyle/>
          <a:p>
            <a:endParaRPr lang="en-US"/>
          </a:p>
        </p:txBody>
      </p:sp>
      <p:sp>
        <p:nvSpPr>
          <p:cNvPr id="54" name="Text 52"/>
          <p:cNvSpPr/>
          <p:nvPr/>
        </p:nvSpPr>
        <p:spPr>
          <a:xfrm>
            <a:off x="6473952" y="3566160"/>
            <a:ext cx="2377440" cy="256032"/>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Minimum price floor = $20.00</a:t>
            </a:r>
            <a:endParaRPr lang="en-US" sz="900" dirty="0"/>
          </a:p>
        </p:txBody>
      </p:sp>
      <p:sp>
        <p:nvSpPr>
          <p:cNvPr id="55" name="Shape 53"/>
          <p:cNvSpPr/>
          <p:nvPr/>
        </p:nvSpPr>
        <p:spPr>
          <a:xfrm>
            <a:off x="6217920" y="4297680"/>
            <a:ext cx="2743200" cy="594360"/>
          </a:xfrm>
          <a:prstGeom prst="rect">
            <a:avLst/>
          </a:prstGeom>
          <a:solidFill>
            <a:srgbClr val="E67E22"/>
          </a:solidFill>
          <a:ln/>
        </p:spPr>
        <p:txBody>
          <a:bodyPr/>
          <a:lstStyle/>
          <a:p>
            <a:endParaRPr lang="en-US"/>
          </a:p>
        </p:txBody>
      </p:sp>
      <p:sp>
        <p:nvSpPr>
          <p:cNvPr id="56" name="Text 54"/>
          <p:cNvSpPr/>
          <p:nvPr/>
        </p:nvSpPr>
        <p:spPr>
          <a:xfrm>
            <a:off x="6309360" y="4334256"/>
            <a:ext cx="2560320" cy="53035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Billing with age-based rules. Children get surcharge (specialist care). Elderly get discount (social consideration).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txBody>
          <a:bodyPr/>
          <a:lstStyle/>
          <a:p>
            <a:endParaRPr lang="en-US"/>
          </a:p>
        </p:txBody>
      </p:sp>
      <p:sp>
        <p:nvSpPr>
          <p:cNvPr id="3" name="Text 1"/>
          <p:cNvSpPr/>
          <p:nvPr/>
        </p:nvSpPr>
        <p:spPr>
          <a:xfrm>
            <a:off x="365760" y="201168"/>
            <a:ext cx="8412480" cy="50292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Data Model &amp; Schema</a:t>
            </a:r>
            <a:endParaRPr lang="en-US" sz="3000" dirty="0"/>
          </a:p>
        </p:txBody>
      </p:sp>
      <p:sp>
        <p:nvSpPr>
          <p:cNvPr id="4" name="Text 2"/>
          <p:cNvSpPr/>
          <p:nvPr/>
        </p:nvSpPr>
        <p:spPr>
          <a:xfrm>
            <a:off x="365760" y="713232"/>
            <a:ext cx="8412480" cy="256032"/>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The Prescription entity — 8 attributes, stored in HashMap&lt;String, Prescription&gt;</a:t>
            </a:r>
            <a:endParaRPr lang="en-US" sz="1200" dirty="0"/>
          </a:p>
        </p:txBody>
      </p:sp>
      <p:sp>
        <p:nvSpPr>
          <p:cNvPr id="5" name="Shape 3"/>
          <p:cNvSpPr/>
          <p:nvPr/>
        </p:nvSpPr>
        <p:spPr>
          <a:xfrm>
            <a:off x="365760" y="1051560"/>
            <a:ext cx="5303520" cy="3657600"/>
          </a:xfrm>
          <a:prstGeom prst="rect">
            <a:avLst/>
          </a:prstGeom>
          <a:solidFill>
            <a:srgbClr val="0D2137"/>
          </a:solidFill>
          <a:ln/>
        </p:spPr>
        <p:txBody>
          <a:bodyPr/>
          <a:lstStyle/>
          <a:p>
            <a:endParaRPr lang="en-US"/>
          </a:p>
        </p:txBody>
      </p:sp>
      <p:sp>
        <p:nvSpPr>
          <p:cNvPr id="6" name="Text 4"/>
          <p:cNvSpPr/>
          <p:nvPr/>
        </p:nvSpPr>
        <p:spPr>
          <a:xfrm>
            <a:off x="502920" y="1115568"/>
            <a:ext cx="5029200" cy="292608"/>
          </a:xfrm>
          <a:prstGeom prst="rect">
            <a:avLst/>
          </a:prstGeom>
          <a:noFill/>
          <a:ln/>
        </p:spPr>
        <p:txBody>
          <a:bodyPr wrap="square"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Prescription Entity</a:t>
            </a:r>
            <a:endParaRPr lang="en-US" sz="1200" dirty="0"/>
          </a:p>
        </p:txBody>
      </p:sp>
      <p:sp>
        <p:nvSpPr>
          <p:cNvPr id="7" name="Shape 5"/>
          <p:cNvSpPr/>
          <p:nvPr/>
        </p:nvSpPr>
        <p:spPr>
          <a:xfrm>
            <a:off x="457200" y="1481328"/>
            <a:ext cx="5212080" cy="338328"/>
          </a:xfrm>
          <a:prstGeom prst="rect">
            <a:avLst/>
          </a:prstGeom>
          <a:solidFill>
            <a:srgbClr val="034652"/>
          </a:solidFill>
          <a:ln/>
        </p:spPr>
        <p:txBody>
          <a:bodyPr/>
          <a:lstStyle/>
          <a:p>
            <a:endParaRPr lang="en-US" dirty="0"/>
          </a:p>
        </p:txBody>
      </p:sp>
      <p:sp>
        <p:nvSpPr>
          <p:cNvPr id="8" name="Shape 6"/>
          <p:cNvSpPr/>
          <p:nvPr/>
        </p:nvSpPr>
        <p:spPr>
          <a:xfrm>
            <a:off x="457200" y="1481328"/>
            <a:ext cx="54864" cy="338328"/>
          </a:xfrm>
          <a:prstGeom prst="rect">
            <a:avLst/>
          </a:prstGeom>
          <a:solidFill>
            <a:srgbClr val="02C39A"/>
          </a:solidFill>
          <a:ln/>
        </p:spPr>
        <p:txBody>
          <a:bodyPr/>
          <a:lstStyle/>
          <a:p>
            <a:endParaRPr lang="en-US"/>
          </a:p>
        </p:txBody>
      </p:sp>
      <p:sp>
        <p:nvSpPr>
          <p:cNvPr id="9" name="Text 7"/>
          <p:cNvSpPr/>
          <p:nvPr/>
        </p:nvSpPr>
        <p:spPr>
          <a:xfrm>
            <a:off x="594360" y="1481328"/>
            <a:ext cx="1691640" cy="338328"/>
          </a:xfrm>
          <a:prstGeom prst="rect">
            <a:avLst/>
          </a:prstGeom>
          <a:noFill/>
          <a:ln/>
        </p:spPr>
        <p:txBody>
          <a:bodyPr wrap="square"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prescriptionId</a:t>
            </a:r>
            <a:endParaRPr lang="en-US" sz="1000" dirty="0"/>
          </a:p>
        </p:txBody>
      </p:sp>
      <p:sp>
        <p:nvSpPr>
          <p:cNvPr id="10" name="Text 8"/>
          <p:cNvSpPr/>
          <p:nvPr/>
        </p:nvSpPr>
        <p:spPr>
          <a:xfrm>
            <a:off x="2286000" y="1481328"/>
            <a:ext cx="68580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String</a:t>
            </a:r>
            <a:endParaRPr lang="en-US" sz="900" dirty="0"/>
          </a:p>
        </p:txBody>
      </p:sp>
      <p:sp>
        <p:nvSpPr>
          <p:cNvPr id="11" name="Text 9"/>
          <p:cNvSpPr/>
          <p:nvPr/>
        </p:nvSpPr>
        <p:spPr>
          <a:xfrm>
            <a:off x="2999232" y="1481328"/>
            <a:ext cx="260604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Required, Unique</a:t>
            </a:r>
            <a:endParaRPr lang="en-US" sz="900" dirty="0"/>
          </a:p>
        </p:txBody>
      </p:sp>
      <p:sp>
        <p:nvSpPr>
          <p:cNvPr id="12" name="Shape 10"/>
          <p:cNvSpPr/>
          <p:nvPr/>
        </p:nvSpPr>
        <p:spPr>
          <a:xfrm>
            <a:off x="457200" y="1856232"/>
            <a:ext cx="5212080" cy="338328"/>
          </a:xfrm>
          <a:prstGeom prst="rect">
            <a:avLst/>
          </a:prstGeom>
          <a:solidFill>
            <a:srgbClr val="0A2540"/>
          </a:solidFill>
          <a:ln/>
        </p:spPr>
        <p:txBody>
          <a:bodyPr/>
          <a:lstStyle/>
          <a:p>
            <a:endParaRPr lang="en-US"/>
          </a:p>
        </p:txBody>
      </p:sp>
      <p:sp>
        <p:nvSpPr>
          <p:cNvPr id="13" name="Shape 11"/>
          <p:cNvSpPr/>
          <p:nvPr/>
        </p:nvSpPr>
        <p:spPr>
          <a:xfrm>
            <a:off x="457200" y="1856232"/>
            <a:ext cx="54864" cy="338328"/>
          </a:xfrm>
          <a:prstGeom prst="rect">
            <a:avLst/>
          </a:prstGeom>
          <a:solidFill>
            <a:srgbClr val="028090"/>
          </a:solidFill>
          <a:ln/>
        </p:spPr>
        <p:txBody>
          <a:bodyPr/>
          <a:lstStyle/>
          <a:p>
            <a:endParaRPr lang="en-US"/>
          </a:p>
        </p:txBody>
      </p:sp>
      <p:sp>
        <p:nvSpPr>
          <p:cNvPr id="14" name="Text 12"/>
          <p:cNvSpPr/>
          <p:nvPr/>
        </p:nvSpPr>
        <p:spPr>
          <a:xfrm>
            <a:off x="594360" y="1856232"/>
            <a:ext cx="1691640" cy="33832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patientName</a:t>
            </a:r>
            <a:endParaRPr lang="en-US" sz="1000" dirty="0"/>
          </a:p>
        </p:txBody>
      </p:sp>
      <p:sp>
        <p:nvSpPr>
          <p:cNvPr id="15" name="Text 13"/>
          <p:cNvSpPr/>
          <p:nvPr/>
        </p:nvSpPr>
        <p:spPr>
          <a:xfrm>
            <a:off x="2286000" y="1856232"/>
            <a:ext cx="68580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String</a:t>
            </a:r>
            <a:endParaRPr lang="en-US" sz="900" dirty="0"/>
          </a:p>
        </p:txBody>
      </p:sp>
      <p:sp>
        <p:nvSpPr>
          <p:cNvPr id="16" name="Text 14"/>
          <p:cNvSpPr/>
          <p:nvPr/>
        </p:nvSpPr>
        <p:spPr>
          <a:xfrm>
            <a:off x="2999232" y="1856232"/>
            <a:ext cx="260604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Required, Not empty</a:t>
            </a:r>
            <a:endParaRPr lang="en-US" sz="900" dirty="0"/>
          </a:p>
        </p:txBody>
      </p:sp>
      <p:sp>
        <p:nvSpPr>
          <p:cNvPr id="17" name="Shape 15"/>
          <p:cNvSpPr/>
          <p:nvPr/>
        </p:nvSpPr>
        <p:spPr>
          <a:xfrm>
            <a:off x="457200" y="2231136"/>
            <a:ext cx="5212080" cy="338328"/>
          </a:xfrm>
          <a:prstGeom prst="rect">
            <a:avLst/>
          </a:prstGeom>
          <a:solidFill>
            <a:srgbClr val="0A2540"/>
          </a:solidFill>
          <a:ln/>
        </p:spPr>
        <p:txBody>
          <a:bodyPr/>
          <a:lstStyle/>
          <a:p>
            <a:endParaRPr lang="en-US"/>
          </a:p>
        </p:txBody>
      </p:sp>
      <p:sp>
        <p:nvSpPr>
          <p:cNvPr id="18" name="Shape 16"/>
          <p:cNvSpPr/>
          <p:nvPr/>
        </p:nvSpPr>
        <p:spPr>
          <a:xfrm>
            <a:off x="457200" y="2231136"/>
            <a:ext cx="54864" cy="338328"/>
          </a:xfrm>
          <a:prstGeom prst="rect">
            <a:avLst/>
          </a:prstGeom>
          <a:solidFill>
            <a:srgbClr val="028090"/>
          </a:solidFill>
          <a:ln/>
        </p:spPr>
        <p:txBody>
          <a:bodyPr/>
          <a:lstStyle/>
          <a:p>
            <a:endParaRPr lang="en-US"/>
          </a:p>
        </p:txBody>
      </p:sp>
      <p:sp>
        <p:nvSpPr>
          <p:cNvPr id="19" name="Text 17"/>
          <p:cNvSpPr/>
          <p:nvPr/>
        </p:nvSpPr>
        <p:spPr>
          <a:xfrm>
            <a:off x="594360" y="2231136"/>
            <a:ext cx="1691640" cy="33832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patientAge</a:t>
            </a:r>
            <a:endParaRPr lang="en-US" sz="1000" dirty="0"/>
          </a:p>
        </p:txBody>
      </p:sp>
      <p:sp>
        <p:nvSpPr>
          <p:cNvPr id="20" name="Text 18"/>
          <p:cNvSpPr/>
          <p:nvPr/>
        </p:nvSpPr>
        <p:spPr>
          <a:xfrm>
            <a:off x="2286000" y="2231136"/>
            <a:ext cx="68580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int</a:t>
            </a:r>
            <a:endParaRPr lang="en-US" sz="900" dirty="0"/>
          </a:p>
        </p:txBody>
      </p:sp>
      <p:sp>
        <p:nvSpPr>
          <p:cNvPr id="21" name="Text 19"/>
          <p:cNvSpPr/>
          <p:nvPr/>
        </p:nvSpPr>
        <p:spPr>
          <a:xfrm>
            <a:off x="2999232" y="2231136"/>
            <a:ext cx="260604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Range: 0 – 120</a:t>
            </a:r>
            <a:endParaRPr lang="en-US" sz="900" dirty="0"/>
          </a:p>
        </p:txBody>
      </p:sp>
      <p:sp>
        <p:nvSpPr>
          <p:cNvPr id="22" name="Shape 20"/>
          <p:cNvSpPr/>
          <p:nvPr/>
        </p:nvSpPr>
        <p:spPr>
          <a:xfrm>
            <a:off x="457200" y="2606040"/>
            <a:ext cx="5212080" cy="338328"/>
          </a:xfrm>
          <a:prstGeom prst="rect">
            <a:avLst/>
          </a:prstGeom>
          <a:solidFill>
            <a:srgbClr val="0A2540"/>
          </a:solidFill>
          <a:ln/>
        </p:spPr>
        <p:txBody>
          <a:bodyPr/>
          <a:lstStyle/>
          <a:p>
            <a:endParaRPr lang="en-US"/>
          </a:p>
        </p:txBody>
      </p:sp>
      <p:sp>
        <p:nvSpPr>
          <p:cNvPr id="23" name="Shape 21"/>
          <p:cNvSpPr/>
          <p:nvPr/>
        </p:nvSpPr>
        <p:spPr>
          <a:xfrm>
            <a:off x="457200" y="2606040"/>
            <a:ext cx="54864" cy="338328"/>
          </a:xfrm>
          <a:prstGeom prst="rect">
            <a:avLst/>
          </a:prstGeom>
          <a:solidFill>
            <a:srgbClr val="028090"/>
          </a:solidFill>
          <a:ln/>
        </p:spPr>
        <p:txBody>
          <a:bodyPr/>
          <a:lstStyle/>
          <a:p>
            <a:endParaRPr lang="en-US"/>
          </a:p>
        </p:txBody>
      </p:sp>
      <p:sp>
        <p:nvSpPr>
          <p:cNvPr id="24" name="Text 22"/>
          <p:cNvSpPr/>
          <p:nvPr/>
        </p:nvSpPr>
        <p:spPr>
          <a:xfrm>
            <a:off x="594360" y="2606040"/>
            <a:ext cx="1691640" cy="33832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patientWeightKg</a:t>
            </a:r>
            <a:endParaRPr lang="en-US" sz="1000" dirty="0"/>
          </a:p>
        </p:txBody>
      </p:sp>
      <p:sp>
        <p:nvSpPr>
          <p:cNvPr id="25" name="Text 23"/>
          <p:cNvSpPr/>
          <p:nvPr/>
        </p:nvSpPr>
        <p:spPr>
          <a:xfrm>
            <a:off x="2286000" y="2606040"/>
            <a:ext cx="68580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double</a:t>
            </a:r>
            <a:endParaRPr lang="en-US" sz="900" dirty="0"/>
          </a:p>
        </p:txBody>
      </p:sp>
      <p:sp>
        <p:nvSpPr>
          <p:cNvPr id="26" name="Text 24"/>
          <p:cNvSpPr/>
          <p:nvPr/>
        </p:nvSpPr>
        <p:spPr>
          <a:xfrm>
            <a:off x="2999232" y="2606040"/>
            <a:ext cx="260604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Range: 0 – 300 kg</a:t>
            </a:r>
            <a:endParaRPr lang="en-US" sz="900" dirty="0"/>
          </a:p>
        </p:txBody>
      </p:sp>
      <p:sp>
        <p:nvSpPr>
          <p:cNvPr id="27" name="Shape 25"/>
          <p:cNvSpPr/>
          <p:nvPr/>
        </p:nvSpPr>
        <p:spPr>
          <a:xfrm>
            <a:off x="457200" y="2980944"/>
            <a:ext cx="5212080" cy="338328"/>
          </a:xfrm>
          <a:prstGeom prst="rect">
            <a:avLst/>
          </a:prstGeom>
          <a:solidFill>
            <a:srgbClr val="0A2540"/>
          </a:solidFill>
          <a:ln/>
        </p:spPr>
        <p:txBody>
          <a:bodyPr/>
          <a:lstStyle/>
          <a:p>
            <a:endParaRPr lang="en-US"/>
          </a:p>
        </p:txBody>
      </p:sp>
      <p:sp>
        <p:nvSpPr>
          <p:cNvPr id="28" name="Shape 26"/>
          <p:cNvSpPr/>
          <p:nvPr/>
        </p:nvSpPr>
        <p:spPr>
          <a:xfrm>
            <a:off x="457200" y="2980944"/>
            <a:ext cx="54864" cy="338328"/>
          </a:xfrm>
          <a:prstGeom prst="rect">
            <a:avLst/>
          </a:prstGeom>
          <a:solidFill>
            <a:srgbClr val="028090"/>
          </a:solidFill>
          <a:ln/>
        </p:spPr>
        <p:txBody>
          <a:bodyPr/>
          <a:lstStyle/>
          <a:p>
            <a:endParaRPr lang="en-US"/>
          </a:p>
        </p:txBody>
      </p:sp>
      <p:sp>
        <p:nvSpPr>
          <p:cNvPr id="29" name="Text 27"/>
          <p:cNvSpPr/>
          <p:nvPr/>
        </p:nvSpPr>
        <p:spPr>
          <a:xfrm>
            <a:off x="594360" y="2980944"/>
            <a:ext cx="1691640" cy="33832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drugName</a:t>
            </a:r>
            <a:endParaRPr lang="en-US" sz="1000" dirty="0"/>
          </a:p>
        </p:txBody>
      </p:sp>
      <p:sp>
        <p:nvSpPr>
          <p:cNvPr id="30" name="Text 28"/>
          <p:cNvSpPr/>
          <p:nvPr/>
        </p:nvSpPr>
        <p:spPr>
          <a:xfrm>
            <a:off x="2286000" y="2980944"/>
            <a:ext cx="68580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String</a:t>
            </a:r>
            <a:endParaRPr lang="en-US" sz="900" dirty="0"/>
          </a:p>
        </p:txBody>
      </p:sp>
      <p:sp>
        <p:nvSpPr>
          <p:cNvPr id="31" name="Text 29"/>
          <p:cNvSpPr/>
          <p:nvPr/>
        </p:nvSpPr>
        <p:spPr>
          <a:xfrm>
            <a:off x="2999232" y="2980944"/>
            <a:ext cx="260604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Required, Not empty</a:t>
            </a:r>
            <a:endParaRPr lang="en-US" sz="900" dirty="0"/>
          </a:p>
        </p:txBody>
      </p:sp>
      <p:sp>
        <p:nvSpPr>
          <p:cNvPr id="32" name="Shape 30"/>
          <p:cNvSpPr/>
          <p:nvPr/>
        </p:nvSpPr>
        <p:spPr>
          <a:xfrm>
            <a:off x="457200" y="3355848"/>
            <a:ext cx="5212080" cy="338328"/>
          </a:xfrm>
          <a:prstGeom prst="rect">
            <a:avLst/>
          </a:prstGeom>
          <a:solidFill>
            <a:srgbClr val="0A2540"/>
          </a:solidFill>
          <a:ln/>
        </p:spPr>
        <p:txBody>
          <a:bodyPr/>
          <a:lstStyle/>
          <a:p>
            <a:endParaRPr lang="en-US"/>
          </a:p>
        </p:txBody>
      </p:sp>
      <p:sp>
        <p:nvSpPr>
          <p:cNvPr id="33" name="Shape 31"/>
          <p:cNvSpPr/>
          <p:nvPr/>
        </p:nvSpPr>
        <p:spPr>
          <a:xfrm>
            <a:off x="457200" y="3355848"/>
            <a:ext cx="54864" cy="338328"/>
          </a:xfrm>
          <a:prstGeom prst="rect">
            <a:avLst/>
          </a:prstGeom>
          <a:solidFill>
            <a:srgbClr val="028090"/>
          </a:solidFill>
          <a:ln/>
        </p:spPr>
        <p:txBody>
          <a:bodyPr/>
          <a:lstStyle/>
          <a:p>
            <a:endParaRPr lang="en-US"/>
          </a:p>
        </p:txBody>
      </p:sp>
      <p:sp>
        <p:nvSpPr>
          <p:cNvPr id="34" name="Text 32"/>
          <p:cNvSpPr/>
          <p:nvPr/>
        </p:nvSpPr>
        <p:spPr>
          <a:xfrm>
            <a:off x="594360" y="3355848"/>
            <a:ext cx="1691640" cy="33832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dosageMg</a:t>
            </a:r>
            <a:endParaRPr lang="en-US" sz="1000" dirty="0"/>
          </a:p>
        </p:txBody>
      </p:sp>
      <p:sp>
        <p:nvSpPr>
          <p:cNvPr id="35" name="Text 33"/>
          <p:cNvSpPr/>
          <p:nvPr/>
        </p:nvSpPr>
        <p:spPr>
          <a:xfrm>
            <a:off x="2286000" y="3355848"/>
            <a:ext cx="68580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double</a:t>
            </a:r>
            <a:endParaRPr lang="en-US" sz="900" dirty="0"/>
          </a:p>
        </p:txBody>
      </p:sp>
      <p:sp>
        <p:nvSpPr>
          <p:cNvPr id="36" name="Text 34"/>
          <p:cNvSpPr/>
          <p:nvPr/>
        </p:nvSpPr>
        <p:spPr>
          <a:xfrm>
            <a:off x="2999232" y="3355848"/>
            <a:ext cx="260604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Range: 10 – 500 mg</a:t>
            </a:r>
            <a:endParaRPr lang="en-US" sz="900" dirty="0"/>
          </a:p>
        </p:txBody>
      </p:sp>
      <p:sp>
        <p:nvSpPr>
          <p:cNvPr id="37" name="Shape 35"/>
          <p:cNvSpPr/>
          <p:nvPr/>
        </p:nvSpPr>
        <p:spPr>
          <a:xfrm>
            <a:off x="457200" y="3730752"/>
            <a:ext cx="5212080" cy="338328"/>
          </a:xfrm>
          <a:prstGeom prst="rect">
            <a:avLst/>
          </a:prstGeom>
          <a:solidFill>
            <a:srgbClr val="0A2540"/>
          </a:solidFill>
          <a:ln/>
        </p:spPr>
        <p:txBody>
          <a:bodyPr/>
          <a:lstStyle/>
          <a:p>
            <a:endParaRPr lang="en-US"/>
          </a:p>
        </p:txBody>
      </p:sp>
      <p:sp>
        <p:nvSpPr>
          <p:cNvPr id="38" name="Shape 36"/>
          <p:cNvSpPr/>
          <p:nvPr/>
        </p:nvSpPr>
        <p:spPr>
          <a:xfrm>
            <a:off x="457200" y="3730752"/>
            <a:ext cx="54864" cy="338328"/>
          </a:xfrm>
          <a:prstGeom prst="rect">
            <a:avLst/>
          </a:prstGeom>
          <a:solidFill>
            <a:srgbClr val="028090"/>
          </a:solidFill>
          <a:ln/>
        </p:spPr>
        <p:txBody>
          <a:bodyPr/>
          <a:lstStyle/>
          <a:p>
            <a:endParaRPr lang="en-US"/>
          </a:p>
        </p:txBody>
      </p:sp>
      <p:sp>
        <p:nvSpPr>
          <p:cNvPr id="39" name="Text 37"/>
          <p:cNvSpPr/>
          <p:nvPr/>
        </p:nvSpPr>
        <p:spPr>
          <a:xfrm>
            <a:off x="594360" y="3730752"/>
            <a:ext cx="1691640" cy="33832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refillsRemaining</a:t>
            </a:r>
            <a:endParaRPr lang="en-US" sz="1000" dirty="0"/>
          </a:p>
        </p:txBody>
      </p:sp>
      <p:sp>
        <p:nvSpPr>
          <p:cNvPr id="40" name="Text 38"/>
          <p:cNvSpPr/>
          <p:nvPr/>
        </p:nvSpPr>
        <p:spPr>
          <a:xfrm>
            <a:off x="2286000" y="3730752"/>
            <a:ext cx="68580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int</a:t>
            </a:r>
            <a:endParaRPr lang="en-US" sz="900" dirty="0"/>
          </a:p>
        </p:txBody>
      </p:sp>
      <p:sp>
        <p:nvSpPr>
          <p:cNvPr id="41" name="Text 39"/>
          <p:cNvSpPr/>
          <p:nvPr/>
        </p:nvSpPr>
        <p:spPr>
          <a:xfrm>
            <a:off x="2999232" y="3730752"/>
            <a:ext cx="260604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Range: 0 – 12</a:t>
            </a:r>
            <a:endParaRPr lang="en-US" sz="900" dirty="0"/>
          </a:p>
        </p:txBody>
      </p:sp>
      <p:sp>
        <p:nvSpPr>
          <p:cNvPr id="42" name="Shape 40"/>
          <p:cNvSpPr/>
          <p:nvPr/>
        </p:nvSpPr>
        <p:spPr>
          <a:xfrm>
            <a:off x="457200" y="4105656"/>
            <a:ext cx="5212080" cy="338328"/>
          </a:xfrm>
          <a:prstGeom prst="rect">
            <a:avLst/>
          </a:prstGeom>
          <a:solidFill>
            <a:srgbClr val="0A2540"/>
          </a:solidFill>
          <a:ln/>
        </p:spPr>
        <p:txBody>
          <a:bodyPr/>
          <a:lstStyle/>
          <a:p>
            <a:endParaRPr lang="en-US"/>
          </a:p>
        </p:txBody>
      </p:sp>
      <p:sp>
        <p:nvSpPr>
          <p:cNvPr id="43" name="Shape 41"/>
          <p:cNvSpPr/>
          <p:nvPr/>
        </p:nvSpPr>
        <p:spPr>
          <a:xfrm>
            <a:off x="457200" y="4105656"/>
            <a:ext cx="54864" cy="338328"/>
          </a:xfrm>
          <a:prstGeom prst="rect">
            <a:avLst/>
          </a:prstGeom>
          <a:solidFill>
            <a:srgbClr val="028090"/>
          </a:solidFill>
          <a:ln/>
        </p:spPr>
        <p:txBody>
          <a:bodyPr/>
          <a:lstStyle/>
          <a:p>
            <a:endParaRPr lang="en-US"/>
          </a:p>
        </p:txBody>
      </p:sp>
      <p:sp>
        <p:nvSpPr>
          <p:cNvPr id="44" name="Text 42"/>
          <p:cNvSpPr/>
          <p:nvPr/>
        </p:nvSpPr>
        <p:spPr>
          <a:xfrm>
            <a:off x="594360" y="4105656"/>
            <a:ext cx="1691640" cy="33832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paid</a:t>
            </a:r>
            <a:endParaRPr lang="en-US" sz="1000" dirty="0"/>
          </a:p>
        </p:txBody>
      </p:sp>
      <p:sp>
        <p:nvSpPr>
          <p:cNvPr id="45" name="Text 43"/>
          <p:cNvSpPr/>
          <p:nvPr/>
        </p:nvSpPr>
        <p:spPr>
          <a:xfrm>
            <a:off x="2286000" y="4105656"/>
            <a:ext cx="68580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boolean</a:t>
            </a:r>
            <a:endParaRPr lang="en-US" sz="900" dirty="0"/>
          </a:p>
        </p:txBody>
      </p:sp>
      <p:sp>
        <p:nvSpPr>
          <p:cNvPr id="46" name="Text 44"/>
          <p:cNvSpPr/>
          <p:nvPr/>
        </p:nvSpPr>
        <p:spPr>
          <a:xfrm>
            <a:off x="2999232" y="4105656"/>
            <a:ext cx="2606040" cy="33832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Default: false</a:t>
            </a:r>
            <a:endParaRPr lang="en-US" sz="900" dirty="0"/>
          </a:p>
        </p:txBody>
      </p:sp>
      <p:sp>
        <p:nvSpPr>
          <p:cNvPr id="47" name="Shape 45"/>
          <p:cNvSpPr/>
          <p:nvPr/>
        </p:nvSpPr>
        <p:spPr>
          <a:xfrm>
            <a:off x="5897880" y="1051560"/>
            <a:ext cx="2788920" cy="1554480"/>
          </a:xfrm>
          <a:prstGeom prst="rect">
            <a:avLst/>
          </a:prstGeom>
          <a:solidFill>
            <a:srgbClr val="0D2137"/>
          </a:solidFill>
          <a:ln/>
        </p:spPr>
        <p:txBody>
          <a:bodyPr/>
          <a:lstStyle/>
          <a:p>
            <a:endParaRPr lang="en-US"/>
          </a:p>
        </p:txBody>
      </p:sp>
      <p:sp>
        <p:nvSpPr>
          <p:cNvPr id="48" name="Text 46"/>
          <p:cNvSpPr/>
          <p:nvPr/>
        </p:nvSpPr>
        <p:spPr>
          <a:xfrm>
            <a:off x="6035040" y="1115568"/>
            <a:ext cx="2560320" cy="201168"/>
          </a:xfrm>
          <a:prstGeom prst="rect">
            <a:avLst/>
          </a:prstGeom>
          <a:noFill/>
          <a:ln/>
        </p:spPr>
        <p:txBody>
          <a:bodyPr wrap="square" rtlCol="0" anchor="ctr"/>
          <a:lstStyle/>
          <a:p>
            <a:pPr marL="0" indent="0">
              <a:buNone/>
            </a:pPr>
            <a:r>
              <a:rPr lang="en-US" sz="800" b="1" kern="0" spc="300" dirty="0">
                <a:solidFill>
                  <a:srgbClr val="02C39A"/>
                </a:solidFill>
                <a:latin typeface="Calibri" pitchFamily="34" charset="0"/>
                <a:ea typeface="Calibri" pitchFamily="34" charset="-122"/>
                <a:cs typeface="Calibri" pitchFamily="34" charset="-120"/>
              </a:rPr>
              <a:t>STORAGE</a:t>
            </a:r>
            <a:endParaRPr lang="en-US" sz="800" dirty="0"/>
          </a:p>
        </p:txBody>
      </p:sp>
      <p:sp>
        <p:nvSpPr>
          <p:cNvPr id="49" name="Text 47"/>
          <p:cNvSpPr/>
          <p:nvPr/>
        </p:nvSpPr>
        <p:spPr>
          <a:xfrm>
            <a:off x="6035040" y="1353312"/>
            <a:ext cx="256032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HashMap&lt;String, Prescription&gt;</a:t>
            </a:r>
            <a:endParaRPr lang="en-US" sz="1100" dirty="0"/>
          </a:p>
        </p:txBody>
      </p:sp>
      <p:sp>
        <p:nvSpPr>
          <p:cNvPr id="50" name="Text 48"/>
          <p:cNvSpPr/>
          <p:nvPr/>
        </p:nvSpPr>
        <p:spPr>
          <a:xfrm>
            <a:off x="6035040" y="1664208"/>
            <a:ext cx="2560320" cy="384048"/>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Key   → prescriptionId</a:t>
            </a:r>
            <a:endParaRPr lang="en-US" sz="1000" dirty="0"/>
          </a:p>
          <a:p>
            <a:pPr marL="0" indent="0">
              <a:buNone/>
            </a:pPr>
            <a:r>
              <a:rPr lang="en-US" sz="1000" dirty="0">
                <a:solidFill>
                  <a:srgbClr val="CBD5E1"/>
                </a:solidFill>
                <a:latin typeface="Calibri" pitchFamily="34" charset="0"/>
                <a:ea typeface="Calibri" pitchFamily="34" charset="-122"/>
                <a:cs typeface="Calibri" pitchFamily="34" charset="-120"/>
              </a:rPr>
              <a:t>Value → Prescription object</a:t>
            </a:r>
            <a:endParaRPr lang="en-US" sz="1000" dirty="0"/>
          </a:p>
        </p:txBody>
      </p:sp>
      <p:sp>
        <p:nvSpPr>
          <p:cNvPr id="51" name="Shape 49"/>
          <p:cNvSpPr/>
          <p:nvPr/>
        </p:nvSpPr>
        <p:spPr>
          <a:xfrm>
            <a:off x="5897880" y="2743200"/>
            <a:ext cx="2788920" cy="1965960"/>
          </a:xfrm>
          <a:prstGeom prst="rect">
            <a:avLst/>
          </a:prstGeom>
          <a:solidFill>
            <a:srgbClr val="0D2137"/>
          </a:solidFill>
          <a:ln/>
        </p:spPr>
        <p:txBody>
          <a:bodyPr/>
          <a:lstStyle/>
          <a:p>
            <a:endParaRPr lang="en-US" dirty="0"/>
          </a:p>
        </p:txBody>
      </p:sp>
      <p:sp>
        <p:nvSpPr>
          <p:cNvPr id="52" name="Text 50"/>
          <p:cNvSpPr/>
          <p:nvPr/>
        </p:nvSpPr>
        <p:spPr>
          <a:xfrm>
            <a:off x="6035040" y="2807208"/>
            <a:ext cx="2560320" cy="201168"/>
          </a:xfrm>
          <a:prstGeom prst="rect">
            <a:avLst/>
          </a:prstGeom>
          <a:noFill/>
          <a:ln/>
        </p:spPr>
        <p:txBody>
          <a:bodyPr wrap="square" rtlCol="0" anchor="ctr"/>
          <a:lstStyle/>
          <a:p>
            <a:pPr marL="0" indent="0">
              <a:buNone/>
            </a:pPr>
            <a:r>
              <a:rPr lang="en-US" sz="800" b="1" kern="0" spc="300" dirty="0">
                <a:solidFill>
                  <a:srgbClr val="02C39A"/>
                </a:solidFill>
                <a:latin typeface="Calibri" pitchFamily="34" charset="0"/>
                <a:ea typeface="Calibri" pitchFamily="34" charset="-122"/>
                <a:cs typeface="Calibri" pitchFamily="34" charset="-120"/>
              </a:rPr>
              <a:t>RELATIONSHIP</a:t>
            </a:r>
            <a:endParaRPr lang="en-US" sz="800" dirty="0"/>
          </a:p>
        </p:txBody>
      </p:sp>
      <p:sp>
        <p:nvSpPr>
          <p:cNvPr id="53" name="Text 51"/>
          <p:cNvSpPr/>
          <p:nvPr/>
        </p:nvSpPr>
        <p:spPr>
          <a:xfrm>
            <a:off x="6035040" y="3054096"/>
            <a:ext cx="256032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Patient  (1) → (Many)  Prescriptions</a:t>
            </a:r>
            <a:endParaRPr lang="en-US" sz="1000" dirty="0"/>
          </a:p>
        </p:txBody>
      </p:sp>
      <p:sp>
        <p:nvSpPr>
          <p:cNvPr id="54" name="Text 52"/>
          <p:cNvSpPr/>
          <p:nvPr/>
        </p:nvSpPr>
        <p:spPr>
          <a:xfrm>
            <a:off x="6035040" y="3364992"/>
            <a:ext cx="2560320" cy="64008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Each prescription belongs to one patient. One patient can have multiple prescriptions, each with a unique ID.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chemeClr val="tx1"/>
          </a:solidFill>
          <a:ln/>
        </p:spPr>
        <p:txBody>
          <a:bodyPr/>
          <a:lstStyle/>
          <a:p>
            <a:endParaRPr lang="en-US"/>
          </a:p>
        </p:txBody>
      </p:sp>
      <p:sp>
        <p:nvSpPr>
          <p:cNvPr id="3" name="Text 1"/>
          <p:cNvSpPr/>
          <p:nvPr/>
        </p:nvSpPr>
        <p:spPr>
          <a:xfrm>
            <a:off x="502920" y="0"/>
            <a:ext cx="8412480" cy="640080"/>
          </a:xfrm>
          <a:prstGeom prst="rect">
            <a:avLst/>
          </a:prstGeom>
          <a:noFill/>
          <a:ln/>
        </p:spPr>
        <p:txBody>
          <a:bodyPr wrap="square" rtlCol="0" anchor="b"/>
          <a:lstStyle/>
          <a:p>
            <a:pPr marL="0" indent="0">
              <a:buNone/>
            </a:pPr>
            <a:r>
              <a:rPr lang="en-US" sz="2800" b="1" dirty="0">
                <a:solidFill>
                  <a:srgbClr val="FFFFFF"/>
                </a:solidFill>
                <a:latin typeface="Georgia" pitchFamily="34" charset="0"/>
                <a:ea typeface="Georgia" pitchFamily="34" charset="-122"/>
                <a:cs typeface="Georgia" pitchFamily="34" charset="-120"/>
              </a:rPr>
              <a:t>Version Control &amp; Changes</a:t>
            </a:r>
            <a:endParaRPr lang="en-US" sz="2800" dirty="0"/>
          </a:p>
        </p:txBody>
      </p:sp>
      <p:sp>
        <p:nvSpPr>
          <p:cNvPr id="4" name="Text 2"/>
          <p:cNvSpPr/>
          <p:nvPr/>
        </p:nvSpPr>
        <p:spPr>
          <a:xfrm>
            <a:off x="502920" y="658368"/>
            <a:ext cx="8412480" cy="347472"/>
          </a:xfrm>
          <a:prstGeom prst="rect">
            <a:avLst/>
          </a:prstGeom>
          <a:noFill/>
          <a:ln/>
        </p:spPr>
        <p:txBody>
          <a:bodyPr wrap="square" rtlCol="0" anchor="t"/>
          <a:lstStyle/>
          <a:p>
            <a:pPr marL="0" indent="0">
              <a:buNone/>
            </a:pPr>
            <a:r>
              <a:rPr lang="en-US" sz="1200" dirty="0">
                <a:solidFill>
                  <a:srgbClr val="CBD5E1"/>
                </a:solidFill>
                <a:latin typeface="Calibri" pitchFamily="34" charset="0"/>
                <a:ea typeface="Calibri" pitchFamily="34" charset="-122"/>
                <a:cs typeface="Calibri" pitchFamily="34" charset="-120"/>
              </a:rPr>
              <a:t>github.com/ashastri7/Pharmacy_Prescription_Manager — full commit history tracking every change</a:t>
            </a:r>
            <a:endParaRPr lang="en-US" sz="1200" dirty="0"/>
          </a:p>
        </p:txBody>
      </p:sp>
      <p:sp>
        <p:nvSpPr>
          <p:cNvPr id="5" name="Shape 3"/>
          <p:cNvSpPr/>
          <p:nvPr/>
        </p:nvSpPr>
        <p:spPr>
          <a:xfrm>
            <a:off x="1170432" y="1234440"/>
            <a:ext cx="0" cy="3611880"/>
          </a:xfrm>
          <a:prstGeom prst="line">
            <a:avLst/>
          </a:prstGeom>
          <a:noFill/>
          <a:ln w="19050">
            <a:solidFill>
              <a:srgbClr val="CBD5E1"/>
            </a:solidFill>
            <a:prstDash val="dash"/>
          </a:ln>
        </p:spPr>
        <p:txBody>
          <a:bodyPr/>
          <a:lstStyle/>
          <a:p>
            <a:endParaRPr lang="en-US"/>
          </a:p>
        </p:txBody>
      </p:sp>
      <p:sp>
        <p:nvSpPr>
          <p:cNvPr id="6" name="Shape 4"/>
          <p:cNvSpPr/>
          <p:nvPr/>
        </p:nvSpPr>
        <p:spPr>
          <a:xfrm>
            <a:off x="1078992" y="1188720"/>
            <a:ext cx="182880" cy="182880"/>
          </a:xfrm>
          <a:prstGeom prst="ellipse">
            <a:avLst/>
          </a:prstGeom>
          <a:solidFill>
            <a:srgbClr val="028090"/>
          </a:solidFill>
          <a:ln/>
        </p:spPr>
        <p:txBody>
          <a:bodyPr/>
          <a:lstStyle/>
          <a:p>
            <a:endParaRPr lang="en-US"/>
          </a:p>
        </p:txBody>
      </p:sp>
      <p:sp>
        <p:nvSpPr>
          <p:cNvPr id="7" name="Shape 5"/>
          <p:cNvSpPr/>
          <p:nvPr/>
        </p:nvSpPr>
        <p:spPr>
          <a:xfrm>
            <a:off x="384048" y="1188720"/>
            <a:ext cx="621792" cy="182880"/>
          </a:xfrm>
          <a:prstGeom prst="rect">
            <a:avLst/>
          </a:prstGeom>
          <a:solidFill>
            <a:srgbClr val="028090"/>
          </a:solidFill>
          <a:ln/>
        </p:spPr>
        <p:txBody>
          <a:bodyPr/>
          <a:lstStyle/>
          <a:p>
            <a:endParaRPr lang="en-US"/>
          </a:p>
        </p:txBody>
      </p:sp>
      <p:sp>
        <p:nvSpPr>
          <p:cNvPr id="8" name="Text 6"/>
          <p:cNvSpPr/>
          <p:nvPr/>
        </p:nvSpPr>
        <p:spPr>
          <a:xfrm>
            <a:off x="384048" y="1188720"/>
            <a:ext cx="621792"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Week 1</a:t>
            </a:r>
            <a:endParaRPr lang="en-US" sz="800" dirty="0"/>
          </a:p>
        </p:txBody>
      </p:sp>
      <p:sp>
        <p:nvSpPr>
          <p:cNvPr id="9" name="Text 7"/>
          <p:cNvSpPr/>
          <p:nvPr/>
        </p:nvSpPr>
        <p:spPr>
          <a:xfrm>
            <a:off x="1353312" y="1152144"/>
            <a:ext cx="3840480" cy="237744"/>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Initial setup</a:t>
            </a:r>
            <a:endParaRPr lang="en-US" sz="1100" dirty="0"/>
          </a:p>
        </p:txBody>
      </p:sp>
      <p:sp>
        <p:nvSpPr>
          <p:cNvPr id="10" name="Text 8"/>
          <p:cNvSpPr/>
          <p:nvPr/>
        </p:nvSpPr>
        <p:spPr>
          <a:xfrm>
            <a:off x="1353312" y="1371600"/>
            <a:ext cx="5029200" cy="1828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Maven project structure, pom.xml, folder hierarchy created</a:t>
            </a:r>
            <a:endParaRPr lang="en-US" sz="900" dirty="0"/>
          </a:p>
        </p:txBody>
      </p:sp>
      <p:sp>
        <p:nvSpPr>
          <p:cNvPr id="11" name="Shape 9"/>
          <p:cNvSpPr/>
          <p:nvPr/>
        </p:nvSpPr>
        <p:spPr>
          <a:xfrm>
            <a:off x="1078992" y="1609344"/>
            <a:ext cx="182880" cy="182880"/>
          </a:xfrm>
          <a:prstGeom prst="ellipse">
            <a:avLst/>
          </a:prstGeom>
          <a:solidFill>
            <a:srgbClr val="028090"/>
          </a:solidFill>
          <a:ln/>
        </p:spPr>
        <p:txBody>
          <a:bodyPr/>
          <a:lstStyle/>
          <a:p>
            <a:endParaRPr lang="en-US"/>
          </a:p>
        </p:txBody>
      </p:sp>
      <p:sp>
        <p:nvSpPr>
          <p:cNvPr id="12" name="Shape 10"/>
          <p:cNvSpPr/>
          <p:nvPr/>
        </p:nvSpPr>
        <p:spPr>
          <a:xfrm>
            <a:off x="384048" y="1609344"/>
            <a:ext cx="621792" cy="182880"/>
          </a:xfrm>
          <a:prstGeom prst="rect">
            <a:avLst/>
          </a:prstGeom>
          <a:solidFill>
            <a:srgbClr val="028090"/>
          </a:solidFill>
          <a:ln/>
        </p:spPr>
        <p:txBody>
          <a:bodyPr/>
          <a:lstStyle/>
          <a:p>
            <a:endParaRPr lang="en-US"/>
          </a:p>
        </p:txBody>
      </p:sp>
      <p:sp>
        <p:nvSpPr>
          <p:cNvPr id="13" name="Text 11"/>
          <p:cNvSpPr/>
          <p:nvPr/>
        </p:nvSpPr>
        <p:spPr>
          <a:xfrm>
            <a:off x="384048" y="1609344"/>
            <a:ext cx="621792"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Week 2</a:t>
            </a:r>
            <a:endParaRPr lang="en-US" sz="800" dirty="0"/>
          </a:p>
        </p:txBody>
      </p:sp>
      <p:sp>
        <p:nvSpPr>
          <p:cNvPr id="14" name="Text 12"/>
          <p:cNvSpPr/>
          <p:nvPr/>
        </p:nvSpPr>
        <p:spPr>
          <a:xfrm>
            <a:off x="1353312" y="1572768"/>
            <a:ext cx="3840480" cy="237744"/>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Core Java functions</a:t>
            </a:r>
            <a:endParaRPr lang="en-US" sz="1100" dirty="0"/>
          </a:p>
        </p:txBody>
      </p:sp>
      <p:sp>
        <p:nvSpPr>
          <p:cNvPr id="15" name="Text 13"/>
          <p:cNvSpPr/>
          <p:nvPr/>
        </p:nvSpPr>
        <p:spPr>
          <a:xfrm>
            <a:off x="1353312" y="1792224"/>
            <a:ext cx="5029200" cy="1828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PharmacySystem.java — all 5 business logic functions written</a:t>
            </a:r>
            <a:endParaRPr lang="en-US" sz="900" dirty="0"/>
          </a:p>
        </p:txBody>
      </p:sp>
      <p:sp>
        <p:nvSpPr>
          <p:cNvPr id="16" name="Shape 14"/>
          <p:cNvSpPr/>
          <p:nvPr/>
        </p:nvSpPr>
        <p:spPr>
          <a:xfrm>
            <a:off x="1078992" y="2029968"/>
            <a:ext cx="182880" cy="182880"/>
          </a:xfrm>
          <a:prstGeom prst="ellipse">
            <a:avLst/>
          </a:prstGeom>
          <a:solidFill>
            <a:srgbClr val="27AE60"/>
          </a:solidFill>
          <a:ln/>
        </p:spPr>
        <p:txBody>
          <a:bodyPr/>
          <a:lstStyle/>
          <a:p>
            <a:endParaRPr lang="en-US"/>
          </a:p>
        </p:txBody>
      </p:sp>
      <p:sp>
        <p:nvSpPr>
          <p:cNvPr id="17" name="Shape 15"/>
          <p:cNvSpPr/>
          <p:nvPr/>
        </p:nvSpPr>
        <p:spPr>
          <a:xfrm>
            <a:off x="384048" y="2029968"/>
            <a:ext cx="621792" cy="182880"/>
          </a:xfrm>
          <a:prstGeom prst="rect">
            <a:avLst/>
          </a:prstGeom>
          <a:solidFill>
            <a:srgbClr val="27AE60"/>
          </a:solidFill>
          <a:ln/>
        </p:spPr>
        <p:txBody>
          <a:bodyPr/>
          <a:lstStyle/>
          <a:p>
            <a:endParaRPr lang="en-US"/>
          </a:p>
        </p:txBody>
      </p:sp>
      <p:sp>
        <p:nvSpPr>
          <p:cNvPr id="18" name="Text 16"/>
          <p:cNvSpPr/>
          <p:nvPr/>
        </p:nvSpPr>
        <p:spPr>
          <a:xfrm>
            <a:off x="384048" y="2029968"/>
            <a:ext cx="621792"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Week 2</a:t>
            </a:r>
            <a:endParaRPr lang="en-US" sz="800" dirty="0"/>
          </a:p>
        </p:txBody>
      </p:sp>
      <p:sp>
        <p:nvSpPr>
          <p:cNvPr id="19" name="Text 17"/>
          <p:cNvSpPr/>
          <p:nvPr/>
        </p:nvSpPr>
        <p:spPr>
          <a:xfrm>
            <a:off x="1353312" y="1993392"/>
            <a:ext cx="3840480" cy="237744"/>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Unit tests — BVA &amp; EPC</a:t>
            </a:r>
            <a:endParaRPr lang="en-US" sz="1100" dirty="0"/>
          </a:p>
        </p:txBody>
      </p:sp>
      <p:sp>
        <p:nvSpPr>
          <p:cNvPr id="20" name="Text 18"/>
          <p:cNvSpPr/>
          <p:nvPr/>
        </p:nvSpPr>
        <p:spPr>
          <a:xfrm>
            <a:off x="1353312" y="2212848"/>
            <a:ext cx="5029200" cy="1828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PharmacySystemTest.java — 82 unit tests covering all functions</a:t>
            </a:r>
            <a:endParaRPr lang="en-US" sz="900" dirty="0"/>
          </a:p>
        </p:txBody>
      </p:sp>
      <p:sp>
        <p:nvSpPr>
          <p:cNvPr id="21" name="Shape 19"/>
          <p:cNvSpPr/>
          <p:nvPr/>
        </p:nvSpPr>
        <p:spPr>
          <a:xfrm>
            <a:off x="1078992" y="2450592"/>
            <a:ext cx="182880" cy="182880"/>
          </a:xfrm>
          <a:prstGeom prst="ellipse">
            <a:avLst/>
          </a:prstGeom>
          <a:solidFill>
            <a:srgbClr val="1565C0"/>
          </a:solidFill>
          <a:ln/>
        </p:spPr>
        <p:txBody>
          <a:bodyPr/>
          <a:lstStyle/>
          <a:p>
            <a:endParaRPr lang="en-US"/>
          </a:p>
        </p:txBody>
      </p:sp>
      <p:sp>
        <p:nvSpPr>
          <p:cNvPr id="22" name="Shape 20"/>
          <p:cNvSpPr/>
          <p:nvPr/>
        </p:nvSpPr>
        <p:spPr>
          <a:xfrm>
            <a:off x="384048" y="2450592"/>
            <a:ext cx="621792" cy="182880"/>
          </a:xfrm>
          <a:prstGeom prst="rect">
            <a:avLst/>
          </a:prstGeom>
          <a:solidFill>
            <a:srgbClr val="1565C0"/>
          </a:solidFill>
          <a:ln/>
        </p:spPr>
        <p:txBody>
          <a:bodyPr/>
          <a:lstStyle/>
          <a:p>
            <a:endParaRPr lang="en-US"/>
          </a:p>
        </p:txBody>
      </p:sp>
      <p:sp>
        <p:nvSpPr>
          <p:cNvPr id="23" name="Text 21"/>
          <p:cNvSpPr/>
          <p:nvPr/>
        </p:nvSpPr>
        <p:spPr>
          <a:xfrm>
            <a:off x="384048" y="2450592"/>
            <a:ext cx="621792"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Week 3</a:t>
            </a:r>
            <a:endParaRPr lang="en-US" sz="800" dirty="0"/>
          </a:p>
        </p:txBody>
      </p:sp>
      <p:sp>
        <p:nvSpPr>
          <p:cNvPr id="24" name="Text 22"/>
          <p:cNvSpPr/>
          <p:nvPr/>
        </p:nvSpPr>
        <p:spPr>
          <a:xfrm>
            <a:off x="1353312" y="2414016"/>
            <a:ext cx="3840480" cy="237744"/>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Spring Boot web app</a:t>
            </a:r>
            <a:endParaRPr lang="en-US" sz="1100" dirty="0"/>
          </a:p>
        </p:txBody>
      </p:sp>
      <p:sp>
        <p:nvSpPr>
          <p:cNvPr id="25" name="Text 23"/>
          <p:cNvSpPr/>
          <p:nvPr/>
        </p:nvSpPr>
        <p:spPr>
          <a:xfrm>
            <a:off x="1353312" y="2633472"/>
            <a:ext cx="5029200" cy="1828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Controller, index.html, result.html, application.properties</a:t>
            </a:r>
            <a:endParaRPr lang="en-US" sz="900" dirty="0"/>
          </a:p>
        </p:txBody>
      </p:sp>
      <p:sp>
        <p:nvSpPr>
          <p:cNvPr id="26" name="Shape 24"/>
          <p:cNvSpPr/>
          <p:nvPr/>
        </p:nvSpPr>
        <p:spPr>
          <a:xfrm>
            <a:off x="1078992" y="2871216"/>
            <a:ext cx="182880" cy="182880"/>
          </a:xfrm>
          <a:prstGeom prst="ellipse">
            <a:avLst/>
          </a:prstGeom>
          <a:solidFill>
            <a:srgbClr val="0A2540"/>
          </a:solidFill>
          <a:ln/>
        </p:spPr>
        <p:txBody>
          <a:bodyPr/>
          <a:lstStyle/>
          <a:p>
            <a:endParaRPr lang="en-US"/>
          </a:p>
        </p:txBody>
      </p:sp>
      <p:sp>
        <p:nvSpPr>
          <p:cNvPr id="27" name="Shape 25"/>
          <p:cNvSpPr/>
          <p:nvPr/>
        </p:nvSpPr>
        <p:spPr>
          <a:xfrm>
            <a:off x="384048" y="2871216"/>
            <a:ext cx="621792" cy="182880"/>
          </a:xfrm>
          <a:prstGeom prst="rect">
            <a:avLst/>
          </a:prstGeom>
          <a:solidFill>
            <a:srgbClr val="0A2540"/>
          </a:solidFill>
          <a:ln/>
        </p:spPr>
        <p:txBody>
          <a:bodyPr/>
          <a:lstStyle/>
          <a:p>
            <a:endParaRPr lang="en-US"/>
          </a:p>
        </p:txBody>
      </p:sp>
      <p:sp>
        <p:nvSpPr>
          <p:cNvPr id="28" name="Text 26"/>
          <p:cNvSpPr/>
          <p:nvPr/>
        </p:nvSpPr>
        <p:spPr>
          <a:xfrm>
            <a:off x="384048" y="2871216"/>
            <a:ext cx="621792"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Week 3</a:t>
            </a:r>
            <a:endParaRPr lang="en-US" sz="800" dirty="0"/>
          </a:p>
        </p:txBody>
      </p:sp>
      <p:sp>
        <p:nvSpPr>
          <p:cNvPr id="29" name="Text 27"/>
          <p:cNvSpPr/>
          <p:nvPr/>
        </p:nvSpPr>
        <p:spPr>
          <a:xfrm>
            <a:off x="1353312" y="2834640"/>
            <a:ext cx="3840480" cy="237744"/>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CI/CD pipeline</a:t>
            </a:r>
            <a:endParaRPr lang="en-US" sz="1100" dirty="0"/>
          </a:p>
        </p:txBody>
      </p:sp>
      <p:sp>
        <p:nvSpPr>
          <p:cNvPr id="30" name="Text 28"/>
          <p:cNvSpPr/>
          <p:nvPr/>
        </p:nvSpPr>
        <p:spPr>
          <a:xfrm>
            <a:off x="1353312" y="3054096"/>
            <a:ext cx="5029200" cy="1828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GitHub Actions ci.yml — auto-runs tests on every git push</a:t>
            </a:r>
            <a:endParaRPr lang="en-US" sz="900" dirty="0"/>
          </a:p>
        </p:txBody>
      </p:sp>
      <p:sp>
        <p:nvSpPr>
          <p:cNvPr id="31" name="Shape 29"/>
          <p:cNvSpPr/>
          <p:nvPr/>
        </p:nvSpPr>
        <p:spPr>
          <a:xfrm>
            <a:off x="1078992" y="3291840"/>
            <a:ext cx="182880" cy="182880"/>
          </a:xfrm>
          <a:prstGeom prst="ellipse">
            <a:avLst/>
          </a:prstGeom>
          <a:solidFill>
            <a:srgbClr val="27AE60"/>
          </a:solidFill>
          <a:ln/>
        </p:spPr>
        <p:txBody>
          <a:bodyPr/>
          <a:lstStyle/>
          <a:p>
            <a:endParaRPr lang="en-US"/>
          </a:p>
        </p:txBody>
      </p:sp>
      <p:sp>
        <p:nvSpPr>
          <p:cNvPr id="32" name="Shape 30"/>
          <p:cNvSpPr/>
          <p:nvPr/>
        </p:nvSpPr>
        <p:spPr>
          <a:xfrm>
            <a:off x="384048" y="3291840"/>
            <a:ext cx="621792" cy="182880"/>
          </a:xfrm>
          <a:prstGeom prst="rect">
            <a:avLst/>
          </a:prstGeom>
          <a:solidFill>
            <a:srgbClr val="27AE60"/>
          </a:solidFill>
          <a:ln/>
        </p:spPr>
        <p:txBody>
          <a:bodyPr/>
          <a:lstStyle/>
          <a:p>
            <a:endParaRPr lang="en-US"/>
          </a:p>
        </p:txBody>
      </p:sp>
      <p:sp>
        <p:nvSpPr>
          <p:cNvPr id="33" name="Text 31"/>
          <p:cNvSpPr/>
          <p:nvPr/>
        </p:nvSpPr>
        <p:spPr>
          <a:xfrm>
            <a:off x="384048" y="3291840"/>
            <a:ext cx="621792"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Week 4</a:t>
            </a:r>
            <a:endParaRPr lang="en-US" sz="800" dirty="0"/>
          </a:p>
        </p:txBody>
      </p:sp>
      <p:sp>
        <p:nvSpPr>
          <p:cNvPr id="34" name="Text 32"/>
          <p:cNvSpPr/>
          <p:nvPr/>
        </p:nvSpPr>
        <p:spPr>
          <a:xfrm>
            <a:off x="1353312" y="3255264"/>
            <a:ext cx="3840480" cy="237744"/>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Cloud deployment</a:t>
            </a:r>
            <a:endParaRPr lang="en-US" sz="1100" dirty="0"/>
          </a:p>
        </p:txBody>
      </p:sp>
      <p:sp>
        <p:nvSpPr>
          <p:cNvPr id="35" name="Text 33"/>
          <p:cNvSpPr/>
          <p:nvPr/>
        </p:nvSpPr>
        <p:spPr>
          <a:xfrm>
            <a:off x="1353312" y="3474720"/>
            <a:ext cx="5029200" cy="1828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Railway config — Procfile, system.properties, live URL</a:t>
            </a:r>
            <a:endParaRPr lang="en-US" sz="900" dirty="0"/>
          </a:p>
        </p:txBody>
      </p:sp>
      <p:sp>
        <p:nvSpPr>
          <p:cNvPr id="36" name="Shape 34"/>
          <p:cNvSpPr/>
          <p:nvPr/>
        </p:nvSpPr>
        <p:spPr>
          <a:xfrm>
            <a:off x="1078992" y="3712464"/>
            <a:ext cx="182880" cy="182880"/>
          </a:xfrm>
          <a:prstGeom prst="ellipse">
            <a:avLst/>
          </a:prstGeom>
          <a:solidFill>
            <a:srgbClr val="1565C0"/>
          </a:solidFill>
          <a:ln/>
        </p:spPr>
        <p:txBody>
          <a:bodyPr/>
          <a:lstStyle/>
          <a:p>
            <a:endParaRPr lang="en-US"/>
          </a:p>
        </p:txBody>
      </p:sp>
      <p:sp>
        <p:nvSpPr>
          <p:cNvPr id="37" name="Shape 35"/>
          <p:cNvSpPr/>
          <p:nvPr/>
        </p:nvSpPr>
        <p:spPr>
          <a:xfrm>
            <a:off x="384048" y="3712464"/>
            <a:ext cx="621792" cy="182880"/>
          </a:xfrm>
          <a:prstGeom prst="rect">
            <a:avLst/>
          </a:prstGeom>
          <a:solidFill>
            <a:srgbClr val="1565C0"/>
          </a:solidFill>
          <a:ln/>
        </p:spPr>
        <p:txBody>
          <a:bodyPr/>
          <a:lstStyle/>
          <a:p>
            <a:endParaRPr lang="en-US"/>
          </a:p>
        </p:txBody>
      </p:sp>
      <p:sp>
        <p:nvSpPr>
          <p:cNvPr id="38" name="Text 36"/>
          <p:cNvSpPr/>
          <p:nvPr/>
        </p:nvSpPr>
        <p:spPr>
          <a:xfrm>
            <a:off x="384048" y="3712464"/>
            <a:ext cx="621792"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Week 4</a:t>
            </a:r>
            <a:endParaRPr lang="en-US" sz="800" dirty="0"/>
          </a:p>
        </p:txBody>
      </p:sp>
      <p:sp>
        <p:nvSpPr>
          <p:cNvPr id="39" name="Text 37"/>
          <p:cNvSpPr/>
          <p:nvPr/>
        </p:nvSpPr>
        <p:spPr>
          <a:xfrm>
            <a:off x="1353312" y="3675888"/>
            <a:ext cx="3840480" cy="237744"/>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Controller tests</a:t>
            </a:r>
            <a:endParaRPr lang="en-US" sz="1100" dirty="0"/>
          </a:p>
        </p:txBody>
      </p:sp>
      <p:sp>
        <p:nvSpPr>
          <p:cNvPr id="40" name="Text 38"/>
          <p:cNvSpPr/>
          <p:nvPr/>
        </p:nvSpPr>
        <p:spPr>
          <a:xfrm>
            <a:off x="1353312" y="3895344"/>
            <a:ext cx="5029200" cy="1828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MockMvc integration tests — 16 tests for all 5 endpoints</a:t>
            </a:r>
            <a:endParaRPr lang="en-US" sz="900" dirty="0"/>
          </a:p>
        </p:txBody>
      </p:sp>
      <p:sp>
        <p:nvSpPr>
          <p:cNvPr id="41" name="Shape 39"/>
          <p:cNvSpPr/>
          <p:nvPr/>
        </p:nvSpPr>
        <p:spPr>
          <a:xfrm>
            <a:off x="1078992" y="4133088"/>
            <a:ext cx="182880" cy="182880"/>
          </a:xfrm>
          <a:prstGeom prst="ellipse">
            <a:avLst/>
          </a:prstGeom>
          <a:solidFill>
            <a:srgbClr val="E67E22"/>
          </a:solidFill>
          <a:ln/>
        </p:spPr>
        <p:txBody>
          <a:bodyPr/>
          <a:lstStyle/>
          <a:p>
            <a:endParaRPr lang="en-US"/>
          </a:p>
        </p:txBody>
      </p:sp>
      <p:sp>
        <p:nvSpPr>
          <p:cNvPr id="42" name="Shape 40"/>
          <p:cNvSpPr/>
          <p:nvPr/>
        </p:nvSpPr>
        <p:spPr>
          <a:xfrm>
            <a:off x="384048" y="4133088"/>
            <a:ext cx="621792" cy="182880"/>
          </a:xfrm>
          <a:prstGeom prst="rect">
            <a:avLst/>
          </a:prstGeom>
          <a:solidFill>
            <a:srgbClr val="E67E22"/>
          </a:solidFill>
          <a:ln/>
        </p:spPr>
        <p:txBody>
          <a:bodyPr/>
          <a:lstStyle/>
          <a:p>
            <a:endParaRPr lang="en-US"/>
          </a:p>
        </p:txBody>
      </p:sp>
      <p:sp>
        <p:nvSpPr>
          <p:cNvPr id="43" name="Text 41"/>
          <p:cNvSpPr/>
          <p:nvPr/>
        </p:nvSpPr>
        <p:spPr>
          <a:xfrm>
            <a:off x="384048" y="4133088"/>
            <a:ext cx="621792"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Week 4</a:t>
            </a:r>
            <a:endParaRPr lang="en-US" sz="800" dirty="0"/>
          </a:p>
        </p:txBody>
      </p:sp>
      <p:sp>
        <p:nvSpPr>
          <p:cNvPr id="44" name="Text 42"/>
          <p:cNvSpPr/>
          <p:nvPr/>
        </p:nvSpPr>
        <p:spPr>
          <a:xfrm>
            <a:off x="1353312" y="4096512"/>
            <a:ext cx="3840480" cy="237744"/>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Mutation testing</a:t>
            </a:r>
            <a:endParaRPr lang="en-US" sz="1100" dirty="0"/>
          </a:p>
        </p:txBody>
      </p:sp>
      <p:sp>
        <p:nvSpPr>
          <p:cNvPr id="45" name="Text 43"/>
          <p:cNvSpPr/>
          <p:nvPr/>
        </p:nvSpPr>
        <p:spPr>
          <a:xfrm>
            <a:off x="1353312" y="4315968"/>
            <a:ext cx="5029200" cy="1828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PITest added to pom.xml — 95% score (77/81 mutations killed)</a:t>
            </a:r>
            <a:endParaRPr lang="en-US" sz="900" dirty="0"/>
          </a:p>
        </p:txBody>
      </p:sp>
      <p:sp>
        <p:nvSpPr>
          <p:cNvPr id="46" name="Shape 44"/>
          <p:cNvSpPr/>
          <p:nvPr/>
        </p:nvSpPr>
        <p:spPr>
          <a:xfrm>
            <a:off x="1078992" y="4553712"/>
            <a:ext cx="182880" cy="182880"/>
          </a:xfrm>
          <a:prstGeom prst="ellipse">
            <a:avLst/>
          </a:prstGeom>
          <a:solidFill>
            <a:srgbClr val="27AE60"/>
          </a:solidFill>
          <a:ln/>
        </p:spPr>
        <p:txBody>
          <a:bodyPr/>
          <a:lstStyle/>
          <a:p>
            <a:endParaRPr lang="en-US"/>
          </a:p>
        </p:txBody>
      </p:sp>
      <p:sp>
        <p:nvSpPr>
          <p:cNvPr id="47" name="Shape 45"/>
          <p:cNvSpPr/>
          <p:nvPr/>
        </p:nvSpPr>
        <p:spPr>
          <a:xfrm>
            <a:off x="384048" y="4553712"/>
            <a:ext cx="621792" cy="182880"/>
          </a:xfrm>
          <a:prstGeom prst="rect">
            <a:avLst/>
          </a:prstGeom>
          <a:solidFill>
            <a:srgbClr val="27AE60"/>
          </a:solidFill>
          <a:ln/>
        </p:spPr>
        <p:txBody>
          <a:bodyPr/>
          <a:lstStyle/>
          <a:p>
            <a:endParaRPr lang="en-US"/>
          </a:p>
        </p:txBody>
      </p:sp>
      <p:sp>
        <p:nvSpPr>
          <p:cNvPr id="48" name="Text 46"/>
          <p:cNvSpPr/>
          <p:nvPr/>
        </p:nvSpPr>
        <p:spPr>
          <a:xfrm>
            <a:off x="384048" y="4553712"/>
            <a:ext cx="621792"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Week 4</a:t>
            </a:r>
            <a:endParaRPr lang="en-US" sz="800" dirty="0"/>
          </a:p>
        </p:txBody>
      </p:sp>
      <p:sp>
        <p:nvSpPr>
          <p:cNvPr id="49" name="Text 47"/>
          <p:cNvSpPr/>
          <p:nvPr/>
        </p:nvSpPr>
        <p:spPr>
          <a:xfrm>
            <a:off x="1353312" y="4517136"/>
            <a:ext cx="3840480" cy="237744"/>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Final submission</a:t>
            </a:r>
            <a:endParaRPr lang="en-US" sz="1100" dirty="0"/>
          </a:p>
        </p:txBody>
      </p:sp>
      <p:sp>
        <p:nvSpPr>
          <p:cNvPr id="50" name="Text 48"/>
          <p:cNvSpPr/>
          <p:nvPr/>
        </p:nvSpPr>
        <p:spPr>
          <a:xfrm>
            <a:off x="1353312" y="4736592"/>
            <a:ext cx="5029200" cy="1828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98 tests passing, 96% coverage, README complete, pushed</a:t>
            </a:r>
            <a:endParaRPr lang="en-US" sz="900" dirty="0"/>
          </a:p>
        </p:txBody>
      </p:sp>
      <p:sp>
        <p:nvSpPr>
          <p:cNvPr id="51" name="Shape 49"/>
          <p:cNvSpPr/>
          <p:nvPr/>
        </p:nvSpPr>
        <p:spPr>
          <a:xfrm>
            <a:off x="5943600" y="1143000"/>
            <a:ext cx="2743200" cy="3657600"/>
          </a:xfrm>
          <a:prstGeom prst="rect">
            <a:avLst/>
          </a:prstGeom>
          <a:solidFill>
            <a:srgbClr val="0A2540"/>
          </a:solidFill>
          <a:ln/>
          <a:effectLst>
            <a:outerShdw blurRad="101600" dist="38100" dir="8100000" algn="bl" rotWithShape="0">
              <a:srgbClr val="000000">
                <a:alpha val="12000"/>
              </a:srgbClr>
            </a:outerShdw>
          </a:effectLst>
        </p:spPr>
        <p:txBody>
          <a:bodyPr/>
          <a:lstStyle/>
          <a:p>
            <a:endParaRPr lang="en-US"/>
          </a:p>
        </p:txBody>
      </p:sp>
      <p:sp>
        <p:nvSpPr>
          <p:cNvPr id="52" name="Text 50"/>
          <p:cNvSpPr/>
          <p:nvPr/>
        </p:nvSpPr>
        <p:spPr>
          <a:xfrm>
            <a:off x="6080760" y="1216152"/>
            <a:ext cx="2468880" cy="201168"/>
          </a:xfrm>
          <a:prstGeom prst="rect">
            <a:avLst/>
          </a:prstGeom>
          <a:noFill/>
          <a:ln/>
        </p:spPr>
        <p:txBody>
          <a:bodyPr wrap="square" rtlCol="0" anchor="ctr"/>
          <a:lstStyle/>
          <a:p>
            <a:pPr marL="0" indent="0">
              <a:buNone/>
            </a:pPr>
            <a:r>
              <a:rPr lang="en-US" sz="800" b="1" kern="0" spc="300" dirty="0">
                <a:solidFill>
                  <a:srgbClr val="02C39A"/>
                </a:solidFill>
                <a:latin typeface="Calibri" pitchFamily="34" charset="0"/>
                <a:ea typeface="Calibri" pitchFamily="34" charset="-122"/>
                <a:cs typeface="Calibri" pitchFamily="34" charset="-120"/>
              </a:rPr>
              <a:t>GIT WORKFLOW</a:t>
            </a:r>
            <a:endParaRPr lang="en-US" sz="800" dirty="0"/>
          </a:p>
        </p:txBody>
      </p:sp>
      <p:sp>
        <p:nvSpPr>
          <p:cNvPr id="53" name="Shape 51"/>
          <p:cNvSpPr/>
          <p:nvPr/>
        </p:nvSpPr>
        <p:spPr>
          <a:xfrm>
            <a:off x="6035040" y="1508760"/>
            <a:ext cx="2514600" cy="320040"/>
          </a:xfrm>
          <a:prstGeom prst="rect">
            <a:avLst/>
          </a:prstGeom>
          <a:solidFill>
            <a:srgbClr val="034652"/>
          </a:solidFill>
          <a:ln/>
        </p:spPr>
        <p:txBody>
          <a:bodyPr/>
          <a:lstStyle/>
          <a:p>
            <a:endParaRPr lang="en-US"/>
          </a:p>
        </p:txBody>
      </p:sp>
      <p:sp>
        <p:nvSpPr>
          <p:cNvPr id="54" name="Text 52"/>
          <p:cNvSpPr/>
          <p:nvPr/>
        </p:nvSpPr>
        <p:spPr>
          <a:xfrm>
            <a:off x="6126480" y="1508760"/>
            <a:ext cx="2423160" cy="320040"/>
          </a:xfrm>
          <a:prstGeom prst="rect">
            <a:avLst/>
          </a:prstGeom>
          <a:noFill/>
          <a:ln/>
        </p:spPr>
        <p:txBody>
          <a:bodyPr wrap="square"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git add .</a:t>
            </a:r>
            <a:endParaRPr lang="en-US" sz="1000" dirty="0"/>
          </a:p>
        </p:txBody>
      </p:sp>
      <p:sp>
        <p:nvSpPr>
          <p:cNvPr id="55" name="Shape 53"/>
          <p:cNvSpPr/>
          <p:nvPr/>
        </p:nvSpPr>
        <p:spPr>
          <a:xfrm>
            <a:off x="6035040" y="1892808"/>
            <a:ext cx="2514600" cy="320040"/>
          </a:xfrm>
          <a:prstGeom prst="rect">
            <a:avLst/>
          </a:prstGeom>
          <a:solidFill>
            <a:srgbClr val="034652"/>
          </a:solidFill>
          <a:ln/>
        </p:spPr>
        <p:txBody>
          <a:bodyPr/>
          <a:lstStyle/>
          <a:p>
            <a:endParaRPr lang="en-US"/>
          </a:p>
        </p:txBody>
      </p:sp>
      <p:sp>
        <p:nvSpPr>
          <p:cNvPr id="56" name="Text 54"/>
          <p:cNvSpPr/>
          <p:nvPr/>
        </p:nvSpPr>
        <p:spPr>
          <a:xfrm>
            <a:off x="6126480" y="1892808"/>
            <a:ext cx="2423160" cy="320040"/>
          </a:xfrm>
          <a:prstGeom prst="rect">
            <a:avLst/>
          </a:prstGeom>
          <a:noFill/>
          <a:ln/>
        </p:spPr>
        <p:txBody>
          <a:bodyPr wrap="square"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git commit -m "message"</a:t>
            </a:r>
            <a:endParaRPr lang="en-US" sz="1000" dirty="0"/>
          </a:p>
        </p:txBody>
      </p:sp>
      <p:sp>
        <p:nvSpPr>
          <p:cNvPr id="57" name="Shape 55"/>
          <p:cNvSpPr/>
          <p:nvPr/>
        </p:nvSpPr>
        <p:spPr>
          <a:xfrm>
            <a:off x="6035040" y="2276856"/>
            <a:ext cx="2514600" cy="320040"/>
          </a:xfrm>
          <a:prstGeom prst="rect">
            <a:avLst/>
          </a:prstGeom>
          <a:solidFill>
            <a:srgbClr val="034652"/>
          </a:solidFill>
          <a:ln/>
        </p:spPr>
        <p:txBody>
          <a:bodyPr/>
          <a:lstStyle/>
          <a:p>
            <a:endParaRPr lang="en-US"/>
          </a:p>
        </p:txBody>
      </p:sp>
      <p:sp>
        <p:nvSpPr>
          <p:cNvPr id="58" name="Text 56"/>
          <p:cNvSpPr/>
          <p:nvPr/>
        </p:nvSpPr>
        <p:spPr>
          <a:xfrm>
            <a:off x="6126480" y="2276856"/>
            <a:ext cx="2423160" cy="320040"/>
          </a:xfrm>
          <a:prstGeom prst="rect">
            <a:avLst/>
          </a:prstGeom>
          <a:noFill/>
          <a:ln/>
        </p:spPr>
        <p:txBody>
          <a:bodyPr wrap="square"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git push origin main</a:t>
            </a:r>
            <a:endParaRPr lang="en-US" sz="1000" dirty="0"/>
          </a:p>
        </p:txBody>
      </p:sp>
      <p:sp>
        <p:nvSpPr>
          <p:cNvPr id="59" name="Shape 57"/>
          <p:cNvSpPr/>
          <p:nvPr/>
        </p:nvSpPr>
        <p:spPr>
          <a:xfrm>
            <a:off x="6035040" y="2660904"/>
            <a:ext cx="2514600" cy="320040"/>
          </a:xfrm>
          <a:prstGeom prst="rect">
            <a:avLst/>
          </a:prstGeom>
          <a:solidFill>
            <a:srgbClr val="034652"/>
          </a:solidFill>
          <a:ln/>
        </p:spPr>
        <p:txBody>
          <a:bodyPr/>
          <a:lstStyle/>
          <a:p>
            <a:endParaRPr lang="en-US"/>
          </a:p>
        </p:txBody>
      </p:sp>
      <p:sp>
        <p:nvSpPr>
          <p:cNvPr id="60" name="Text 58"/>
          <p:cNvSpPr/>
          <p:nvPr/>
        </p:nvSpPr>
        <p:spPr>
          <a:xfrm>
            <a:off x="6126480" y="2660904"/>
            <a:ext cx="2423160" cy="320040"/>
          </a:xfrm>
          <a:prstGeom prst="rect">
            <a:avLst/>
          </a:prstGeom>
          <a:noFill/>
          <a:ln/>
        </p:spPr>
        <p:txBody>
          <a:bodyPr wrap="square"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a:t>
            </a:r>
            <a:endParaRPr lang="en-US" sz="1000" dirty="0"/>
          </a:p>
        </p:txBody>
      </p:sp>
      <p:sp>
        <p:nvSpPr>
          <p:cNvPr id="61" name="Shape 59"/>
          <p:cNvSpPr/>
          <p:nvPr/>
        </p:nvSpPr>
        <p:spPr>
          <a:xfrm>
            <a:off x="6035040" y="3044952"/>
            <a:ext cx="2514600" cy="320040"/>
          </a:xfrm>
          <a:prstGeom prst="rect">
            <a:avLst/>
          </a:prstGeom>
          <a:solidFill>
            <a:srgbClr val="0D2137"/>
          </a:solidFill>
          <a:ln/>
        </p:spPr>
        <p:txBody>
          <a:bodyPr/>
          <a:lstStyle/>
          <a:p>
            <a:endParaRPr lang="en-US"/>
          </a:p>
        </p:txBody>
      </p:sp>
      <p:sp>
        <p:nvSpPr>
          <p:cNvPr id="62" name="Text 60"/>
          <p:cNvSpPr/>
          <p:nvPr/>
        </p:nvSpPr>
        <p:spPr>
          <a:xfrm>
            <a:off x="6126480" y="3044952"/>
            <a:ext cx="2423160" cy="32004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GitHub Actions triggered</a:t>
            </a:r>
            <a:endParaRPr lang="en-US" sz="1000" dirty="0"/>
          </a:p>
        </p:txBody>
      </p:sp>
      <p:sp>
        <p:nvSpPr>
          <p:cNvPr id="63" name="Shape 61"/>
          <p:cNvSpPr/>
          <p:nvPr/>
        </p:nvSpPr>
        <p:spPr>
          <a:xfrm>
            <a:off x="6035040" y="3429000"/>
            <a:ext cx="2514600" cy="320040"/>
          </a:xfrm>
          <a:prstGeom prst="rect">
            <a:avLst/>
          </a:prstGeom>
          <a:solidFill>
            <a:srgbClr val="0D2137"/>
          </a:solidFill>
          <a:ln/>
        </p:spPr>
        <p:txBody>
          <a:bodyPr/>
          <a:lstStyle/>
          <a:p>
            <a:endParaRPr lang="en-US"/>
          </a:p>
        </p:txBody>
      </p:sp>
      <p:sp>
        <p:nvSpPr>
          <p:cNvPr id="64" name="Text 62"/>
          <p:cNvSpPr/>
          <p:nvPr/>
        </p:nvSpPr>
        <p:spPr>
          <a:xfrm>
            <a:off x="6126480" y="3429000"/>
            <a:ext cx="2423160" cy="32004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All 109 tests run</a:t>
            </a:r>
            <a:endParaRPr lang="en-US" sz="1000" dirty="0"/>
          </a:p>
        </p:txBody>
      </p:sp>
      <p:sp>
        <p:nvSpPr>
          <p:cNvPr id="65" name="Shape 63"/>
          <p:cNvSpPr/>
          <p:nvPr/>
        </p:nvSpPr>
        <p:spPr>
          <a:xfrm>
            <a:off x="6035040" y="3813048"/>
            <a:ext cx="2514600" cy="320040"/>
          </a:xfrm>
          <a:prstGeom prst="rect">
            <a:avLst/>
          </a:prstGeom>
          <a:solidFill>
            <a:srgbClr val="0D2137"/>
          </a:solidFill>
          <a:ln/>
        </p:spPr>
        <p:txBody>
          <a:bodyPr/>
          <a:lstStyle/>
          <a:p>
            <a:endParaRPr lang="en-US"/>
          </a:p>
        </p:txBody>
      </p:sp>
      <p:sp>
        <p:nvSpPr>
          <p:cNvPr id="66" name="Text 64"/>
          <p:cNvSpPr/>
          <p:nvPr/>
        </p:nvSpPr>
        <p:spPr>
          <a:xfrm>
            <a:off x="6126480" y="3813048"/>
            <a:ext cx="2423160" cy="32004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Coverage report generated</a:t>
            </a:r>
            <a:endParaRPr lang="en-US" sz="1000" dirty="0"/>
          </a:p>
        </p:txBody>
      </p:sp>
      <p:sp>
        <p:nvSpPr>
          <p:cNvPr id="67" name="Shape 65"/>
          <p:cNvSpPr/>
          <p:nvPr/>
        </p:nvSpPr>
        <p:spPr>
          <a:xfrm>
            <a:off x="6035040" y="4197096"/>
            <a:ext cx="2514600" cy="320040"/>
          </a:xfrm>
          <a:prstGeom prst="rect">
            <a:avLst/>
          </a:prstGeom>
          <a:solidFill>
            <a:srgbClr val="0D2137"/>
          </a:solidFill>
          <a:ln/>
        </p:spPr>
        <p:txBody>
          <a:bodyPr/>
          <a:lstStyle/>
          <a:p>
            <a:endParaRPr lang="en-US"/>
          </a:p>
        </p:txBody>
      </p:sp>
      <p:sp>
        <p:nvSpPr>
          <p:cNvPr id="68" name="Text 66"/>
          <p:cNvSpPr/>
          <p:nvPr/>
        </p:nvSpPr>
        <p:spPr>
          <a:xfrm>
            <a:off x="6126480" y="4197096"/>
            <a:ext cx="2423160" cy="32004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Railway deploys automatically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txBody>
          <a:bodyPr/>
          <a:lstStyle/>
          <a:p>
            <a:endParaRPr lang="en-US"/>
          </a:p>
        </p:txBody>
      </p:sp>
      <p:sp>
        <p:nvSpPr>
          <p:cNvPr id="3" name="Text 1"/>
          <p:cNvSpPr/>
          <p:nvPr/>
        </p:nvSpPr>
        <p:spPr>
          <a:xfrm>
            <a:off x="365760" y="201168"/>
            <a:ext cx="8412480" cy="50292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Testing Techniques Used</a:t>
            </a:r>
            <a:endParaRPr lang="en-US" sz="3000" dirty="0"/>
          </a:p>
        </p:txBody>
      </p:sp>
      <p:sp>
        <p:nvSpPr>
          <p:cNvPr id="4" name="Text 2"/>
          <p:cNvSpPr/>
          <p:nvPr/>
        </p:nvSpPr>
        <p:spPr>
          <a:xfrm>
            <a:off x="365760" y="713232"/>
            <a:ext cx="8412480" cy="256032"/>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Combining blackbox, whitebox and mutation testing for maximum confidence</a:t>
            </a:r>
            <a:endParaRPr lang="en-US" sz="1200" dirty="0"/>
          </a:p>
        </p:txBody>
      </p:sp>
      <p:sp>
        <p:nvSpPr>
          <p:cNvPr id="5" name="Shape 3"/>
          <p:cNvSpPr/>
          <p:nvPr/>
        </p:nvSpPr>
        <p:spPr>
          <a:xfrm>
            <a:off x="365760" y="1078992"/>
            <a:ext cx="4160520" cy="1261872"/>
          </a:xfrm>
          <a:prstGeom prst="rect">
            <a:avLst/>
          </a:prstGeom>
          <a:solidFill>
            <a:srgbClr val="0D2137"/>
          </a:solidFill>
          <a:ln/>
        </p:spPr>
        <p:txBody>
          <a:bodyPr/>
          <a:lstStyle/>
          <a:p>
            <a:endParaRPr lang="en-US"/>
          </a:p>
        </p:txBody>
      </p:sp>
      <p:sp>
        <p:nvSpPr>
          <p:cNvPr id="6" name="Shape 4"/>
          <p:cNvSpPr/>
          <p:nvPr/>
        </p:nvSpPr>
        <p:spPr>
          <a:xfrm>
            <a:off x="365760" y="1078992"/>
            <a:ext cx="54864" cy="1261872"/>
          </a:xfrm>
          <a:prstGeom prst="rect">
            <a:avLst/>
          </a:prstGeom>
          <a:solidFill>
            <a:srgbClr val="028090"/>
          </a:solidFill>
          <a:ln/>
        </p:spPr>
        <p:txBody>
          <a:bodyPr/>
          <a:lstStyle/>
          <a:p>
            <a:endParaRPr lang="en-US"/>
          </a:p>
        </p:txBody>
      </p:sp>
      <p:sp>
        <p:nvSpPr>
          <p:cNvPr id="7" name="Shape 5"/>
          <p:cNvSpPr/>
          <p:nvPr/>
        </p:nvSpPr>
        <p:spPr>
          <a:xfrm>
            <a:off x="502920" y="1152144"/>
            <a:ext cx="914400" cy="182880"/>
          </a:xfrm>
          <a:prstGeom prst="rect">
            <a:avLst/>
          </a:prstGeom>
          <a:solidFill>
            <a:srgbClr val="028090"/>
          </a:solidFill>
          <a:ln/>
        </p:spPr>
        <p:txBody>
          <a:bodyPr/>
          <a:lstStyle/>
          <a:p>
            <a:endParaRPr lang="en-US"/>
          </a:p>
        </p:txBody>
      </p:sp>
      <p:sp>
        <p:nvSpPr>
          <p:cNvPr id="8" name="Text 6"/>
          <p:cNvSpPr/>
          <p:nvPr/>
        </p:nvSpPr>
        <p:spPr>
          <a:xfrm>
            <a:off x="502920" y="1152144"/>
            <a:ext cx="91440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BLACKBOX</a:t>
            </a:r>
            <a:endParaRPr lang="en-US" sz="700" dirty="0"/>
          </a:p>
        </p:txBody>
      </p:sp>
      <p:sp>
        <p:nvSpPr>
          <p:cNvPr id="9" name="Text 7"/>
          <p:cNvSpPr/>
          <p:nvPr/>
        </p:nvSpPr>
        <p:spPr>
          <a:xfrm>
            <a:off x="530352" y="1371600"/>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BVA — Boundary Value Analysis</a:t>
            </a:r>
            <a:endParaRPr lang="en-US" sz="1200" dirty="0"/>
          </a:p>
        </p:txBody>
      </p:sp>
      <p:sp>
        <p:nvSpPr>
          <p:cNvPr id="10" name="Text 8"/>
          <p:cNvSpPr/>
          <p:nvPr/>
        </p:nvSpPr>
        <p:spPr>
          <a:xfrm>
            <a:off x="530352" y="1627632"/>
            <a:ext cx="3931920" cy="2926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Tests values at the exact edges of every valid range. Most bugs hide at boundaries, not in the middle.</a:t>
            </a:r>
            <a:endParaRPr lang="en-US" sz="950" dirty="0"/>
          </a:p>
        </p:txBody>
      </p:sp>
      <p:sp>
        <p:nvSpPr>
          <p:cNvPr id="11" name="Text 9"/>
          <p:cNvSpPr/>
          <p:nvPr/>
        </p:nvSpPr>
        <p:spPr>
          <a:xfrm>
            <a:off x="530352" y="1947672"/>
            <a:ext cx="3931920" cy="320040"/>
          </a:xfrm>
          <a:prstGeom prst="rect">
            <a:avLst/>
          </a:prstGeom>
          <a:noFill/>
          <a:ln/>
        </p:spPr>
        <p:txBody>
          <a:bodyPr wrap="square" rtlCol="0" anchor="ctr"/>
          <a:lstStyle/>
          <a:p>
            <a:pPr marL="0" indent="0">
              <a:buNone/>
            </a:pPr>
            <a:r>
              <a:rPr lang="en-US" sz="850" i="1" dirty="0">
                <a:solidFill>
                  <a:srgbClr val="02C39A"/>
                </a:solidFill>
                <a:latin typeface="Calibri" pitchFamily="34" charset="0"/>
                <a:ea typeface="Calibri" pitchFamily="34" charset="-122"/>
                <a:cs typeface="Calibri" pitchFamily="34" charset="-120"/>
              </a:rPr>
              <a:t>eg: Age boundary 18 → test 17 (pediatric, 3mg/kg) AND 18 (adult, 5mg/kg). If code says &gt; instead of &gt;=, BVA catches it.</a:t>
            </a:r>
            <a:endParaRPr lang="en-US" sz="850" dirty="0"/>
          </a:p>
        </p:txBody>
      </p:sp>
      <p:sp>
        <p:nvSpPr>
          <p:cNvPr id="12" name="Shape 10"/>
          <p:cNvSpPr/>
          <p:nvPr/>
        </p:nvSpPr>
        <p:spPr>
          <a:xfrm>
            <a:off x="4754880" y="1078992"/>
            <a:ext cx="4160520" cy="1261872"/>
          </a:xfrm>
          <a:prstGeom prst="rect">
            <a:avLst/>
          </a:prstGeom>
          <a:solidFill>
            <a:srgbClr val="0D2137"/>
          </a:solidFill>
          <a:ln/>
        </p:spPr>
        <p:txBody>
          <a:bodyPr/>
          <a:lstStyle/>
          <a:p>
            <a:endParaRPr lang="en-US"/>
          </a:p>
        </p:txBody>
      </p:sp>
      <p:sp>
        <p:nvSpPr>
          <p:cNvPr id="13" name="Shape 11"/>
          <p:cNvSpPr/>
          <p:nvPr/>
        </p:nvSpPr>
        <p:spPr>
          <a:xfrm>
            <a:off x="4754880" y="1078992"/>
            <a:ext cx="54864" cy="1261872"/>
          </a:xfrm>
          <a:prstGeom prst="rect">
            <a:avLst/>
          </a:prstGeom>
          <a:solidFill>
            <a:srgbClr val="1565C0"/>
          </a:solidFill>
          <a:ln/>
        </p:spPr>
        <p:txBody>
          <a:bodyPr/>
          <a:lstStyle/>
          <a:p>
            <a:endParaRPr lang="en-US"/>
          </a:p>
        </p:txBody>
      </p:sp>
      <p:sp>
        <p:nvSpPr>
          <p:cNvPr id="14" name="Shape 12"/>
          <p:cNvSpPr/>
          <p:nvPr/>
        </p:nvSpPr>
        <p:spPr>
          <a:xfrm>
            <a:off x="4892040" y="1152144"/>
            <a:ext cx="914400" cy="182880"/>
          </a:xfrm>
          <a:prstGeom prst="rect">
            <a:avLst/>
          </a:prstGeom>
          <a:solidFill>
            <a:srgbClr val="1565C0"/>
          </a:solidFill>
          <a:ln/>
        </p:spPr>
        <p:txBody>
          <a:bodyPr/>
          <a:lstStyle/>
          <a:p>
            <a:endParaRPr lang="en-US"/>
          </a:p>
        </p:txBody>
      </p:sp>
      <p:sp>
        <p:nvSpPr>
          <p:cNvPr id="15" name="Text 13"/>
          <p:cNvSpPr/>
          <p:nvPr/>
        </p:nvSpPr>
        <p:spPr>
          <a:xfrm>
            <a:off x="4892040" y="1152144"/>
            <a:ext cx="91440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BLACKBOX</a:t>
            </a:r>
            <a:endParaRPr lang="en-US" sz="700" dirty="0"/>
          </a:p>
        </p:txBody>
      </p:sp>
      <p:sp>
        <p:nvSpPr>
          <p:cNvPr id="16" name="Text 14"/>
          <p:cNvSpPr/>
          <p:nvPr/>
        </p:nvSpPr>
        <p:spPr>
          <a:xfrm>
            <a:off x="4919472" y="1371600"/>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EPC — Equivalence Partitioning Classes</a:t>
            </a:r>
            <a:endParaRPr lang="en-US" sz="1200" dirty="0"/>
          </a:p>
        </p:txBody>
      </p:sp>
      <p:sp>
        <p:nvSpPr>
          <p:cNvPr id="17" name="Text 15"/>
          <p:cNvSpPr/>
          <p:nvPr/>
        </p:nvSpPr>
        <p:spPr>
          <a:xfrm>
            <a:off x="4919472" y="1627632"/>
            <a:ext cx="3931920" cy="2926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Divides all possible inputs into groups where every value behaves the same. Test one value per group.</a:t>
            </a:r>
            <a:endParaRPr lang="en-US" sz="950" dirty="0"/>
          </a:p>
        </p:txBody>
      </p:sp>
      <p:sp>
        <p:nvSpPr>
          <p:cNvPr id="18" name="Text 16"/>
          <p:cNvSpPr/>
          <p:nvPr/>
        </p:nvSpPr>
        <p:spPr>
          <a:xfrm>
            <a:off x="4919472" y="1947672"/>
            <a:ext cx="3931920" cy="320040"/>
          </a:xfrm>
          <a:prstGeom prst="rect">
            <a:avLst/>
          </a:prstGeom>
          <a:noFill/>
          <a:ln/>
        </p:spPr>
        <p:txBody>
          <a:bodyPr wrap="square" rtlCol="0" anchor="ctr"/>
          <a:lstStyle/>
          <a:p>
            <a:pPr marL="0" indent="0">
              <a:buNone/>
            </a:pPr>
            <a:r>
              <a:rPr lang="en-US" sz="850" i="1" dirty="0">
                <a:solidFill>
                  <a:srgbClr val="02C39A"/>
                </a:solidFill>
                <a:latin typeface="Calibri" pitchFamily="34" charset="0"/>
                <a:ea typeface="Calibri" pitchFamily="34" charset="-122"/>
                <a:cs typeface="Calibri" pitchFamily="34" charset="-120"/>
              </a:rPr>
              <a:t>eg: Ages 18–64 all use adult rate. So test age=30 covers ALL adult ages — you don't need to test 18, 19, 20... 64.</a:t>
            </a:r>
            <a:endParaRPr lang="en-US" sz="850" dirty="0"/>
          </a:p>
        </p:txBody>
      </p:sp>
      <p:sp>
        <p:nvSpPr>
          <p:cNvPr id="19" name="Shape 17"/>
          <p:cNvSpPr/>
          <p:nvPr/>
        </p:nvSpPr>
        <p:spPr>
          <a:xfrm>
            <a:off x="365760" y="2450592"/>
            <a:ext cx="4160520" cy="1261872"/>
          </a:xfrm>
          <a:prstGeom prst="rect">
            <a:avLst/>
          </a:prstGeom>
          <a:solidFill>
            <a:srgbClr val="0D2137"/>
          </a:solidFill>
          <a:ln/>
        </p:spPr>
        <p:txBody>
          <a:bodyPr/>
          <a:lstStyle/>
          <a:p>
            <a:endParaRPr lang="en-US"/>
          </a:p>
        </p:txBody>
      </p:sp>
      <p:sp>
        <p:nvSpPr>
          <p:cNvPr id="20" name="Shape 18"/>
          <p:cNvSpPr/>
          <p:nvPr/>
        </p:nvSpPr>
        <p:spPr>
          <a:xfrm>
            <a:off x="365760" y="2450592"/>
            <a:ext cx="54864" cy="1261872"/>
          </a:xfrm>
          <a:prstGeom prst="rect">
            <a:avLst/>
          </a:prstGeom>
          <a:solidFill>
            <a:srgbClr val="27AE60"/>
          </a:solidFill>
          <a:ln/>
        </p:spPr>
        <p:txBody>
          <a:bodyPr/>
          <a:lstStyle/>
          <a:p>
            <a:endParaRPr lang="en-US"/>
          </a:p>
        </p:txBody>
      </p:sp>
      <p:sp>
        <p:nvSpPr>
          <p:cNvPr id="21" name="Shape 19"/>
          <p:cNvSpPr/>
          <p:nvPr/>
        </p:nvSpPr>
        <p:spPr>
          <a:xfrm>
            <a:off x="502920" y="2523744"/>
            <a:ext cx="914400" cy="182880"/>
          </a:xfrm>
          <a:prstGeom prst="rect">
            <a:avLst/>
          </a:prstGeom>
          <a:solidFill>
            <a:srgbClr val="27AE60"/>
          </a:solidFill>
          <a:ln/>
        </p:spPr>
        <p:txBody>
          <a:bodyPr/>
          <a:lstStyle/>
          <a:p>
            <a:endParaRPr lang="en-US"/>
          </a:p>
        </p:txBody>
      </p:sp>
      <p:sp>
        <p:nvSpPr>
          <p:cNvPr id="22" name="Text 20"/>
          <p:cNvSpPr/>
          <p:nvPr/>
        </p:nvSpPr>
        <p:spPr>
          <a:xfrm>
            <a:off x="502920" y="2523744"/>
            <a:ext cx="91440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WHITEBOX</a:t>
            </a:r>
            <a:endParaRPr lang="en-US" sz="700" dirty="0"/>
          </a:p>
        </p:txBody>
      </p:sp>
      <p:sp>
        <p:nvSpPr>
          <p:cNvPr id="23" name="Text 21"/>
          <p:cNvSpPr/>
          <p:nvPr/>
        </p:nvSpPr>
        <p:spPr>
          <a:xfrm>
            <a:off x="530352" y="2743200"/>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Statement &amp; Branch Coverage (JaCoCo)</a:t>
            </a:r>
            <a:endParaRPr lang="en-US" sz="1200" dirty="0"/>
          </a:p>
        </p:txBody>
      </p:sp>
      <p:sp>
        <p:nvSpPr>
          <p:cNvPr id="24" name="Text 22"/>
          <p:cNvSpPr/>
          <p:nvPr/>
        </p:nvSpPr>
        <p:spPr>
          <a:xfrm>
            <a:off x="530352" y="2999232"/>
            <a:ext cx="3931920" cy="2926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Statement: every line executed (99%). Branch: every if/else tested both YES and NO paths (96%).</a:t>
            </a:r>
            <a:endParaRPr lang="en-US" sz="950" dirty="0"/>
          </a:p>
        </p:txBody>
      </p:sp>
      <p:sp>
        <p:nvSpPr>
          <p:cNvPr id="25" name="Text 23"/>
          <p:cNvSpPr/>
          <p:nvPr/>
        </p:nvSpPr>
        <p:spPr>
          <a:xfrm>
            <a:off x="530352" y="3319272"/>
            <a:ext cx="3931920" cy="320040"/>
          </a:xfrm>
          <a:prstGeom prst="rect">
            <a:avLst/>
          </a:prstGeom>
          <a:noFill/>
          <a:ln/>
        </p:spPr>
        <p:txBody>
          <a:bodyPr wrap="square" rtlCol="0" anchor="ctr"/>
          <a:lstStyle/>
          <a:p>
            <a:pPr marL="0" indent="0">
              <a:buNone/>
            </a:pPr>
            <a:r>
              <a:rPr lang="en-US" sz="850" i="1" dirty="0">
                <a:solidFill>
                  <a:srgbClr val="02C39A"/>
                </a:solidFill>
                <a:latin typeface="Calibri" pitchFamily="34" charset="0"/>
                <a:ea typeface="Calibri" pitchFamily="34" charset="-122"/>
                <a:cs typeface="Calibri" pitchFamily="34" charset="-120"/>
              </a:rPr>
              <a:t>eg: if (age&lt;0 || age&gt;120) must be tested with age=-1 (true) AND age=30 (false) to cover both branches.</a:t>
            </a:r>
            <a:endParaRPr lang="en-US" sz="850" dirty="0"/>
          </a:p>
        </p:txBody>
      </p:sp>
      <p:sp>
        <p:nvSpPr>
          <p:cNvPr id="26" name="Shape 24"/>
          <p:cNvSpPr/>
          <p:nvPr/>
        </p:nvSpPr>
        <p:spPr>
          <a:xfrm>
            <a:off x="4754880" y="2450592"/>
            <a:ext cx="4160520" cy="1261872"/>
          </a:xfrm>
          <a:prstGeom prst="rect">
            <a:avLst/>
          </a:prstGeom>
          <a:solidFill>
            <a:srgbClr val="0D2137"/>
          </a:solidFill>
          <a:ln/>
        </p:spPr>
        <p:txBody>
          <a:bodyPr/>
          <a:lstStyle/>
          <a:p>
            <a:endParaRPr lang="en-US"/>
          </a:p>
        </p:txBody>
      </p:sp>
      <p:sp>
        <p:nvSpPr>
          <p:cNvPr id="27" name="Shape 25"/>
          <p:cNvSpPr/>
          <p:nvPr/>
        </p:nvSpPr>
        <p:spPr>
          <a:xfrm>
            <a:off x="4754880" y="2450592"/>
            <a:ext cx="54864" cy="1261872"/>
          </a:xfrm>
          <a:prstGeom prst="rect">
            <a:avLst/>
          </a:prstGeom>
          <a:solidFill>
            <a:srgbClr val="7C3AED"/>
          </a:solidFill>
          <a:ln/>
        </p:spPr>
        <p:txBody>
          <a:bodyPr/>
          <a:lstStyle/>
          <a:p>
            <a:endParaRPr lang="en-US"/>
          </a:p>
        </p:txBody>
      </p:sp>
      <p:sp>
        <p:nvSpPr>
          <p:cNvPr id="28" name="Shape 26"/>
          <p:cNvSpPr/>
          <p:nvPr/>
        </p:nvSpPr>
        <p:spPr>
          <a:xfrm>
            <a:off x="4892040" y="2523744"/>
            <a:ext cx="914400" cy="182880"/>
          </a:xfrm>
          <a:prstGeom prst="rect">
            <a:avLst/>
          </a:prstGeom>
          <a:solidFill>
            <a:srgbClr val="7C3AED"/>
          </a:solidFill>
          <a:ln/>
        </p:spPr>
        <p:txBody>
          <a:bodyPr/>
          <a:lstStyle/>
          <a:p>
            <a:endParaRPr lang="en-US"/>
          </a:p>
        </p:txBody>
      </p:sp>
      <p:sp>
        <p:nvSpPr>
          <p:cNvPr id="29" name="Text 27"/>
          <p:cNvSpPr/>
          <p:nvPr/>
        </p:nvSpPr>
        <p:spPr>
          <a:xfrm>
            <a:off x="4892040" y="2523744"/>
            <a:ext cx="91440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WHITEBOX</a:t>
            </a:r>
            <a:endParaRPr lang="en-US" sz="700" dirty="0"/>
          </a:p>
        </p:txBody>
      </p:sp>
      <p:sp>
        <p:nvSpPr>
          <p:cNvPr id="30" name="Text 28"/>
          <p:cNvSpPr/>
          <p:nvPr/>
        </p:nvSpPr>
        <p:spPr>
          <a:xfrm>
            <a:off x="4919472" y="2743200"/>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Path Coverage </a:t>
            </a:r>
            <a:endParaRPr lang="en-US" sz="1200" dirty="0"/>
          </a:p>
        </p:txBody>
      </p:sp>
      <p:sp>
        <p:nvSpPr>
          <p:cNvPr id="31" name="Text 29"/>
          <p:cNvSpPr/>
          <p:nvPr/>
        </p:nvSpPr>
        <p:spPr>
          <a:xfrm>
            <a:off x="4919472" y="2999232"/>
            <a:ext cx="3931920" cy="2926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Every possible route from START to END is tested.</a:t>
            </a:r>
            <a:endParaRPr lang="en-US" sz="950" dirty="0"/>
          </a:p>
        </p:txBody>
      </p:sp>
      <p:sp>
        <p:nvSpPr>
          <p:cNvPr id="32" name="Text 30"/>
          <p:cNvSpPr/>
          <p:nvPr/>
        </p:nvSpPr>
        <p:spPr>
          <a:xfrm>
            <a:off x="4919472" y="3319272"/>
            <a:ext cx="3931920" cy="320040"/>
          </a:xfrm>
          <a:prstGeom prst="rect">
            <a:avLst/>
          </a:prstGeom>
          <a:noFill/>
          <a:ln/>
        </p:spPr>
        <p:txBody>
          <a:bodyPr wrap="square" rtlCol="0" anchor="ctr"/>
          <a:lstStyle/>
          <a:p>
            <a:pPr marL="0" indent="0">
              <a:buNone/>
            </a:pPr>
            <a:r>
              <a:rPr lang="en-US" sz="850" i="1" dirty="0">
                <a:solidFill>
                  <a:srgbClr val="02C39A"/>
                </a:solidFill>
                <a:latin typeface="Calibri" pitchFamily="34" charset="0"/>
                <a:ea typeface="Calibri" pitchFamily="34" charset="-122"/>
                <a:cs typeface="Calibri" pitchFamily="34" charset="-120"/>
              </a:rPr>
              <a:t>eg: calculateDosage has 7 paths: 3 age tiers × 2 clamp states + 2 error paths. All 7 must be covered.</a:t>
            </a:r>
            <a:endParaRPr lang="en-US" sz="850" dirty="0"/>
          </a:p>
        </p:txBody>
      </p:sp>
      <p:sp>
        <p:nvSpPr>
          <p:cNvPr id="33" name="Shape 31"/>
          <p:cNvSpPr/>
          <p:nvPr/>
        </p:nvSpPr>
        <p:spPr>
          <a:xfrm>
            <a:off x="365760" y="3822192"/>
            <a:ext cx="4160520" cy="1261872"/>
          </a:xfrm>
          <a:prstGeom prst="rect">
            <a:avLst/>
          </a:prstGeom>
          <a:solidFill>
            <a:srgbClr val="0D2137"/>
          </a:solidFill>
          <a:ln/>
        </p:spPr>
        <p:txBody>
          <a:bodyPr/>
          <a:lstStyle/>
          <a:p>
            <a:endParaRPr lang="en-US"/>
          </a:p>
        </p:txBody>
      </p:sp>
      <p:sp>
        <p:nvSpPr>
          <p:cNvPr id="34" name="Shape 32"/>
          <p:cNvSpPr/>
          <p:nvPr/>
        </p:nvSpPr>
        <p:spPr>
          <a:xfrm>
            <a:off x="365760" y="3822192"/>
            <a:ext cx="54864" cy="1261872"/>
          </a:xfrm>
          <a:prstGeom prst="rect">
            <a:avLst/>
          </a:prstGeom>
          <a:solidFill>
            <a:srgbClr val="27AE60"/>
          </a:solidFill>
          <a:ln/>
        </p:spPr>
        <p:txBody>
          <a:bodyPr/>
          <a:lstStyle/>
          <a:p>
            <a:endParaRPr lang="en-US"/>
          </a:p>
        </p:txBody>
      </p:sp>
      <p:sp>
        <p:nvSpPr>
          <p:cNvPr id="35" name="Shape 33"/>
          <p:cNvSpPr/>
          <p:nvPr/>
        </p:nvSpPr>
        <p:spPr>
          <a:xfrm>
            <a:off x="502920" y="3895344"/>
            <a:ext cx="914400" cy="182880"/>
          </a:xfrm>
          <a:prstGeom prst="rect">
            <a:avLst/>
          </a:prstGeom>
          <a:solidFill>
            <a:srgbClr val="27AE60"/>
          </a:solidFill>
          <a:ln/>
        </p:spPr>
        <p:txBody>
          <a:bodyPr/>
          <a:lstStyle/>
          <a:p>
            <a:endParaRPr lang="en-US"/>
          </a:p>
        </p:txBody>
      </p:sp>
      <p:sp>
        <p:nvSpPr>
          <p:cNvPr id="36" name="Text 34"/>
          <p:cNvSpPr/>
          <p:nvPr/>
        </p:nvSpPr>
        <p:spPr>
          <a:xfrm>
            <a:off x="502920" y="3895344"/>
            <a:ext cx="91440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INTEGRATION</a:t>
            </a:r>
            <a:endParaRPr lang="en-US" sz="700" dirty="0"/>
          </a:p>
        </p:txBody>
      </p:sp>
      <p:sp>
        <p:nvSpPr>
          <p:cNvPr id="37" name="Text 35"/>
          <p:cNvSpPr/>
          <p:nvPr/>
        </p:nvSpPr>
        <p:spPr>
          <a:xfrm>
            <a:off x="530352" y="4114800"/>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MockMvc — Top-Down Integration</a:t>
            </a:r>
            <a:endParaRPr lang="en-US" sz="1200" dirty="0"/>
          </a:p>
        </p:txBody>
      </p:sp>
      <p:sp>
        <p:nvSpPr>
          <p:cNvPr id="38" name="Text 36"/>
          <p:cNvSpPr/>
          <p:nvPr/>
        </p:nvSpPr>
        <p:spPr>
          <a:xfrm>
            <a:off x="530352" y="4370832"/>
            <a:ext cx="3931920" cy="2926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Tests the full request→response flow. Starts at Controller (top), calls down through PharmacySystem.</a:t>
            </a:r>
            <a:endParaRPr lang="en-US" sz="950" dirty="0"/>
          </a:p>
        </p:txBody>
      </p:sp>
      <p:sp>
        <p:nvSpPr>
          <p:cNvPr id="39" name="Text 37"/>
          <p:cNvSpPr/>
          <p:nvPr/>
        </p:nvSpPr>
        <p:spPr>
          <a:xfrm>
            <a:off x="530352" y="4690872"/>
            <a:ext cx="3931920" cy="320040"/>
          </a:xfrm>
          <a:prstGeom prst="rect">
            <a:avLst/>
          </a:prstGeom>
          <a:noFill/>
          <a:ln/>
        </p:spPr>
        <p:txBody>
          <a:bodyPr wrap="square" rtlCol="0" anchor="ctr"/>
          <a:lstStyle/>
          <a:p>
            <a:pPr marL="0" indent="0">
              <a:buNone/>
            </a:pPr>
            <a:r>
              <a:rPr lang="en-US" sz="850" i="1" dirty="0">
                <a:solidFill>
                  <a:srgbClr val="02C39A"/>
                </a:solidFill>
                <a:latin typeface="Calibri" pitchFamily="34" charset="0"/>
                <a:ea typeface="Calibri" pitchFamily="34" charset="-122"/>
                <a:cs typeface="Calibri" pitchFamily="34" charset="-120"/>
              </a:rPr>
              <a:t>eg: POST /register with valid data → Controller receives → PharmacySystem stores → success=true returned.</a:t>
            </a:r>
            <a:endParaRPr lang="en-US" sz="850" dirty="0"/>
          </a:p>
        </p:txBody>
      </p:sp>
      <p:sp>
        <p:nvSpPr>
          <p:cNvPr id="40" name="Shape 38"/>
          <p:cNvSpPr/>
          <p:nvPr/>
        </p:nvSpPr>
        <p:spPr>
          <a:xfrm>
            <a:off x="4754880" y="3822192"/>
            <a:ext cx="4160520" cy="1261872"/>
          </a:xfrm>
          <a:prstGeom prst="rect">
            <a:avLst/>
          </a:prstGeom>
          <a:solidFill>
            <a:srgbClr val="0D2137"/>
          </a:solidFill>
          <a:ln/>
        </p:spPr>
        <p:txBody>
          <a:bodyPr/>
          <a:lstStyle/>
          <a:p>
            <a:endParaRPr lang="en-US"/>
          </a:p>
        </p:txBody>
      </p:sp>
      <p:sp>
        <p:nvSpPr>
          <p:cNvPr id="41" name="Shape 39"/>
          <p:cNvSpPr/>
          <p:nvPr/>
        </p:nvSpPr>
        <p:spPr>
          <a:xfrm>
            <a:off x="4754880" y="3822192"/>
            <a:ext cx="54864" cy="1261872"/>
          </a:xfrm>
          <a:prstGeom prst="rect">
            <a:avLst/>
          </a:prstGeom>
          <a:solidFill>
            <a:srgbClr val="E67E22"/>
          </a:solidFill>
          <a:ln/>
        </p:spPr>
        <p:txBody>
          <a:bodyPr/>
          <a:lstStyle/>
          <a:p>
            <a:endParaRPr lang="en-US"/>
          </a:p>
        </p:txBody>
      </p:sp>
      <p:sp>
        <p:nvSpPr>
          <p:cNvPr id="42" name="Shape 40"/>
          <p:cNvSpPr/>
          <p:nvPr/>
        </p:nvSpPr>
        <p:spPr>
          <a:xfrm>
            <a:off x="4892040" y="3895344"/>
            <a:ext cx="914400" cy="182880"/>
          </a:xfrm>
          <a:prstGeom prst="rect">
            <a:avLst/>
          </a:prstGeom>
          <a:solidFill>
            <a:srgbClr val="E67E22"/>
          </a:solidFill>
          <a:ln/>
        </p:spPr>
        <p:txBody>
          <a:bodyPr/>
          <a:lstStyle/>
          <a:p>
            <a:endParaRPr lang="en-US"/>
          </a:p>
        </p:txBody>
      </p:sp>
      <p:sp>
        <p:nvSpPr>
          <p:cNvPr id="43" name="Text 41"/>
          <p:cNvSpPr/>
          <p:nvPr/>
        </p:nvSpPr>
        <p:spPr>
          <a:xfrm>
            <a:off x="4892040" y="3895344"/>
            <a:ext cx="91440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MUTATION</a:t>
            </a:r>
            <a:endParaRPr lang="en-US" sz="700" dirty="0"/>
          </a:p>
        </p:txBody>
      </p:sp>
      <p:sp>
        <p:nvSpPr>
          <p:cNvPr id="44" name="Text 42"/>
          <p:cNvSpPr/>
          <p:nvPr/>
        </p:nvSpPr>
        <p:spPr>
          <a:xfrm>
            <a:off x="4919472" y="4114800"/>
            <a:ext cx="393192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PITest Mutation Testing — 95% Score</a:t>
            </a:r>
            <a:endParaRPr lang="en-US" sz="1200" dirty="0"/>
          </a:p>
        </p:txBody>
      </p:sp>
      <p:sp>
        <p:nvSpPr>
          <p:cNvPr id="45" name="Text 43"/>
          <p:cNvSpPr/>
          <p:nvPr/>
        </p:nvSpPr>
        <p:spPr>
          <a:xfrm>
            <a:off x="4919472" y="4370832"/>
            <a:ext cx="3931920" cy="292608"/>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Auto-introduces 81 bugs. Tests must catch them. 77 killed = tests are strong. 4 survived = minor gaps.</a:t>
            </a:r>
            <a:endParaRPr lang="en-US" sz="950" dirty="0"/>
          </a:p>
        </p:txBody>
      </p:sp>
      <p:sp>
        <p:nvSpPr>
          <p:cNvPr id="46" name="Text 44"/>
          <p:cNvSpPr/>
          <p:nvPr/>
        </p:nvSpPr>
        <p:spPr>
          <a:xfrm>
            <a:off x="4919472" y="4690872"/>
            <a:ext cx="3931920" cy="320040"/>
          </a:xfrm>
          <a:prstGeom prst="rect">
            <a:avLst/>
          </a:prstGeom>
          <a:noFill/>
          <a:ln/>
        </p:spPr>
        <p:txBody>
          <a:bodyPr wrap="square" rtlCol="0" anchor="ctr"/>
          <a:lstStyle/>
          <a:p>
            <a:pPr marL="0" indent="0">
              <a:buNone/>
            </a:pPr>
            <a:r>
              <a:rPr lang="en-US" sz="850" i="1" dirty="0">
                <a:solidFill>
                  <a:srgbClr val="02C39A"/>
                </a:solidFill>
                <a:latin typeface="Calibri" pitchFamily="34" charset="0"/>
                <a:ea typeface="Calibri" pitchFamily="34" charset="-122"/>
                <a:cs typeface="Calibri" pitchFamily="34" charset="-120"/>
              </a:rPr>
              <a:t>eg: Changed age&lt;0 to age&lt;=0 → test for age=0 detected the difference immediately. KILLED </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chemeClr val="tx1"/>
          </a:solidFill>
          <a:ln/>
        </p:spPr>
        <p:txBody>
          <a:bodyPr/>
          <a:lstStyle/>
          <a:p>
            <a:endParaRPr lang="en-US"/>
          </a:p>
        </p:txBody>
      </p:sp>
      <p:sp>
        <p:nvSpPr>
          <p:cNvPr id="3" name="Text 1"/>
          <p:cNvSpPr/>
          <p:nvPr/>
        </p:nvSpPr>
        <p:spPr>
          <a:xfrm>
            <a:off x="502920" y="0"/>
            <a:ext cx="8412480" cy="640080"/>
          </a:xfrm>
          <a:prstGeom prst="rect">
            <a:avLst/>
          </a:prstGeom>
          <a:noFill/>
          <a:ln/>
        </p:spPr>
        <p:txBody>
          <a:bodyPr wrap="square" rtlCol="0" anchor="b"/>
          <a:lstStyle/>
          <a:p>
            <a:pPr marL="0" indent="0">
              <a:buNone/>
            </a:pPr>
            <a:r>
              <a:rPr lang="en-US" sz="2800" b="1" dirty="0">
                <a:solidFill>
                  <a:srgbClr val="FFFFFF"/>
                </a:solidFill>
                <a:latin typeface="Georgia" pitchFamily="34" charset="0"/>
                <a:ea typeface="Georgia" pitchFamily="34" charset="-122"/>
                <a:cs typeface="Georgia" pitchFamily="34" charset="-120"/>
              </a:rPr>
              <a:t>Unit Tests &amp; Results</a:t>
            </a:r>
            <a:endParaRPr lang="en-US" sz="2800" dirty="0"/>
          </a:p>
        </p:txBody>
      </p:sp>
      <p:sp>
        <p:nvSpPr>
          <p:cNvPr id="4" name="Text 2"/>
          <p:cNvSpPr/>
          <p:nvPr/>
        </p:nvSpPr>
        <p:spPr>
          <a:xfrm>
            <a:off x="502920" y="658368"/>
            <a:ext cx="8412480" cy="347472"/>
          </a:xfrm>
          <a:prstGeom prst="rect">
            <a:avLst/>
          </a:prstGeom>
          <a:noFill/>
          <a:ln/>
        </p:spPr>
        <p:txBody>
          <a:bodyPr wrap="square" rtlCol="0" anchor="t"/>
          <a:lstStyle/>
          <a:p>
            <a:pPr marL="0" indent="0">
              <a:buNone/>
            </a:pPr>
            <a:r>
              <a:rPr lang="en-US" sz="1200" dirty="0">
                <a:solidFill>
                  <a:srgbClr val="CBD5E1"/>
                </a:solidFill>
                <a:latin typeface="Calibri" pitchFamily="34" charset="0"/>
                <a:ea typeface="Calibri" pitchFamily="34" charset="-122"/>
                <a:cs typeface="Calibri" pitchFamily="34" charset="-120"/>
              </a:rPr>
              <a:t>PharmacySystemTest.java — 82 tests  |  PharmacyControllerTest.java — 16 tests  |  Total: 109 tests, 0 failures</a:t>
            </a:r>
            <a:endParaRPr lang="en-US" sz="1200" dirty="0"/>
          </a:p>
        </p:txBody>
      </p:sp>
      <p:sp>
        <p:nvSpPr>
          <p:cNvPr id="5" name="Shape 3"/>
          <p:cNvSpPr/>
          <p:nvPr/>
        </p:nvSpPr>
        <p:spPr>
          <a:xfrm>
            <a:off x="457200" y="1143000"/>
            <a:ext cx="2011680" cy="868680"/>
          </a:xfrm>
          <a:prstGeom prst="rect">
            <a:avLst/>
          </a:prstGeom>
          <a:solidFill>
            <a:srgbClr val="028090"/>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457200" y="1207008"/>
            <a:ext cx="2011680" cy="457200"/>
          </a:xfrm>
          <a:prstGeom prst="rect">
            <a:avLst/>
          </a:prstGeom>
          <a:noFill/>
          <a:ln/>
        </p:spPr>
        <p:txBody>
          <a:bodyPr wrap="square"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109</a:t>
            </a:r>
            <a:endParaRPr lang="en-US" sz="3000" dirty="0"/>
          </a:p>
        </p:txBody>
      </p:sp>
      <p:sp>
        <p:nvSpPr>
          <p:cNvPr id="7" name="Text 5"/>
          <p:cNvSpPr/>
          <p:nvPr/>
        </p:nvSpPr>
        <p:spPr>
          <a:xfrm>
            <a:off x="457200" y="1682496"/>
            <a:ext cx="2011680" cy="27432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Total Tests</a:t>
            </a:r>
            <a:endParaRPr lang="en-US" sz="900" dirty="0"/>
          </a:p>
        </p:txBody>
      </p:sp>
      <p:sp>
        <p:nvSpPr>
          <p:cNvPr id="8" name="Shape 6"/>
          <p:cNvSpPr/>
          <p:nvPr/>
        </p:nvSpPr>
        <p:spPr>
          <a:xfrm>
            <a:off x="2606040" y="1143000"/>
            <a:ext cx="2011680" cy="868680"/>
          </a:xfrm>
          <a:prstGeom prst="rect">
            <a:avLst/>
          </a:prstGeom>
          <a:solidFill>
            <a:srgbClr val="27AE60"/>
          </a:solidFill>
          <a:ln/>
          <a:effectLst>
            <a:outerShdw blurRad="101600" dist="38100" dir="8100000" algn="bl" rotWithShape="0">
              <a:srgbClr val="000000">
                <a:alpha val="12000"/>
              </a:srgbClr>
            </a:outerShdw>
          </a:effectLst>
        </p:spPr>
        <p:txBody>
          <a:bodyPr/>
          <a:lstStyle/>
          <a:p>
            <a:endParaRPr lang="en-US"/>
          </a:p>
        </p:txBody>
      </p:sp>
      <p:sp>
        <p:nvSpPr>
          <p:cNvPr id="9" name="Text 7"/>
          <p:cNvSpPr/>
          <p:nvPr/>
        </p:nvSpPr>
        <p:spPr>
          <a:xfrm>
            <a:off x="2606040" y="1207008"/>
            <a:ext cx="2011680" cy="457200"/>
          </a:xfrm>
          <a:prstGeom prst="rect">
            <a:avLst/>
          </a:prstGeom>
          <a:noFill/>
          <a:ln/>
        </p:spPr>
        <p:txBody>
          <a:bodyPr wrap="square"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0</a:t>
            </a:r>
            <a:endParaRPr lang="en-US" sz="3000" dirty="0"/>
          </a:p>
        </p:txBody>
      </p:sp>
      <p:sp>
        <p:nvSpPr>
          <p:cNvPr id="10" name="Text 8"/>
          <p:cNvSpPr/>
          <p:nvPr/>
        </p:nvSpPr>
        <p:spPr>
          <a:xfrm>
            <a:off x="2606040" y="1682496"/>
            <a:ext cx="2011680" cy="27432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Failures</a:t>
            </a:r>
            <a:endParaRPr lang="en-US" sz="900" dirty="0"/>
          </a:p>
        </p:txBody>
      </p:sp>
      <p:sp>
        <p:nvSpPr>
          <p:cNvPr id="11" name="Shape 9"/>
          <p:cNvSpPr/>
          <p:nvPr/>
        </p:nvSpPr>
        <p:spPr>
          <a:xfrm>
            <a:off x="4754880" y="1143000"/>
            <a:ext cx="2011680" cy="868680"/>
          </a:xfrm>
          <a:prstGeom prst="rect">
            <a:avLst/>
          </a:prstGeom>
          <a:solidFill>
            <a:srgbClr val="0A2540"/>
          </a:solidFill>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4754880" y="1207008"/>
            <a:ext cx="2011680" cy="457200"/>
          </a:xfrm>
          <a:prstGeom prst="rect">
            <a:avLst/>
          </a:prstGeom>
          <a:noFill/>
          <a:ln/>
        </p:spPr>
        <p:txBody>
          <a:bodyPr wrap="square"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99%</a:t>
            </a:r>
            <a:endParaRPr lang="en-US" sz="3000" dirty="0"/>
          </a:p>
        </p:txBody>
      </p:sp>
      <p:sp>
        <p:nvSpPr>
          <p:cNvPr id="13" name="Text 11"/>
          <p:cNvSpPr/>
          <p:nvPr/>
        </p:nvSpPr>
        <p:spPr>
          <a:xfrm>
            <a:off x="4754880" y="1682496"/>
            <a:ext cx="2011680" cy="27432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Instruction Cov.</a:t>
            </a:r>
            <a:endParaRPr lang="en-US" sz="900" dirty="0"/>
          </a:p>
        </p:txBody>
      </p:sp>
      <p:sp>
        <p:nvSpPr>
          <p:cNvPr id="14" name="Shape 12"/>
          <p:cNvSpPr/>
          <p:nvPr/>
        </p:nvSpPr>
        <p:spPr>
          <a:xfrm>
            <a:off x="6903720" y="1143000"/>
            <a:ext cx="2011680" cy="868680"/>
          </a:xfrm>
          <a:prstGeom prst="rect">
            <a:avLst/>
          </a:prstGeom>
          <a:solidFill>
            <a:srgbClr val="854D0B"/>
          </a:solidFill>
          <a:ln/>
          <a:effectLst>
            <a:outerShdw blurRad="101600" dist="38100" dir="8100000" algn="bl" rotWithShape="0">
              <a:srgbClr val="000000">
                <a:alpha val="12000"/>
              </a:srgbClr>
            </a:outerShdw>
          </a:effectLst>
        </p:spPr>
        <p:txBody>
          <a:bodyPr/>
          <a:lstStyle/>
          <a:p>
            <a:endParaRPr lang="en-US"/>
          </a:p>
        </p:txBody>
      </p:sp>
      <p:sp>
        <p:nvSpPr>
          <p:cNvPr id="15" name="Text 13"/>
          <p:cNvSpPr/>
          <p:nvPr/>
        </p:nvSpPr>
        <p:spPr>
          <a:xfrm>
            <a:off x="6903720" y="1207008"/>
            <a:ext cx="2011680" cy="457200"/>
          </a:xfrm>
          <a:prstGeom prst="rect">
            <a:avLst/>
          </a:prstGeom>
          <a:noFill/>
          <a:ln/>
        </p:spPr>
        <p:txBody>
          <a:bodyPr wrap="square"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96%</a:t>
            </a:r>
            <a:endParaRPr lang="en-US" sz="3000" dirty="0"/>
          </a:p>
        </p:txBody>
      </p:sp>
      <p:sp>
        <p:nvSpPr>
          <p:cNvPr id="16" name="Text 14"/>
          <p:cNvSpPr/>
          <p:nvPr/>
        </p:nvSpPr>
        <p:spPr>
          <a:xfrm>
            <a:off x="6903720" y="1682496"/>
            <a:ext cx="2011680" cy="27432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Branch Cov.</a:t>
            </a:r>
            <a:endParaRPr lang="en-US" sz="900" dirty="0"/>
          </a:p>
        </p:txBody>
      </p:sp>
      <p:sp>
        <p:nvSpPr>
          <p:cNvPr id="17" name="Shape 15"/>
          <p:cNvSpPr/>
          <p:nvPr/>
        </p:nvSpPr>
        <p:spPr>
          <a:xfrm>
            <a:off x="457200" y="2103120"/>
            <a:ext cx="8229600" cy="292608"/>
          </a:xfrm>
          <a:prstGeom prst="rect">
            <a:avLst/>
          </a:prstGeom>
          <a:solidFill>
            <a:srgbClr val="0A2540"/>
          </a:solidFill>
          <a:ln/>
        </p:spPr>
        <p:txBody>
          <a:bodyPr/>
          <a:lstStyle/>
          <a:p>
            <a:endParaRPr lang="en-US"/>
          </a:p>
        </p:txBody>
      </p:sp>
      <p:sp>
        <p:nvSpPr>
          <p:cNvPr id="18" name="Text 16"/>
          <p:cNvSpPr/>
          <p:nvPr/>
        </p:nvSpPr>
        <p:spPr>
          <a:xfrm>
            <a:off x="548640" y="2103120"/>
            <a:ext cx="292608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Function</a:t>
            </a:r>
            <a:endParaRPr lang="en-US" sz="1000" dirty="0"/>
          </a:p>
        </p:txBody>
      </p:sp>
      <p:sp>
        <p:nvSpPr>
          <p:cNvPr id="19" name="Text 17"/>
          <p:cNvSpPr/>
          <p:nvPr/>
        </p:nvSpPr>
        <p:spPr>
          <a:xfrm>
            <a:off x="3474720" y="2103120"/>
            <a:ext cx="91440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BVA</a:t>
            </a:r>
            <a:endParaRPr lang="en-US" sz="1000" dirty="0"/>
          </a:p>
        </p:txBody>
      </p:sp>
      <p:sp>
        <p:nvSpPr>
          <p:cNvPr id="20" name="Text 18"/>
          <p:cNvSpPr/>
          <p:nvPr/>
        </p:nvSpPr>
        <p:spPr>
          <a:xfrm>
            <a:off x="4389120" y="2103120"/>
            <a:ext cx="91440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EPC</a:t>
            </a:r>
            <a:endParaRPr lang="en-US" sz="1000" dirty="0"/>
          </a:p>
        </p:txBody>
      </p:sp>
      <p:sp>
        <p:nvSpPr>
          <p:cNvPr id="21" name="Text 19"/>
          <p:cNvSpPr/>
          <p:nvPr/>
        </p:nvSpPr>
        <p:spPr>
          <a:xfrm>
            <a:off x="5303520" y="2103120"/>
            <a:ext cx="100584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Other</a:t>
            </a:r>
            <a:endParaRPr lang="en-US" sz="1000" dirty="0"/>
          </a:p>
        </p:txBody>
      </p:sp>
      <p:sp>
        <p:nvSpPr>
          <p:cNvPr id="22" name="Text 20"/>
          <p:cNvSpPr/>
          <p:nvPr/>
        </p:nvSpPr>
        <p:spPr>
          <a:xfrm>
            <a:off x="6309360" y="2103120"/>
            <a:ext cx="82296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p:txBody>
      </p:sp>
      <p:sp>
        <p:nvSpPr>
          <p:cNvPr id="23" name="Text 21"/>
          <p:cNvSpPr/>
          <p:nvPr/>
        </p:nvSpPr>
        <p:spPr>
          <a:xfrm>
            <a:off x="7132320" y="2103120"/>
            <a:ext cx="822960" cy="2926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Pass?</a:t>
            </a:r>
            <a:endParaRPr lang="en-US" sz="1000" dirty="0"/>
          </a:p>
        </p:txBody>
      </p:sp>
      <p:sp>
        <p:nvSpPr>
          <p:cNvPr id="24" name="Shape 22"/>
          <p:cNvSpPr/>
          <p:nvPr/>
        </p:nvSpPr>
        <p:spPr>
          <a:xfrm>
            <a:off x="457200" y="2432304"/>
            <a:ext cx="2926080" cy="338328"/>
          </a:xfrm>
          <a:prstGeom prst="rect">
            <a:avLst/>
          </a:prstGeom>
          <a:solidFill>
            <a:srgbClr val="EDF2F7"/>
          </a:solidFill>
          <a:ln/>
        </p:spPr>
        <p:txBody>
          <a:bodyPr/>
          <a:lstStyle/>
          <a:p>
            <a:endParaRPr lang="en-US"/>
          </a:p>
        </p:txBody>
      </p:sp>
      <p:sp>
        <p:nvSpPr>
          <p:cNvPr id="25" name="Text 23"/>
          <p:cNvSpPr/>
          <p:nvPr/>
        </p:nvSpPr>
        <p:spPr>
          <a:xfrm>
            <a:off x="512064" y="2432304"/>
            <a:ext cx="2852928" cy="338328"/>
          </a:xfrm>
          <a:prstGeom prst="rect">
            <a:avLst/>
          </a:prstGeom>
          <a:noFill/>
          <a:ln/>
        </p:spPr>
        <p:txBody>
          <a:bodyPr wrap="square"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registerPrescription()</a:t>
            </a:r>
            <a:endParaRPr lang="en-US" sz="1000" dirty="0"/>
          </a:p>
        </p:txBody>
      </p:sp>
      <p:sp>
        <p:nvSpPr>
          <p:cNvPr id="26" name="Shape 24"/>
          <p:cNvSpPr/>
          <p:nvPr/>
        </p:nvSpPr>
        <p:spPr>
          <a:xfrm>
            <a:off x="3383280" y="2432304"/>
            <a:ext cx="914400" cy="338328"/>
          </a:xfrm>
          <a:prstGeom prst="rect">
            <a:avLst/>
          </a:prstGeom>
          <a:solidFill>
            <a:srgbClr val="EDF2F7"/>
          </a:solidFill>
          <a:ln/>
        </p:spPr>
        <p:txBody>
          <a:bodyPr/>
          <a:lstStyle/>
          <a:p>
            <a:endParaRPr lang="en-US"/>
          </a:p>
        </p:txBody>
      </p:sp>
      <p:sp>
        <p:nvSpPr>
          <p:cNvPr id="27" name="Text 25"/>
          <p:cNvSpPr/>
          <p:nvPr/>
        </p:nvSpPr>
        <p:spPr>
          <a:xfrm>
            <a:off x="3438144" y="2432304"/>
            <a:ext cx="84124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8</a:t>
            </a:r>
            <a:endParaRPr lang="en-US" sz="1000" dirty="0"/>
          </a:p>
        </p:txBody>
      </p:sp>
      <p:sp>
        <p:nvSpPr>
          <p:cNvPr id="28" name="Shape 26"/>
          <p:cNvSpPr/>
          <p:nvPr/>
        </p:nvSpPr>
        <p:spPr>
          <a:xfrm>
            <a:off x="4297680" y="2432304"/>
            <a:ext cx="914400" cy="338328"/>
          </a:xfrm>
          <a:prstGeom prst="rect">
            <a:avLst/>
          </a:prstGeom>
          <a:solidFill>
            <a:srgbClr val="EDF2F7"/>
          </a:solidFill>
          <a:ln/>
        </p:spPr>
        <p:txBody>
          <a:bodyPr/>
          <a:lstStyle/>
          <a:p>
            <a:endParaRPr lang="en-US"/>
          </a:p>
        </p:txBody>
      </p:sp>
      <p:sp>
        <p:nvSpPr>
          <p:cNvPr id="29" name="Text 27"/>
          <p:cNvSpPr/>
          <p:nvPr/>
        </p:nvSpPr>
        <p:spPr>
          <a:xfrm>
            <a:off x="4352544" y="2432304"/>
            <a:ext cx="84124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4</a:t>
            </a:r>
            <a:endParaRPr lang="en-US" sz="1000" dirty="0"/>
          </a:p>
        </p:txBody>
      </p:sp>
      <p:sp>
        <p:nvSpPr>
          <p:cNvPr id="30" name="Shape 28"/>
          <p:cNvSpPr/>
          <p:nvPr/>
        </p:nvSpPr>
        <p:spPr>
          <a:xfrm>
            <a:off x="5212080" y="2432304"/>
            <a:ext cx="1005840" cy="338328"/>
          </a:xfrm>
          <a:prstGeom prst="rect">
            <a:avLst/>
          </a:prstGeom>
          <a:solidFill>
            <a:srgbClr val="EDF2F7"/>
          </a:solidFill>
          <a:ln/>
        </p:spPr>
        <p:txBody>
          <a:bodyPr/>
          <a:lstStyle/>
          <a:p>
            <a:endParaRPr lang="en-US"/>
          </a:p>
        </p:txBody>
      </p:sp>
      <p:sp>
        <p:nvSpPr>
          <p:cNvPr id="31" name="Text 29"/>
          <p:cNvSpPr/>
          <p:nvPr/>
        </p:nvSpPr>
        <p:spPr>
          <a:xfrm>
            <a:off x="5266944" y="2432304"/>
            <a:ext cx="93268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4</a:t>
            </a:r>
            <a:endParaRPr lang="en-US" sz="1000" dirty="0"/>
          </a:p>
        </p:txBody>
      </p:sp>
      <p:sp>
        <p:nvSpPr>
          <p:cNvPr id="32" name="Shape 30"/>
          <p:cNvSpPr/>
          <p:nvPr/>
        </p:nvSpPr>
        <p:spPr>
          <a:xfrm>
            <a:off x="6217920" y="2432304"/>
            <a:ext cx="822960" cy="338328"/>
          </a:xfrm>
          <a:prstGeom prst="rect">
            <a:avLst/>
          </a:prstGeom>
          <a:solidFill>
            <a:srgbClr val="EDF2F7"/>
          </a:solidFill>
          <a:ln/>
        </p:spPr>
        <p:txBody>
          <a:bodyPr/>
          <a:lstStyle/>
          <a:p>
            <a:endParaRPr lang="en-US"/>
          </a:p>
        </p:txBody>
      </p:sp>
      <p:sp>
        <p:nvSpPr>
          <p:cNvPr id="33" name="Text 31"/>
          <p:cNvSpPr/>
          <p:nvPr/>
        </p:nvSpPr>
        <p:spPr>
          <a:xfrm>
            <a:off x="6272784" y="2432304"/>
            <a:ext cx="74980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16</a:t>
            </a:r>
            <a:endParaRPr lang="en-US" sz="1000" dirty="0"/>
          </a:p>
        </p:txBody>
      </p:sp>
      <p:sp>
        <p:nvSpPr>
          <p:cNvPr id="34" name="Shape 32"/>
          <p:cNvSpPr/>
          <p:nvPr/>
        </p:nvSpPr>
        <p:spPr>
          <a:xfrm>
            <a:off x="7040880" y="2432304"/>
            <a:ext cx="822960" cy="338328"/>
          </a:xfrm>
          <a:prstGeom prst="rect">
            <a:avLst/>
          </a:prstGeom>
          <a:solidFill>
            <a:srgbClr val="EDF2F7"/>
          </a:solidFill>
          <a:ln/>
        </p:spPr>
        <p:txBody>
          <a:bodyPr/>
          <a:lstStyle/>
          <a:p>
            <a:endParaRPr lang="en-US"/>
          </a:p>
        </p:txBody>
      </p:sp>
      <p:sp>
        <p:nvSpPr>
          <p:cNvPr id="35" name="Shape 33"/>
          <p:cNvSpPr/>
          <p:nvPr/>
        </p:nvSpPr>
        <p:spPr>
          <a:xfrm>
            <a:off x="7296912" y="2505456"/>
            <a:ext cx="201168" cy="201168"/>
          </a:xfrm>
          <a:prstGeom prst="ellipse">
            <a:avLst/>
          </a:prstGeom>
          <a:solidFill>
            <a:srgbClr val="27AE60"/>
          </a:solidFill>
          <a:ln/>
        </p:spPr>
        <p:txBody>
          <a:bodyPr/>
          <a:lstStyle/>
          <a:p>
            <a:endParaRPr lang="en-US"/>
          </a:p>
        </p:txBody>
      </p:sp>
      <p:sp>
        <p:nvSpPr>
          <p:cNvPr id="36" name="Text 34"/>
          <p:cNvSpPr/>
          <p:nvPr/>
        </p:nvSpPr>
        <p:spPr>
          <a:xfrm>
            <a:off x="7296912" y="2505456"/>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37" name="Shape 35"/>
          <p:cNvSpPr/>
          <p:nvPr/>
        </p:nvSpPr>
        <p:spPr>
          <a:xfrm>
            <a:off x="457200" y="2788920"/>
            <a:ext cx="2926080" cy="338328"/>
          </a:xfrm>
          <a:prstGeom prst="rect">
            <a:avLst/>
          </a:prstGeom>
          <a:solidFill>
            <a:srgbClr val="FFFFFF"/>
          </a:solidFill>
          <a:ln/>
        </p:spPr>
        <p:txBody>
          <a:bodyPr/>
          <a:lstStyle/>
          <a:p>
            <a:endParaRPr lang="en-US"/>
          </a:p>
        </p:txBody>
      </p:sp>
      <p:sp>
        <p:nvSpPr>
          <p:cNvPr id="38" name="Text 36"/>
          <p:cNvSpPr/>
          <p:nvPr/>
        </p:nvSpPr>
        <p:spPr>
          <a:xfrm>
            <a:off x="512064" y="2788920"/>
            <a:ext cx="2852928" cy="338328"/>
          </a:xfrm>
          <a:prstGeom prst="rect">
            <a:avLst/>
          </a:prstGeom>
          <a:noFill/>
          <a:ln/>
        </p:spPr>
        <p:txBody>
          <a:bodyPr wrap="square"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calculateDosage()</a:t>
            </a:r>
            <a:endParaRPr lang="en-US" sz="1000" dirty="0"/>
          </a:p>
        </p:txBody>
      </p:sp>
      <p:sp>
        <p:nvSpPr>
          <p:cNvPr id="39" name="Shape 37"/>
          <p:cNvSpPr/>
          <p:nvPr/>
        </p:nvSpPr>
        <p:spPr>
          <a:xfrm>
            <a:off x="3383280" y="2788920"/>
            <a:ext cx="914400" cy="338328"/>
          </a:xfrm>
          <a:prstGeom prst="rect">
            <a:avLst/>
          </a:prstGeom>
          <a:solidFill>
            <a:srgbClr val="FFFFFF"/>
          </a:solidFill>
          <a:ln/>
        </p:spPr>
        <p:txBody>
          <a:bodyPr/>
          <a:lstStyle/>
          <a:p>
            <a:endParaRPr lang="en-US"/>
          </a:p>
        </p:txBody>
      </p:sp>
      <p:sp>
        <p:nvSpPr>
          <p:cNvPr id="40" name="Text 38"/>
          <p:cNvSpPr/>
          <p:nvPr/>
        </p:nvSpPr>
        <p:spPr>
          <a:xfrm>
            <a:off x="3438144" y="2788920"/>
            <a:ext cx="84124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17</a:t>
            </a:r>
            <a:endParaRPr lang="en-US" sz="1000" dirty="0"/>
          </a:p>
        </p:txBody>
      </p:sp>
      <p:sp>
        <p:nvSpPr>
          <p:cNvPr id="41" name="Shape 39"/>
          <p:cNvSpPr/>
          <p:nvPr/>
        </p:nvSpPr>
        <p:spPr>
          <a:xfrm>
            <a:off x="4297680" y="2788920"/>
            <a:ext cx="914400" cy="338328"/>
          </a:xfrm>
          <a:prstGeom prst="rect">
            <a:avLst/>
          </a:prstGeom>
          <a:solidFill>
            <a:srgbClr val="FFFFFF"/>
          </a:solidFill>
          <a:ln/>
        </p:spPr>
        <p:txBody>
          <a:bodyPr/>
          <a:lstStyle/>
          <a:p>
            <a:endParaRPr lang="en-US"/>
          </a:p>
        </p:txBody>
      </p:sp>
      <p:sp>
        <p:nvSpPr>
          <p:cNvPr id="42" name="Text 40"/>
          <p:cNvSpPr/>
          <p:nvPr/>
        </p:nvSpPr>
        <p:spPr>
          <a:xfrm>
            <a:off x="4352544" y="2788920"/>
            <a:ext cx="84124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5</a:t>
            </a:r>
            <a:endParaRPr lang="en-US" sz="1000" dirty="0"/>
          </a:p>
        </p:txBody>
      </p:sp>
      <p:sp>
        <p:nvSpPr>
          <p:cNvPr id="43" name="Shape 41"/>
          <p:cNvSpPr/>
          <p:nvPr/>
        </p:nvSpPr>
        <p:spPr>
          <a:xfrm>
            <a:off x="5212080" y="2788920"/>
            <a:ext cx="1005840" cy="338328"/>
          </a:xfrm>
          <a:prstGeom prst="rect">
            <a:avLst/>
          </a:prstGeom>
          <a:solidFill>
            <a:srgbClr val="FFFFFF"/>
          </a:solidFill>
          <a:ln/>
        </p:spPr>
        <p:txBody>
          <a:bodyPr/>
          <a:lstStyle/>
          <a:p>
            <a:endParaRPr lang="en-US"/>
          </a:p>
        </p:txBody>
      </p:sp>
      <p:sp>
        <p:nvSpPr>
          <p:cNvPr id="44" name="Text 42"/>
          <p:cNvSpPr/>
          <p:nvPr/>
        </p:nvSpPr>
        <p:spPr>
          <a:xfrm>
            <a:off x="5266944" y="2788920"/>
            <a:ext cx="93268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5</a:t>
            </a:r>
            <a:endParaRPr lang="en-US" sz="1000" dirty="0"/>
          </a:p>
        </p:txBody>
      </p:sp>
      <p:sp>
        <p:nvSpPr>
          <p:cNvPr id="45" name="Shape 43"/>
          <p:cNvSpPr/>
          <p:nvPr/>
        </p:nvSpPr>
        <p:spPr>
          <a:xfrm>
            <a:off x="6217920" y="2788920"/>
            <a:ext cx="822960" cy="338328"/>
          </a:xfrm>
          <a:prstGeom prst="rect">
            <a:avLst/>
          </a:prstGeom>
          <a:solidFill>
            <a:srgbClr val="FFFFFF"/>
          </a:solidFill>
          <a:ln/>
        </p:spPr>
        <p:txBody>
          <a:bodyPr/>
          <a:lstStyle/>
          <a:p>
            <a:endParaRPr lang="en-US"/>
          </a:p>
        </p:txBody>
      </p:sp>
      <p:sp>
        <p:nvSpPr>
          <p:cNvPr id="46" name="Text 44"/>
          <p:cNvSpPr/>
          <p:nvPr/>
        </p:nvSpPr>
        <p:spPr>
          <a:xfrm>
            <a:off x="6272784" y="2788920"/>
            <a:ext cx="74980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27</a:t>
            </a:r>
            <a:endParaRPr lang="en-US" sz="1000" dirty="0"/>
          </a:p>
        </p:txBody>
      </p:sp>
      <p:sp>
        <p:nvSpPr>
          <p:cNvPr id="47" name="Shape 45"/>
          <p:cNvSpPr/>
          <p:nvPr/>
        </p:nvSpPr>
        <p:spPr>
          <a:xfrm>
            <a:off x="7040880" y="2788920"/>
            <a:ext cx="822960" cy="338328"/>
          </a:xfrm>
          <a:prstGeom prst="rect">
            <a:avLst/>
          </a:prstGeom>
          <a:solidFill>
            <a:srgbClr val="FFFFFF"/>
          </a:solidFill>
          <a:ln/>
        </p:spPr>
        <p:txBody>
          <a:bodyPr/>
          <a:lstStyle/>
          <a:p>
            <a:endParaRPr lang="en-US"/>
          </a:p>
        </p:txBody>
      </p:sp>
      <p:sp>
        <p:nvSpPr>
          <p:cNvPr id="48" name="Shape 46"/>
          <p:cNvSpPr/>
          <p:nvPr/>
        </p:nvSpPr>
        <p:spPr>
          <a:xfrm>
            <a:off x="7296912" y="2862072"/>
            <a:ext cx="201168" cy="201168"/>
          </a:xfrm>
          <a:prstGeom prst="ellipse">
            <a:avLst/>
          </a:prstGeom>
          <a:solidFill>
            <a:srgbClr val="27AE60"/>
          </a:solidFill>
          <a:ln/>
        </p:spPr>
        <p:txBody>
          <a:bodyPr/>
          <a:lstStyle/>
          <a:p>
            <a:endParaRPr lang="en-US"/>
          </a:p>
        </p:txBody>
      </p:sp>
      <p:sp>
        <p:nvSpPr>
          <p:cNvPr id="49" name="Text 47"/>
          <p:cNvSpPr/>
          <p:nvPr/>
        </p:nvSpPr>
        <p:spPr>
          <a:xfrm>
            <a:off x="7296912" y="2862072"/>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50" name="Shape 48"/>
          <p:cNvSpPr/>
          <p:nvPr/>
        </p:nvSpPr>
        <p:spPr>
          <a:xfrm>
            <a:off x="457200" y="3145536"/>
            <a:ext cx="2926080" cy="338328"/>
          </a:xfrm>
          <a:prstGeom prst="rect">
            <a:avLst/>
          </a:prstGeom>
          <a:solidFill>
            <a:srgbClr val="EDF2F7"/>
          </a:solidFill>
          <a:ln/>
        </p:spPr>
        <p:txBody>
          <a:bodyPr/>
          <a:lstStyle/>
          <a:p>
            <a:endParaRPr lang="en-US"/>
          </a:p>
        </p:txBody>
      </p:sp>
      <p:sp>
        <p:nvSpPr>
          <p:cNvPr id="51" name="Text 49"/>
          <p:cNvSpPr/>
          <p:nvPr/>
        </p:nvSpPr>
        <p:spPr>
          <a:xfrm>
            <a:off x="512064" y="3145536"/>
            <a:ext cx="2852928" cy="338328"/>
          </a:xfrm>
          <a:prstGeom prst="rect">
            <a:avLst/>
          </a:prstGeom>
          <a:noFill/>
          <a:ln/>
        </p:spPr>
        <p:txBody>
          <a:bodyPr wrap="square"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validatePrescription()</a:t>
            </a:r>
            <a:endParaRPr lang="en-US" sz="1000" dirty="0"/>
          </a:p>
        </p:txBody>
      </p:sp>
      <p:sp>
        <p:nvSpPr>
          <p:cNvPr id="52" name="Shape 50"/>
          <p:cNvSpPr/>
          <p:nvPr/>
        </p:nvSpPr>
        <p:spPr>
          <a:xfrm>
            <a:off x="3383280" y="3145536"/>
            <a:ext cx="914400" cy="338328"/>
          </a:xfrm>
          <a:prstGeom prst="rect">
            <a:avLst/>
          </a:prstGeom>
          <a:solidFill>
            <a:srgbClr val="EDF2F7"/>
          </a:solidFill>
          <a:ln/>
        </p:spPr>
        <p:txBody>
          <a:bodyPr/>
          <a:lstStyle/>
          <a:p>
            <a:endParaRPr lang="en-US"/>
          </a:p>
        </p:txBody>
      </p:sp>
      <p:sp>
        <p:nvSpPr>
          <p:cNvPr id="53" name="Text 51"/>
          <p:cNvSpPr/>
          <p:nvPr/>
        </p:nvSpPr>
        <p:spPr>
          <a:xfrm>
            <a:off x="3438144" y="3145536"/>
            <a:ext cx="84124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4</a:t>
            </a:r>
            <a:endParaRPr lang="en-US" sz="1000" dirty="0"/>
          </a:p>
        </p:txBody>
      </p:sp>
      <p:sp>
        <p:nvSpPr>
          <p:cNvPr id="54" name="Shape 52"/>
          <p:cNvSpPr/>
          <p:nvPr/>
        </p:nvSpPr>
        <p:spPr>
          <a:xfrm>
            <a:off x="4297680" y="3145536"/>
            <a:ext cx="914400" cy="338328"/>
          </a:xfrm>
          <a:prstGeom prst="rect">
            <a:avLst/>
          </a:prstGeom>
          <a:solidFill>
            <a:srgbClr val="EDF2F7"/>
          </a:solidFill>
          <a:ln/>
        </p:spPr>
        <p:txBody>
          <a:bodyPr/>
          <a:lstStyle/>
          <a:p>
            <a:endParaRPr lang="en-US"/>
          </a:p>
        </p:txBody>
      </p:sp>
      <p:sp>
        <p:nvSpPr>
          <p:cNvPr id="55" name="Text 53"/>
          <p:cNvSpPr/>
          <p:nvPr/>
        </p:nvSpPr>
        <p:spPr>
          <a:xfrm>
            <a:off x="4352544" y="3145536"/>
            <a:ext cx="84124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3</a:t>
            </a:r>
            <a:endParaRPr lang="en-US" sz="1000" dirty="0"/>
          </a:p>
        </p:txBody>
      </p:sp>
      <p:sp>
        <p:nvSpPr>
          <p:cNvPr id="56" name="Shape 54"/>
          <p:cNvSpPr/>
          <p:nvPr/>
        </p:nvSpPr>
        <p:spPr>
          <a:xfrm>
            <a:off x="5212080" y="3145536"/>
            <a:ext cx="1005840" cy="338328"/>
          </a:xfrm>
          <a:prstGeom prst="rect">
            <a:avLst/>
          </a:prstGeom>
          <a:solidFill>
            <a:srgbClr val="EDF2F7"/>
          </a:solidFill>
          <a:ln/>
        </p:spPr>
        <p:txBody>
          <a:bodyPr/>
          <a:lstStyle/>
          <a:p>
            <a:endParaRPr lang="en-US"/>
          </a:p>
        </p:txBody>
      </p:sp>
      <p:sp>
        <p:nvSpPr>
          <p:cNvPr id="57" name="Text 55"/>
          <p:cNvSpPr/>
          <p:nvPr/>
        </p:nvSpPr>
        <p:spPr>
          <a:xfrm>
            <a:off x="5266944" y="3145536"/>
            <a:ext cx="93268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1</a:t>
            </a:r>
            <a:endParaRPr lang="en-US" sz="1000" dirty="0"/>
          </a:p>
        </p:txBody>
      </p:sp>
      <p:sp>
        <p:nvSpPr>
          <p:cNvPr id="58" name="Shape 56"/>
          <p:cNvSpPr/>
          <p:nvPr/>
        </p:nvSpPr>
        <p:spPr>
          <a:xfrm>
            <a:off x="6217920" y="3145536"/>
            <a:ext cx="822960" cy="338328"/>
          </a:xfrm>
          <a:prstGeom prst="rect">
            <a:avLst/>
          </a:prstGeom>
          <a:solidFill>
            <a:srgbClr val="EDF2F7"/>
          </a:solidFill>
          <a:ln/>
        </p:spPr>
        <p:txBody>
          <a:bodyPr/>
          <a:lstStyle/>
          <a:p>
            <a:endParaRPr lang="en-US"/>
          </a:p>
        </p:txBody>
      </p:sp>
      <p:sp>
        <p:nvSpPr>
          <p:cNvPr id="59" name="Text 57"/>
          <p:cNvSpPr/>
          <p:nvPr/>
        </p:nvSpPr>
        <p:spPr>
          <a:xfrm>
            <a:off x="6272784" y="3145536"/>
            <a:ext cx="74980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8</a:t>
            </a:r>
            <a:endParaRPr lang="en-US" sz="1000" dirty="0"/>
          </a:p>
        </p:txBody>
      </p:sp>
      <p:sp>
        <p:nvSpPr>
          <p:cNvPr id="60" name="Shape 58"/>
          <p:cNvSpPr/>
          <p:nvPr/>
        </p:nvSpPr>
        <p:spPr>
          <a:xfrm>
            <a:off x="7040880" y="3145536"/>
            <a:ext cx="822960" cy="338328"/>
          </a:xfrm>
          <a:prstGeom prst="rect">
            <a:avLst/>
          </a:prstGeom>
          <a:solidFill>
            <a:srgbClr val="EDF2F7"/>
          </a:solidFill>
          <a:ln/>
        </p:spPr>
        <p:txBody>
          <a:bodyPr/>
          <a:lstStyle/>
          <a:p>
            <a:endParaRPr lang="en-US"/>
          </a:p>
        </p:txBody>
      </p:sp>
      <p:sp>
        <p:nvSpPr>
          <p:cNvPr id="61" name="Shape 59"/>
          <p:cNvSpPr/>
          <p:nvPr/>
        </p:nvSpPr>
        <p:spPr>
          <a:xfrm>
            <a:off x="7296912" y="3218688"/>
            <a:ext cx="201168" cy="201168"/>
          </a:xfrm>
          <a:prstGeom prst="ellipse">
            <a:avLst/>
          </a:prstGeom>
          <a:solidFill>
            <a:srgbClr val="27AE60"/>
          </a:solidFill>
          <a:ln/>
        </p:spPr>
        <p:txBody>
          <a:bodyPr/>
          <a:lstStyle/>
          <a:p>
            <a:endParaRPr lang="en-US"/>
          </a:p>
        </p:txBody>
      </p:sp>
      <p:sp>
        <p:nvSpPr>
          <p:cNvPr id="62" name="Text 60"/>
          <p:cNvSpPr/>
          <p:nvPr/>
        </p:nvSpPr>
        <p:spPr>
          <a:xfrm>
            <a:off x="7296912" y="3218688"/>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63" name="Shape 61"/>
          <p:cNvSpPr/>
          <p:nvPr/>
        </p:nvSpPr>
        <p:spPr>
          <a:xfrm>
            <a:off x="457200" y="3502152"/>
            <a:ext cx="2926080" cy="338328"/>
          </a:xfrm>
          <a:prstGeom prst="rect">
            <a:avLst/>
          </a:prstGeom>
          <a:solidFill>
            <a:srgbClr val="FFFFFF"/>
          </a:solidFill>
          <a:ln/>
        </p:spPr>
        <p:txBody>
          <a:bodyPr/>
          <a:lstStyle/>
          <a:p>
            <a:endParaRPr lang="en-US"/>
          </a:p>
        </p:txBody>
      </p:sp>
      <p:sp>
        <p:nvSpPr>
          <p:cNvPr id="64" name="Text 62"/>
          <p:cNvSpPr/>
          <p:nvPr/>
        </p:nvSpPr>
        <p:spPr>
          <a:xfrm>
            <a:off x="512064" y="3502152"/>
            <a:ext cx="2852928" cy="338328"/>
          </a:xfrm>
          <a:prstGeom prst="rect">
            <a:avLst/>
          </a:prstGeom>
          <a:noFill/>
          <a:ln/>
        </p:spPr>
        <p:txBody>
          <a:bodyPr wrap="square"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dispenseMedication()</a:t>
            </a:r>
            <a:endParaRPr lang="en-US" sz="1000" dirty="0"/>
          </a:p>
        </p:txBody>
      </p:sp>
      <p:sp>
        <p:nvSpPr>
          <p:cNvPr id="65" name="Shape 63"/>
          <p:cNvSpPr/>
          <p:nvPr/>
        </p:nvSpPr>
        <p:spPr>
          <a:xfrm>
            <a:off x="3383280" y="3502152"/>
            <a:ext cx="914400" cy="338328"/>
          </a:xfrm>
          <a:prstGeom prst="rect">
            <a:avLst/>
          </a:prstGeom>
          <a:solidFill>
            <a:srgbClr val="FFFFFF"/>
          </a:solidFill>
          <a:ln/>
        </p:spPr>
        <p:txBody>
          <a:bodyPr/>
          <a:lstStyle/>
          <a:p>
            <a:endParaRPr lang="en-US"/>
          </a:p>
        </p:txBody>
      </p:sp>
      <p:sp>
        <p:nvSpPr>
          <p:cNvPr id="66" name="Text 64"/>
          <p:cNvSpPr/>
          <p:nvPr/>
        </p:nvSpPr>
        <p:spPr>
          <a:xfrm>
            <a:off x="3438144" y="3502152"/>
            <a:ext cx="84124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5</a:t>
            </a:r>
            <a:endParaRPr lang="en-US" sz="1000" dirty="0"/>
          </a:p>
        </p:txBody>
      </p:sp>
      <p:sp>
        <p:nvSpPr>
          <p:cNvPr id="67" name="Shape 65"/>
          <p:cNvSpPr/>
          <p:nvPr/>
        </p:nvSpPr>
        <p:spPr>
          <a:xfrm>
            <a:off x="4297680" y="3502152"/>
            <a:ext cx="914400" cy="338328"/>
          </a:xfrm>
          <a:prstGeom prst="rect">
            <a:avLst/>
          </a:prstGeom>
          <a:solidFill>
            <a:srgbClr val="FFFFFF"/>
          </a:solidFill>
          <a:ln/>
        </p:spPr>
        <p:txBody>
          <a:bodyPr/>
          <a:lstStyle/>
          <a:p>
            <a:endParaRPr lang="en-US"/>
          </a:p>
        </p:txBody>
      </p:sp>
      <p:sp>
        <p:nvSpPr>
          <p:cNvPr id="68" name="Text 66"/>
          <p:cNvSpPr/>
          <p:nvPr/>
        </p:nvSpPr>
        <p:spPr>
          <a:xfrm>
            <a:off x="4352544" y="3502152"/>
            <a:ext cx="84124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2</a:t>
            </a:r>
            <a:endParaRPr lang="en-US" sz="1000" dirty="0"/>
          </a:p>
        </p:txBody>
      </p:sp>
      <p:sp>
        <p:nvSpPr>
          <p:cNvPr id="69" name="Shape 67"/>
          <p:cNvSpPr/>
          <p:nvPr/>
        </p:nvSpPr>
        <p:spPr>
          <a:xfrm>
            <a:off x="5212080" y="3502152"/>
            <a:ext cx="1005840" cy="338328"/>
          </a:xfrm>
          <a:prstGeom prst="rect">
            <a:avLst/>
          </a:prstGeom>
          <a:solidFill>
            <a:srgbClr val="FFFFFF"/>
          </a:solidFill>
          <a:ln/>
        </p:spPr>
        <p:txBody>
          <a:bodyPr/>
          <a:lstStyle/>
          <a:p>
            <a:endParaRPr lang="en-US"/>
          </a:p>
        </p:txBody>
      </p:sp>
      <p:sp>
        <p:nvSpPr>
          <p:cNvPr id="70" name="Text 68"/>
          <p:cNvSpPr/>
          <p:nvPr/>
        </p:nvSpPr>
        <p:spPr>
          <a:xfrm>
            <a:off x="5266944" y="3502152"/>
            <a:ext cx="93268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3</a:t>
            </a:r>
            <a:endParaRPr lang="en-US" sz="1000" dirty="0"/>
          </a:p>
        </p:txBody>
      </p:sp>
      <p:sp>
        <p:nvSpPr>
          <p:cNvPr id="71" name="Shape 69"/>
          <p:cNvSpPr/>
          <p:nvPr/>
        </p:nvSpPr>
        <p:spPr>
          <a:xfrm>
            <a:off x="6217920" y="3502152"/>
            <a:ext cx="822960" cy="338328"/>
          </a:xfrm>
          <a:prstGeom prst="rect">
            <a:avLst/>
          </a:prstGeom>
          <a:solidFill>
            <a:srgbClr val="FFFFFF"/>
          </a:solidFill>
          <a:ln/>
        </p:spPr>
        <p:txBody>
          <a:bodyPr/>
          <a:lstStyle/>
          <a:p>
            <a:endParaRPr lang="en-US"/>
          </a:p>
        </p:txBody>
      </p:sp>
      <p:sp>
        <p:nvSpPr>
          <p:cNvPr id="72" name="Text 70"/>
          <p:cNvSpPr/>
          <p:nvPr/>
        </p:nvSpPr>
        <p:spPr>
          <a:xfrm>
            <a:off x="6272784" y="3502152"/>
            <a:ext cx="74980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10</a:t>
            </a:r>
            <a:endParaRPr lang="en-US" sz="1000" dirty="0"/>
          </a:p>
        </p:txBody>
      </p:sp>
      <p:sp>
        <p:nvSpPr>
          <p:cNvPr id="73" name="Shape 71"/>
          <p:cNvSpPr/>
          <p:nvPr/>
        </p:nvSpPr>
        <p:spPr>
          <a:xfrm>
            <a:off x="7040880" y="3502152"/>
            <a:ext cx="822960" cy="338328"/>
          </a:xfrm>
          <a:prstGeom prst="rect">
            <a:avLst/>
          </a:prstGeom>
          <a:solidFill>
            <a:srgbClr val="FFFFFF"/>
          </a:solidFill>
          <a:ln/>
        </p:spPr>
        <p:txBody>
          <a:bodyPr/>
          <a:lstStyle/>
          <a:p>
            <a:endParaRPr lang="en-US"/>
          </a:p>
        </p:txBody>
      </p:sp>
      <p:sp>
        <p:nvSpPr>
          <p:cNvPr id="74" name="Shape 72"/>
          <p:cNvSpPr/>
          <p:nvPr/>
        </p:nvSpPr>
        <p:spPr>
          <a:xfrm>
            <a:off x="7296912" y="3575304"/>
            <a:ext cx="201168" cy="201168"/>
          </a:xfrm>
          <a:prstGeom prst="ellipse">
            <a:avLst/>
          </a:prstGeom>
          <a:solidFill>
            <a:srgbClr val="27AE60"/>
          </a:solidFill>
          <a:ln/>
        </p:spPr>
        <p:txBody>
          <a:bodyPr/>
          <a:lstStyle/>
          <a:p>
            <a:endParaRPr lang="en-US"/>
          </a:p>
        </p:txBody>
      </p:sp>
      <p:sp>
        <p:nvSpPr>
          <p:cNvPr id="75" name="Text 73"/>
          <p:cNvSpPr/>
          <p:nvPr/>
        </p:nvSpPr>
        <p:spPr>
          <a:xfrm>
            <a:off x="7296912" y="3575304"/>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76" name="Shape 74"/>
          <p:cNvSpPr/>
          <p:nvPr/>
        </p:nvSpPr>
        <p:spPr>
          <a:xfrm>
            <a:off x="457200" y="3858768"/>
            <a:ext cx="2926080" cy="338328"/>
          </a:xfrm>
          <a:prstGeom prst="rect">
            <a:avLst/>
          </a:prstGeom>
          <a:solidFill>
            <a:srgbClr val="EDF2F7"/>
          </a:solidFill>
          <a:ln/>
        </p:spPr>
        <p:txBody>
          <a:bodyPr/>
          <a:lstStyle/>
          <a:p>
            <a:endParaRPr lang="en-US"/>
          </a:p>
        </p:txBody>
      </p:sp>
      <p:sp>
        <p:nvSpPr>
          <p:cNvPr id="77" name="Text 75"/>
          <p:cNvSpPr/>
          <p:nvPr/>
        </p:nvSpPr>
        <p:spPr>
          <a:xfrm>
            <a:off x="512064" y="3858768"/>
            <a:ext cx="2852928" cy="338328"/>
          </a:xfrm>
          <a:prstGeom prst="rect">
            <a:avLst/>
          </a:prstGeom>
          <a:noFill/>
          <a:ln/>
        </p:spPr>
        <p:txBody>
          <a:bodyPr wrap="square"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calculateCost()</a:t>
            </a:r>
            <a:endParaRPr lang="en-US" sz="1000" dirty="0"/>
          </a:p>
        </p:txBody>
      </p:sp>
      <p:sp>
        <p:nvSpPr>
          <p:cNvPr id="78" name="Shape 76"/>
          <p:cNvSpPr/>
          <p:nvPr/>
        </p:nvSpPr>
        <p:spPr>
          <a:xfrm>
            <a:off x="3383280" y="3858768"/>
            <a:ext cx="914400" cy="338328"/>
          </a:xfrm>
          <a:prstGeom prst="rect">
            <a:avLst/>
          </a:prstGeom>
          <a:solidFill>
            <a:srgbClr val="EDF2F7"/>
          </a:solidFill>
          <a:ln/>
        </p:spPr>
        <p:txBody>
          <a:bodyPr/>
          <a:lstStyle/>
          <a:p>
            <a:endParaRPr lang="en-US"/>
          </a:p>
        </p:txBody>
      </p:sp>
      <p:sp>
        <p:nvSpPr>
          <p:cNvPr id="79" name="Text 77"/>
          <p:cNvSpPr/>
          <p:nvPr/>
        </p:nvSpPr>
        <p:spPr>
          <a:xfrm>
            <a:off x="3438144" y="3858768"/>
            <a:ext cx="84124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11</a:t>
            </a:r>
            <a:endParaRPr lang="en-US" sz="1000" dirty="0"/>
          </a:p>
        </p:txBody>
      </p:sp>
      <p:sp>
        <p:nvSpPr>
          <p:cNvPr id="80" name="Shape 78"/>
          <p:cNvSpPr/>
          <p:nvPr/>
        </p:nvSpPr>
        <p:spPr>
          <a:xfrm>
            <a:off x="4297680" y="3858768"/>
            <a:ext cx="914400" cy="338328"/>
          </a:xfrm>
          <a:prstGeom prst="rect">
            <a:avLst/>
          </a:prstGeom>
          <a:solidFill>
            <a:srgbClr val="EDF2F7"/>
          </a:solidFill>
          <a:ln/>
        </p:spPr>
        <p:txBody>
          <a:bodyPr/>
          <a:lstStyle/>
          <a:p>
            <a:endParaRPr lang="en-US"/>
          </a:p>
        </p:txBody>
      </p:sp>
      <p:sp>
        <p:nvSpPr>
          <p:cNvPr id="81" name="Text 79"/>
          <p:cNvSpPr/>
          <p:nvPr/>
        </p:nvSpPr>
        <p:spPr>
          <a:xfrm>
            <a:off x="4352544" y="3858768"/>
            <a:ext cx="84124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3</a:t>
            </a:r>
            <a:endParaRPr lang="en-US" sz="1000" dirty="0"/>
          </a:p>
        </p:txBody>
      </p:sp>
      <p:sp>
        <p:nvSpPr>
          <p:cNvPr id="82" name="Shape 80"/>
          <p:cNvSpPr/>
          <p:nvPr/>
        </p:nvSpPr>
        <p:spPr>
          <a:xfrm>
            <a:off x="5212080" y="3858768"/>
            <a:ext cx="1005840" cy="338328"/>
          </a:xfrm>
          <a:prstGeom prst="rect">
            <a:avLst/>
          </a:prstGeom>
          <a:solidFill>
            <a:srgbClr val="EDF2F7"/>
          </a:solidFill>
          <a:ln/>
        </p:spPr>
        <p:txBody>
          <a:bodyPr/>
          <a:lstStyle/>
          <a:p>
            <a:endParaRPr lang="en-US"/>
          </a:p>
        </p:txBody>
      </p:sp>
      <p:sp>
        <p:nvSpPr>
          <p:cNvPr id="83" name="Text 81"/>
          <p:cNvSpPr/>
          <p:nvPr/>
        </p:nvSpPr>
        <p:spPr>
          <a:xfrm>
            <a:off x="5266944" y="3858768"/>
            <a:ext cx="93268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0</a:t>
            </a:r>
            <a:endParaRPr lang="en-US" sz="1000" dirty="0"/>
          </a:p>
        </p:txBody>
      </p:sp>
      <p:sp>
        <p:nvSpPr>
          <p:cNvPr id="84" name="Shape 82"/>
          <p:cNvSpPr/>
          <p:nvPr/>
        </p:nvSpPr>
        <p:spPr>
          <a:xfrm>
            <a:off x="6217920" y="3858768"/>
            <a:ext cx="822960" cy="338328"/>
          </a:xfrm>
          <a:prstGeom prst="rect">
            <a:avLst/>
          </a:prstGeom>
          <a:solidFill>
            <a:srgbClr val="EDF2F7"/>
          </a:solidFill>
          <a:ln/>
        </p:spPr>
        <p:txBody>
          <a:bodyPr/>
          <a:lstStyle/>
          <a:p>
            <a:endParaRPr lang="en-US"/>
          </a:p>
        </p:txBody>
      </p:sp>
      <p:sp>
        <p:nvSpPr>
          <p:cNvPr id="85" name="Text 83"/>
          <p:cNvSpPr/>
          <p:nvPr/>
        </p:nvSpPr>
        <p:spPr>
          <a:xfrm>
            <a:off x="6272784" y="3858768"/>
            <a:ext cx="74980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14</a:t>
            </a:r>
            <a:endParaRPr lang="en-US" sz="1000" dirty="0"/>
          </a:p>
        </p:txBody>
      </p:sp>
      <p:sp>
        <p:nvSpPr>
          <p:cNvPr id="86" name="Shape 84"/>
          <p:cNvSpPr/>
          <p:nvPr/>
        </p:nvSpPr>
        <p:spPr>
          <a:xfrm>
            <a:off x="7040880" y="3858768"/>
            <a:ext cx="822960" cy="338328"/>
          </a:xfrm>
          <a:prstGeom prst="rect">
            <a:avLst/>
          </a:prstGeom>
          <a:solidFill>
            <a:srgbClr val="EDF2F7"/>
          </a:solidFill>
          <a:ln/>
        </p:spPr>
        <p:txBody>
          <a:bodyPr/>
          <a:lstStyle/>
          <a:p>
            <a:endParaRPr lang="en-US"/>
          </a:p>
        </p:txBody>
      </p:sp>
      <p:sp>
        <p:nvSpPr>
          <p:cNvPr id="87" name="Shape 85"/>
          <p:cNvSpPr/>
          <p:nvPr/>
        </p:nvSpPr>
        <p:spPr>
          <a:xfrm>
            <a:off x="7296912" y="3931920"/>
            <a:ext cx="201168" cy="201168"/>
          </a:xfrm>
          <a:prstGeom prst="ellipse">
            <a:avLst/>
          </a:prstGeom>
          <a:solidFill>
            <a:srgbClr val="27AE60"/>
          </a:solidFill>
          <a:ln/>
        </p:spPr>
        <p:txBody>
          <a:bodyPr/>
          <a:lstStyle/>
          <a:p>
            <a:endParaRPr lang="en-US"/>
          </a:p>
        </p:txBody>
      </p:sp>
      <p:sp>
        <p:nvSpPr>
          <p:cNvPr id="88" name="Text 86"/>
          <p:cNvSpPr/>
          <p:nvPr/>
        </p:nvSpPr>
        <p:spPr>
          <a:xfrm>
            <a:off x="7296912" y="3931920"/>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89" name="Shape 87"/>
          <p:cNvSpPr/>
          <p:nvPr/>
        </p:nvSpPr>
        <p:spPr>
          <a:xfrm>
            <a:off x="457200" y="4215384"/>
            <a:ext cx="2926080" cy="338328"/>
          </a:xfrm>
          <a:prstGeom prst="rect">
            <a:avLst/>
          </a:prstGeom>
          <a:solidFill>
            <a:srgbClr val="FFFFFF"/>
          </a:solidFill>
          <a:ln/>
        </p:spPr>
        <p:txBody>
          <a:bodyPr/>
          <a:lstStyle/>
          <a:p>
            <a:endParaRPr lang="en-US"/>
          </a:p>
        </p:txBody>
      </p:sp>
      <p:sp>
        <p:nvSpPr>
          <p:cNvPr id="90" name="Text 88"/>
          <p:cNvSpPr/>
          <p:nvPr/>
        </p:nvSpPr>
        <p:spPr>
          <a:xfrm>
            <a:off x="512064" y="4215384"/>
            <a:ext cx="2852928" cy="338328"/>
          </a:xfrm>
          <a:prstGeom prst="rect">
            <a:avLst/>
          </a:prstGeom>
          <a:noFill/>
          <a:ln/>
        </p:spPr>
        <p:txBody>
          <a:bodyPr wrap="square"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PharmacyController (MockMvc)</a:t>
            </a:r>
            <a:endParaRPr lang="en-US" sz="1000" dirty="0"/>
          </a:p>
        </p:txBody>
      </p:sp>
      <p:sp>
        <p:nvSpPr>
          <p:cNvPr id="91" name="Shape 89"/>
          <p:cNvSpPr/>
          <p:nvPr/>
        </p:nvSpPr>
        <p:spPr>
          <a:xfrm>
            <a:off x="3383280" y="4215384"/>
            <a:ext cx="914400" cy="338328"/>
          </a:xfrm>
          <a:prstGeom prst="rect">
            <a:avLst/>
          </a:prstGeom>
          <a:solidFill>
            <a:srgbClr val="FFFFFF"/>
          </a:solidFill>
          <a:ln/>
        </p:spPr>
        <p:txBody>
          <a:bodyPr/>
          <a:lstStyle/>
          <a:p>
            <a:endParaRPr lang="en-US"/>
          </a:p>
        </p:txBody>
      </p:sp>
      <p:sp>
        <p:nvSpPr>
          <p:cNvPr id="92" name="Text 90"/>
          <p:cNvSpPr/>
          <p:nvPr/>
        </p:nvSpPr>
        <p:spPr>
          <a:xfrm>
            <a:off x="3438144" y="4215384"/>
            <a:ext cx="84124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a:t>
            </a:r>
            <a:endParaRPr lang="en-US" sz="1000" dirty="0"/>
          </a:p>
        </p:txBody>
      </p:sp>
      <p:sp>
        <p:nvSpPr>
          <p:cNvPr id="93" name="Shape 91"/>
          <p:cNvSpPr/>
          <p:nvPr/>
        </p:nvSpPr>
        <p:spPr>
          <a:xfrm>
            <a:off x="4297680" y="4215384"/>
            <a:ext cx="914400" cy="338328"/>
          </a:xfrm>
          <a:prstGeom prst="rect">
            <a:avLst/>
          </a:prstGeom>
          <a:solidFill>
            <a:srgbClr val="FFFFFF"/>
          </a:solidFill>
          <a:ln/>
        </p:spPr>
        <p:txBody>
          <a:bodyPr/>
          <a:lstStyle/>
          <a:p>
            <a:endParaRPr lang="en-US"/>
          </a:p>
        </p:txBody>
      </p:sp>
      <p:sp>
        <p:nvSpPr>
          <p:cNvPr id="94" name="Text 92"/>
          <p:cNvSpPr/>
          <p:nvPr/>
        </p:nvSpPr>
        <p:spPr>
          <a:xfrm>
            <a:off x="4352544" y="4215384"/>
            <a:ext cx="84124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a:t>
            </a:r>
            <a:endParaRPr lang="en-US" sz="1000" dirty="0"/>
          </a:p>
        </p:txBody>
      </p:sp>
      <p:sp>
        <p:nvSpPr>
          <p:cNvPr id="95" name="Shape 93"/>
          <p:cNvSpPr/>
          <p:nvPr/>
        </p:nvSpPr>
        <p:spPr>
          <a:xfrm>
            <a:off x="5212080" y="4215384"/>
            <a:ext cx="1005840" cy="338328"/>
          </a:xfrm>
          <a:prstGeom prst="rect">
            <a:avLst/>
          </a:prstGeom>
          <a:solidFill>
            <a:srgbClr val="FFFFFF"/>
          </a:solidFill>
          <a:ln/>
        </p:spPr>
        <p:txBody>
          <a:bodyPr/>
          <a:lstStyle/>
          <a:p>
            <a:endParaRPr lang="en-US"/>
          </a:p>
        </p:txBody>
      </p:sp>
      <p:sp>
        <p:nvSpPr>
          <p:cNvPr id="96" name="Text 94"/>
          <p:cNvSpPr/>
          <p:nvPr/>
        </p:nvSpPr>
        <p:spPr>
          <a:xfrm>
            <a:off x="5266944" y="4215384"/>
            <a:ext cx="93268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16</a:t>
            </a:r>
            <a:endParaRPr lang="en-US" sz="1000" dirty="0"/>
          </a:p>
        </p:txBody>
      </p:sp>
      <p:sp>
        <p:nvSpPr>
          <p:cNvPr id="97" name="Shape 95"/>
          <p:cNvSpPr/>
          <p:nvPr/>
        </p:nvSpPr>
        <p:spPr>
          <a:xfrm>
            <a:off x="6217920" y="4215384"/>
            <a:ext cx="822960" cy="338328"/>
          </a:xfrm>
          <a:prstGeom prst="rect">
            <a:avLst/>
          </a:prstGeom>
          <a:solidFill>
            <a:srgbClr val="FFFFFF"/>
          </a:solidFill>
          <a:ln/>
        </p:spPr>
        <p:txBody>
          <a:bodyPr/>
          <a:lstStyle/>
          <a:p>
            <a:endParaRPr lang="en-US"/>
          </a:p>
        </p:txBody>
      </p:sp>
      <p:sp>
        <p:nvSpPr>
          <p:cNvPr id="98" name="Text 96"/>
          <p:cNvSpPr/>
          <p:nvPr/>
        </p:nvSpPr>
        <p:spPr>
          <a:xfrm>
            <a:off x="6272784" y="4215384"/>
            <a:ext cx="749808" cy="338328"/>
          </a:xfrm>
          <a:prstGeom prst="rect">
            <a:avLst/>
          </a:prstGeom>
          <a:noFill/>
          <a:ln/>
        </p:spPr>
        <p:txBody>
          <a:bodyPr wrap="square" rtlCol="0" anchor="ctr"/>
          <a:lstStyle/>
          <a:p>
            <a:pPr marL="0" indent="0">
              <a:buNone/>
            </a:pPr>
            <a:r>
              <a:rPr lang="en-US" sz="1000" dirty="0">
                <a:solidFill>
                  <a:srgbClr val="0A2540"/>
                </a:solidFill>
                <a:latin typeface="Calibri" pitchFamily="34" charset="0"/>
                <a:ea typeface="Calibri" pitchFamily="34" charset="-122"/>
                <a:cs typeface="Calibri" pitchFamily="34" charset="-120"/>
              </a:rPr>
              <a:t>16</a:t>
            </a:r>
            <a:endParaRPr lang="en-US" sz="1000" dirty="0"/>
          </a:p>
        </p:txBody>
      </p:sp>
      <p:sp>
        <p:nvSpPr>
          <p:cNvPr id="99" name="Shape 97"/>
          <p:cNvSpPr/>
          <p:nvPr/>
        </p:nvSpPr>
        <p:spPr>
          <a:xfrm>
            <a:off x="7040880" y="4215384"/>
            <a:ext cx="822960" cy="338328"/>
          </a:xfrm>
          <a:prstGeom prst="rect">
            <a:avLst/>
          </a:prstGeom>
          <a:solidFill>
            <a:srgbClr val="FFFFFF"/>
          </a:solidFill>
          <a:ln/>
        </p:spPr>
        <p:txBody>
          <a:bodyPr/>
          <a:lstStyle/>
          <a:p>
            <a:endParaRPr lang="en-US"/>
          </a:p>
        </p:txBody>
      </p:sp>
      <p:sp>
        <p:nvSpPr>
          <p:cNvPr id="100" name="Shape 98"/>
          <p:cNvSpPr/>
          <p:nvPr/>
        </p:nvSpPr>
        <p:spPr>
          <a:xfrm>
            <a:off x="7296912" y="4288536"/>
            <a:ext cx="201168" cy="201168"/>
          </a:xfrm>
          <a:prstGeom prst="ellipse">
            <a:avLst/>
          </a:prstGeom>
          <a:solidFill>
            <a:srgbClr val="27AE60"/>
          </a:solidFill>
          <a:ln/>
        </p:spPr>
        <p:txBody>
          <a:bodyPr/>
          <a:lstStyle/>
          <a:p>
            <a:endParaRPr lang="en-US"/>
          </a:p>
        </p:txBody>
      </p:sp>
      <p:sp>
        <p:nvSpPr>
          <p:cNvPr id="101" name="Text 99"/>
          <p:cNvSpPr/>
          <p:nvPr/>
        </p:nvSpPr>
        <p:spPr>
          <a:xfrm>
            <a:off x="7296912" y="4288536"/>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02" name="Shape 100"/>
          <p:cNvSpPr/>
          <p:nvPr/>
        </p:nvSpPr>
        <p:spPr>
          <a:xfrm>
            <a:off x="457200" y="4572000"/>
            <a:ext cx="2926080" cy="338328"/>
          </a:xfrm>
          <a:prstGeom prst="rect">
            <a:avLst/>
          </a:prstGeom>
          <a:solidFill>
            <a:srgbClr val="028090"/>
          </a:solidFill>
          <a:ln/>
        </p:spPr>
        <p:txBody>
          <a:bodyPr/>
          <a:lstStyle/>
          <a:p>
            <a:endParaRPr lang="en-US"/>
          </a:p>
        </p:txBody>
      </p:sp>
      <p:sp>
        <p:nvSpPr>
          <p:cNvPr id="103" name="Text 101"/>
          <p:cNvSpPr/>
          <p:nvPr/>
        </p:nvSpPr>
        <p:spPr>
          <a:xfrm>
            <a:off x="512064" y="4572000"/>
            <a:ext cx="2852928" cy="3383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TOTAL</a:t>
            </a:r>
            <a:endParaRPr lang="en-US" sz="1000" dirty="0"/>
          </a:p>
        </p:txBody>
      </p:sp>
      <p:sp>
        <p:nvSpPr>
          <p:cNvPr id="104" name="Shape 102"/>
          <p:cNvSpPr/>
          <p:nvPr/>
        </p:nvSpPr>
        <p:spPr>
          <a:xfrm>
            <a:off x="3383280" y="4572000"/>
            <a:ext cx="914400" cy="338328"/>
          </a:xfrm>
          <a:prstGeom prst="rect">
            <a:avLst/>
          </a:prstGeom>
          <a:solidFill>
            <a:srgbClr val="028090"/>
          </a:solidFill>
          <a:ln/>
        </p:spPr>
        <p:txBody>
          <a:bodyPr/>
          <a:lstStyle/>
          <a:p>
            <a:endParaRPr lang="en-US"/>
          </a:p>
        </p:txBody>
      </p:sp>
      <p:sp>
        <p:nvSpPr>
          <p:cNvPr id="105" name="Text 103"/>
          <p:cNvSpPr/>
          <p:nvPr/>
        </p:nvSpPr>
        <p:spPr>
          <a:xfrm>
            <a:off x="3438144" y="4572000"/>
            <a:ext cx="841248" cy="3383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45</a:t>
            </a:r>
            <a:endParaRPr lang="en-US" sz="1000" dirty="0"/>
          </a:p>
        </p:txBody>
      </p:sp>
      <p:sp>
        <p:nvSpPr>
          <p:cNvPr id="106" name="Shape 104"/>
          <p:cNvSpPr/>
          <p:nvPr/>
        </p:nvSpPr>
        <p:spPr>
          <a:xfrm>
            <a:off x="4297680" y="4572000"/>
            <a:ext cx="914400" cy="338328"/>
          </a:xfrm>
          <a:prstGeom prst="rect">
            <a:avLst/>
          </a:prstGeom>
          <a:solidFill>
            <a:srgbClr val="028090"/>
          </a:solidFill>
          <a:ln/>
        </p:spPr>
        <p:txBody>
          <a:bodyPr/>
          <a:lstStyle/>
          <a:p>
            <a:endParaRPr lang="en-US"/>
          </a:p>
        </p:txBody>
      </p:sp>
      <p:sp>
        <p:nvSpPr>
          <p:cNvPr id="107" name="Text 105"/>
          <p:cNvSpPr/>
          <p:nvPr/>
        </p:nvSpPr>
        <p:spPr>
          <a:xfrm>
            <a:off x="4352544" y="4572000"/>
            <a:ext cx="841248" cy="3383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17</a:t>
            </a:r>
            <a:endParaRPr lang="en-US" sz="1000" dirty="0"/>
          </a:p>
        </p:txBody>
      </p:sp>
      <p:sp>
        <p:nvSpPr>
          <p:cNvPr id="108" name="Shape 106"/>
          <p:cNvSpPr/>
          <p:nvPr/>
        </p:nvSpPr>
        <p:spPr>
          <a:xfrm>
            <a:off x="5212080" y="4572000"/>
            <a:ext cx="1005840" cy="338328"/>
          </a:xfrm>
          <a:prstGeom prst="rect">
            <a:avLst/>
          </a:prstGeom>
          <a:solidFill>
            <a:srgbClr val="028090"/>
          </a:solidFill>
          <a:ln/>
        </p:spPr>
        <p:txBody>
          <a:bodyPr/>
          <a:lstStyle/>
          <a:p>
            <a:endParaRPr lang="en-US"/>
          </a:p>
        </p:txBody>
      </p:sp>
      <p:sp>
        <p:nvSpPr>
          <p:cNvPr id="109" name="Text 107"/>
          <p:cNvSpPr/>
          <p:nvPr/>
        </p:nvSpPr>
        <p:spPr>
          <a:xfrm>
            <a:off x="5266944" y="4572000"/>
            <a:ext cx="932688" cy="3383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29</a:t>
            </a:r>
            <a:endParaRPr lang="en-US" sz="1000" dirty="0"/>
          </a:p>
        </p:txBody>
      </p:sp>
      <p:sp>
        <p:nvSpPr>
          <p:cNvPr id="110" name="Shape 108"/>
          <p:cNvSpPr/>
          <p:nvPr/>
        </p:nvSpPr>
        <p:spPr>
          <a:xfrm>
            <a:off x="6217920" y="4572000"/>
            <a:ext cx="822960" cy="338328"/>
          </a:xfrm>
          <a:prstGeom prst="rect">
            <a:avLst/>
          </a:prstGeom>
          <a:solidFill>
            <a:srgbClr val="028090"/>
          </a:solidFill>
          <a:ln/>
        </p:spPr>
        <p:txBody>
          <a:bodyPr/>
          <a:lstStyle/>
          <a:p>
            <a:endParaRPr lang="en-US"/>
          </a:p>
        </p:txBody>
      </p:sp>
      <p:sp>
        <p:nvSpPr>
          <p:cNvPr id="111" name="Text 109"/>
          <p:cNvSpPr/>
          <p:nvPr/>
        </p:nvSpPr>
        <p:spPr>
          <a:xfrm>
            <a:off x="6272784" y="4572000"/>
            <a:ext cx="749808" cy="3383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109</a:t>
            </a:r>
            <a:endParaRPr lang="en-US" sz="1000" dirty="0"/>
          </a:p>
        </p:txBody>
      </p:sp>
      <p:sp>
        <p:nvSpPr>
          <p:cNvPr id="112" name="Shape 110"/>
          <p:cNvSpPr/>
          <p:nvPr/>
        </p:nvSpPr>
        <p:spPr>
          <a:xfrm>
            <a:off x="7040880" y="4572000"/>
            <a:ext cx="822960" cy="338328"/>
          </a:xfrm>
          <a:prstGeom prst="rect">
            <a:avLst/>
          </a:prstGeom>
          <a:solidFill>
            <a:srgbClr val="028090"/>
          </a:solidFill>
          <a:ln/>
        </p:spPr>
        <p:txBody>
          <a:bodyPr/>
          <a:lstStyle/>
          <a:p>
            <a:endParaRPr lang="en-US"/>
          </a:p>
        </p:txBody>
      </p:sp>
      <p:sp>
        <p:nvSpPr>
          <p:cNvPr id="113" name="Shape 111"/>
          <p:cNvSpPr/>
          <p:nvPr/>
        </p:nvSpPr>
        <p:spPr>
          <a:xfrm>
            <a:off x="7296912" y="4645152"/>
            <a:ext cx="201168" cy="201168"/>
          </a:xfrm>
          <a:prstGeom prst="ellipse">
            <a:avLst/>
          </a:prstGeom>
          <a:solidFill>
            <a:srgbClr val="27AE60"/>
          </a:solidFill>
          <a:ln/>
        </p:spPr>
        <p:txBody>
          <a:bodyPr/>
          <a:lstStyle/>
          <a:p>
            <a:endParaRPr lang="en-US"/>
          </a:p>
        </p:txBody>
      </p:sp>
      <p:sp>
        <p:nvSpPr>
          <p:cNvPr id="114" name="Text 112"/>
          <p:cNvSpPr/>
          <p:nvPr/>
        </p:nvSpPr>
        <p:spPr>
          <a:xfrm>
            <a:off x="7296912" y="4645152"/>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chemeClr val="tx1"/>
          </a:solidFill>
          <a:ln/>
        </p:spPr>
        <p:txBody>
          <a:bodyPr/>
          <a:lstStyle/>
          <a:p>
            <a:endParaRPr lang="en-US"/>
          </a:p>
        </p:txBody>
      </p:sp>
      <p:sp>
        <p:nvSpPr>
          <p:cNvPr id="3" name="Text 1"/>
          <p:cNvSpPr/>
          <p:nvPr/>
        </p:nvSpPr>
        <p:spPr>
          <a:xfrm>
            <a:off x="502920" y="0"/>
            <a:ext cx="8412480" cy="640080"/>
          </a:xfrm>
          <a:prstGeom prst="rect">
            <a:avLst/>
          </a:prstGeom>
          <a:noFill/>
          <a:ln/>
        </p:spPr>
        <p:txBody>
          <a:bodyPr wrap="square" rtlCol="0" anchor="b"/>
          <a:lstStyle/>
          <a:p>
            <a:pPr marL="0" indent="0">
              <a:buNone/>
            </a:pPr>
            <a:r>
              <a:rPr lang="en-US" sz="2800" b="1" dirty="0">
                <a:solidFill>
                  <a:srgbClr val="FFFFFF"/>
                </a:solidFill>
                <a:latin typeface="Georgia" pitchFamily="34" charset="0"/>
                <a:ea typeface="Georgia" pitchFamily="34" charset="-122"/>
                <a:cs typeface="Georgia" pitchFamily="34" charset="-120"/>
              </a:rPr>
              <a:t>BVA — Boundary Value Analysis in Detail</a:t>
            </a:r>
            <a:endParaRPr lang="en-US" sz="2800" dirty="0"/>
          </a:p>
        </p:txBody>
      </p:sp>
      <p:sp>
        <p:nvSpPr>
          <p:cNvPr id="4" name="Text 2"/>
          <p:cNvSpPr/>
          <p:nvPr/>
        </p:nvSpPr>
        <p:spPr>
          <a:xfrm>
            <a:off x="502920" y="658368"/>
            <a:ext cx="8412480" cy="347472"/>
          </a:xfrm>
          <a:prstGeom prst="rect">
            <a:avLst/>
          </a:prstGeom>
          <a:noFill/>
          <a:ln/>
        </p:spPr>
        <p:txBody>
          <a:bodyPr wrap="square" rtlCol="0" anchor="t"/>
          <a:lstStyle/>
          <a:p>
            <a:pPr marL="0" indent="0">
              <a:buNone/>
            </a:pPr>
            <a:r>
              <a:rPr lang="en-US" sz="1200" dirty="0">
                <a:solidFill>
                  <a:srgbClr val="CBD5E1"/>
                </a:solidFill>
                <a:latin typeface="Calibri" pitchFamily="34" charset="0"/>
                <a:ea typeface="Calibri" pitchFamily="34" charset="-122"/>
                <a:cs typeface="Calibri" pitchFamily="34" charset="-120"/>
              </a:rPr>
              <a:t>Testing the exact edges of every valid range — where bugs most commonly occur</a:t>
            </a:r>
            <a:endParaRPr lang="en-US" sz="1200" dirty="0"/>
          </a:p>
        </p:txBody>
      </p:sp>
      <p:sp>
        <p:nvSpPr>
          <p:cNvPr id="5" name="Shape 3"/>
          <p:cNvSpPr/>
          <p:nvPr/>
        </p:nvSpPr>
        <p:spPr>
          <a:xfrm>
            <a:off x="457200" y="1143000"/>
            <a:ext cx="2560320" cy="3657600"/>
          </a:xfrm>
          <a:prstGeom prst="rect">
            <a:avLst/>
          </a:prstGeom>
          <a:solidFill>
            <a:srgbClr val="0A2540"/>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594360" y="1207008"/>
            <a:ext cx="2286000" cy="201168"/>
          </a:xfrm>
          <a:prstGeom prst="rect">
            <a:avLst/>
          </a:prstGeom>
          <a:noFill/>
          <a:ln/>
        </p:spPr>
        <p:txBody>
          <a:bodyPr wrap="square" rtlCol="0" anchor="ctr"/>
          <a:lstStyle/>
          <a:p>
            <a:pPr marL="0" indent="0">
              <a:buNone/>
            </a:pPr>
            <a:r>
              <a:rPr lang="en-US" sz="800" b="1" kern="0" spc="300" dirty="0">
                <a:solidFill>
                  <a:srgbClr val="02C39A"/>
                </a:solidFill>
                <a:latin typeface="Calibri" pitchFamily="34" charset="0"/>
                <a:ea typeface="Calibri" pitchFamily="34" charset="-122"/>
                <a:cs typeface="Calibri" pitchFamily="34" charset="-120"/>
              </a:rPr>
              <a:t>WHY BVA?</a:t>
            </a:r>
            <a:endParaRPr lang="en-US" sz="800" dirty="0"/>
          </a:p>
        </p:txBody>
      </p:sp>
      <p:sp>
        <p:nvSpPr>
          <p:cNvPr id="7" name="Text 5"/>
          <p:cNvSpPr/>
          <p:nvPr/>
        </p:nvSpPr>
        <p:spPr>
          <a:xfrm>
            <a:off x="594360" y="1481328"/>
            <a:ext cx="2286000" cy="3246120"/>
          </a:xfrm>
          <a:prstGeom prst="rect">
            <a:avLst/>
          </a:prstGeom>
          <a:noFill/>
          <a:ln/>
        </p:spPr>
        <p:txBody>
          <a:bodyPr wrap="square"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Bugs hide at boundaries
</a:t>
            </a:r>
            <a:endParaRPr lang="en-US" sz="1100" dirty="0"/>
          </a:p>
          <a:p>
            <a:pPr marL="0" indent="0">
              <a:buNone/>
            </a:pPr>
            <a:r>
              <a:rPr lang="en-US" sz="1000" dirty="0">
                <a:solidFill>
                  <a:srgbClr val="CBD5E1"/>
                </a:solidFill>
                <a:latin typeface="Calibri" pitchFamily="34" charset="0"/>
                <a:ea typeface="Calibri" pitchFamily="34" charset="-122"/>
                <a:cs typeface="Calibri" pitchFamily="34" charset="-120"/>
              </a:rPr>
              <a:t>If code says:
</a:t>
            </a:r>
            <a:endParaRPr lang="en-US" sz="1100" dirty="0"/>
          </a:p>
          <a:p>
            <a:pPr marL="0" indent="0">
              <a:buNone/>
            </a:pPr>
            <a:r>
              <a:rPr lang="en-US" sz="1100" dirty="0">
                <a:solidFill>
                  <a:srgbClr val="02C39A"/>
                </a:solidFill>
                <a:latin typeface="Calibri" pitchFamily="34" charset="0"/>
                <a:ea typeface="Calibri" pitchFamily="34" charset="-122"/>
                <a:cs typeface="Calibri" pitchFamily="34" charset="-120"/>
              </a:rPr>
              <a:t>if (age &gt; 18)
</a:t>
            </a:r>
            <a:endParaRPr lang="en-US" sz="1100" dirty="0"/>
          </a:p>
          <a:p>
            <a:pPr marL="0" indent="0">
              <a:buNone/>
            </a:pPr>
            <a:r>
              <a:rPr lang="en-US" sz="1000" dirty="0">
                <a:solidFill>
                  <a:srgbClr val="CBD5E1"/>
                </a:solidFill>
                <a:latin typeface="Calibri" pitchFamily="34" charset="0"/>
                <a:ea typeface="Calibri" pitchFamily="34" charset="-122"/>
                <a:cs typeface="Calibri" pitchFamily="34" charset="-120"/>
              </a:rPr>
              <a:t>But should say:
</a:t>
            </a:r>
            <a:endParaRPr lang="en-US" sz="1100" dirty="0"/>
          </a:p>
          <a:p>
            <a:pPr marL="0" indent="0">
              <a:buNone/>
            </a:pPr>
            <a:r>
              <a:rPr lang="en-US" sz="1100" dirty="0">
                <a:solidFill>
                  <a:srgbClr val="02C39A"/>
                </a:solidFill>
                <a:latin typeface="Calibri" pitchFamily="34" charset="0"/>
                <a:ea typeface="Calibri" pitchFamily="34" charset="-122"/>
                <a:cs typeface="Calibri" pitchFamily="34" charset="-120"/>
              </a:rPr>
              <a:t>if (age &gt;= 18)
</a:t>
            </a:r>
            <a:endParaRPr lang="en-US" sz="1100" dirty="0"/>
          </a:p>
          <a:p>
            <a:pPr marL="0" indent="0">
              <a:buNone/>
            </a:pPr>
            <a:r>
              <a:rPr lang="en-US" sz="1000" dirty="0">
                <a:solidFill>
                  <a:srgbClr val="CBD5E1"/>
                </a:solidFill>
                <a:latin typeface="Calibri" pitchFamily="34" charset="0"/>
                <a:ea typeface="Calibri" pitchFamily="34" charset="-122"/>
                <a:cs typeface="Calibri" pitchFamily="34" charset="-120"/>
              </a:rPr>
              <a:t>Only a test for age=17 and age=18 exactly will catch this — not age=10 or age=30.</a:t>
            </a:r>
          </a:p>
          <a:p>
            <a:pPr marL="0" indent="0">
              <a:buNone/>
            </a:pPr>
            <a:r>
              <a:rPr lang="en-US" sz="1000" dirty="0">
                <a:solidFill>
                  <a:srgbClr val="CBD5E1"/>
                </a:solidFill>
                <a:latin typeface="Calibri" pitchFamily="34" charset="0"/>
                <a:ea typeface="Calibri" pitchFamily="34" charset="-122"/>
                <a:cs typeface="Calibri" pitchFamily="34" charset="-120"/>
              </a:rPr>
              <a:t>
</a:t>
            </a:r>
            <a:endParaRPr lang="en-US" sz="1100" dirty="0"/>
          </a:p>
          <a:p>
            <a:pPr marL="0" indent="0">
              <a:buNone/>
            </a:pPr>
            <a:r>
              <a:rPr lang="en-US" sz="1000" b="1" dirty="0">
                <a:solidFill>
                  <a:srgbClr val="FFFFFF"/>
                </a:solidFill>
                <a:latin typeface="Calibri" pitchFamily="34" charset="0"/>
                <a:ea typeface="Calibri" pitchFamily="34" charset="-122"/>
                <a:cs typeface="Calibri" pitchFamily="34" charset="-120"/>
              </a:rPr>
              <a:t>BVA tests:
</a:t>
            </a:r>
            <a:endParaRPr lang="en-US" sz="1100" dirty="0"/>
          </a:p>
          <a:p>
            <a:pPr marL="0" indent="0">
              <a:buNone/>
            </a:pPr>
            <a:r>
              <a:rPr lang="en-US" sz="1000" dirty="0">
                <a:solidFill>
                  <a:srgbClr val="CBD5E1"/>
                </a:solidFill>
                <a:latin typeface="Calibri" pitchFamily="34" charset="0"/>
                <a:ea typeface="Calibri" pitchFamily="34" charset="-122"/>
                <a:cs typeface="Calibri" pitchFamily="34" charset="-120"/>
              </a:rPr>
              <a:t>• Just below boundary</a:t>
            </a:r>
            <a:endParaRPr lang="en-US" sz="1100" dirty="0"/>
          </a:p>
          <a:p>
            <a:pPr marL="0" indent="0">
              <a:buNone/>
            </a:pPr>
            <a:r>
              <a:rPr lang="en-US" sz="1000" dirty="0">
                <a:solidFill>
                  <a:srgbClr val="CBD5E1"/>
                </a:solidFill>
                <a:latin typeface="Calibri" pitchFamily="34" charset="0"/>
                <a:ea typeface="Calibri" pitchFamily="34" charset="-122"/>
                <a:cs typeface="Calibri" pitchFamily="34" charset="-120"/>
              </a:rPr>
              <a:t>• At the boundary</a:t>
            </a:r>
            <a:endParaRPr lang="en-US" sz="1100" dirty="0"/>
          </a:p>
          <a:p>
            <a:pPr marL="0" indent="0">
              <a:buNone/>
            </a:pPr>
            <a:r>
              <a:rPr lang="en-US" sz="1000" dirty="0">
                <a:solidFill>
                  <a:srgbClr val="CBD5E1"/>
                </a:solidFill>
                <a:latin typeface="Calibri" pitchFamily="34" charset="0"/>
                <a:ea typeface="Calibri" pitchFamily="34" charset="-122"/>
                <a:cs typeface="Calibri" pitchFamily="34" charset="-120"/>
              </a:rPr>
              <a:t>• Just above boundary</a:t>
            </a:r>
            <a:endParaRPr lang="en-US" sz="1100" dirty="0"/>
          </a:p>
        </p:txBody>
      </p:sp>
      <p:sp>
        <p:nvSpPr>
          <p:cNvPr id="8" name="Shape 6"/>
          <p:cNvSpPr/>
          <p:nvPr/>
        </p:nvSpPr>
        <p:spPr>
          <a:xfrm>
            <a:off x="3246120" y="1143000"/>
            <a:ext cx="5440680" cy="292608"/>
          </a:xfrm>
          <a:prstGeom prst="rect">
            <a:avLst/>
          </a:prstGeom>
          <a:solidFill>
            <a:srgbClr val="028090"/>
          </a:solidFill>
          <a:ln/>
        </p:spPr>
        <p:txBody>
          <a:bodyPr/>
          <a:lstStyle/>
          <a:p>
            <a:endParaRPr lang="en-US"/>
          </a:p>
        </p:txBody>
      </p:sp>
      <p:sp>
        <p:nvSpPr>
          <p:cNvPr id="9" name="Text 7"/>
          <p:cNvSpPr/>
          <p:nvPr/>
        </p:nvSpPr>
        <p:spPr>
          <a:xfrm>
            <a:off x="3337560" y="1143000"/>
            <a:ext cx="5303520"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BVA Test Cases — calculateDosage(age) — boundaries at 0, 17/18, 64/65, 120</a:t>
            </a:r>
            <a:endParaRPr lang="en-US" sz="1000" dirty="0"/>
          </a:p>
        </p:txBody>
      </p:sp>
      <p:sp>
        <p:nvSpPr>
          <p:cNvPr id="10" name="Text 8"/>
          <p:cNvSpPr/>
          <p:nvPr/>
        </p:nvSpPr>
        <p:spPr>
          <a:xfrm>
            <a:off x="3337560" y="1481328"/>
            <a:ext cx="777240" cy="237744"/>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Test ID</a:t>
            </a:r>
            <a:endParaRPr lang="en-US" sz="900" dirty="0"/>
          </a:p>
        </p:txBody>
      </p:sp>
      <p:sp>
        <p:nvSpPr>
          <p:cNvPr id="11" name="Text 9"/>
          <p:cNvSpPr/>
          <p:nvPr/>
        </p:nvSpPr>
        <p:spPr>
          <a:xfrm>
            <a:off x="4114800" y="1481328"/>
            <a:ext cx="777240" cy="237744"/>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Age Input</a:t>
            </a:r>
            <a:endParaRPr lang="en-US" sz="900" dirty="0"/>
          </a:p>
        </p:txBody>
      </p:sp>
      <p:sp>
        <p:nvSpPr>
          <p:cNvPr id="12" name="Text 10"/>
          <p:cNvSpPr/>
          <p:nvPr/>
        </p:nvSpPr>
        <p:spPr>
          <a:xfrm>
            <a:off x="4892040" y="1481328"/>
            <a:ext cx="914400" cy="237744"/>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Expected</a:t>
            </a:r>
            <a:endParaRPr lang="en-US" sz="900" dirty="0"/>
          </a:p>
        </p:txBody>
      </p:sp>
      <p:sp>
        <p:nvSpPr>
          <p:cNvPr id="13" name="Text 11"/>
          <p:cNvSpPr/>
          <p:nvPr/>
        </p:nvSpPr>
        <p:spPr>
          <a:xfrm>
            <a:off x="5806440" y="1481328"/>
            <a:ext cx="2743200" cy="237744"/>
          </a:xfrm>
          <a:prstGeom prst="rect">
            <a:avLst/>
          </a:prstGeom>
          <a:noFill/>
          <a:ln/>
        </p:spPr>
        <p:txBody>
          <a:bodyPr wrap="square"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Boundary Reason</a:t>
            </a:r>
            <a:endParaRPr lang="en-US" sz="900" dirty="0"/>
          </a:p>
        </p:txBody>
      </p:sp>
      <p:sp>
        <p:nvSpPr>
          <p:cNvPr id="14" name="Shape 12"/>
          <p:cNvSpPr/>
          <p:nvPr/>
        </p:nvSpPr>
        <p:spPr>
          <a:xfrm>
            <a:off x="3246120" y="1755648"/>
            <a:ext cx="777240" cy="320040"/>
          </a:xfrm>
          <a:prstGeom prst="rect">
            <a:avLst/>
          </a:prstGeom>
          <a:solidFill>
            <a:srgbClr val="EDF2F7"/>
          </a:solidFill>
          <a:ln/>
        </p:spPr>
        <p:txBody>
          <a:bodyPr/>
          <a:lstStyle/>
          <a:p>
            <a:endParaRPr lang="en-US"/>
          </a:p>
        </p:txBody>
      </p:sp>
      <p:sp>
        <p:nvSpPr>
          <p:cNvPr id="15" name="Text 13"/>
          <p:cNvSpPr/>
          <p:nvPr/>
        </p:nvSpPr>
        <p:spPr>
          <a:xfrm>
            <a:off x="3282696" y="1755648"/>
            <a:ext cx="722376" cy="320040"/>
          </a:xfrm>
          <a:prstGeom prst="rect">
            <a:avLst/>
          </a:prstGeom>
          <a:noFill/>
          <a:ln/>
        </p:spPr>
        <p:txBody>
          <a:bodyPr wrap="square" rtlCol="0" anchor="ctr"/>
          <a:lstStyle/>
          <a:p>
            <a:pPr marL="0" indent="0">
              <a:buNone/>
            </a:pPr>
            <a:r>
              <a:rPr lang="en-US" sz="900" dirty="0">
                <a:solidFill>
                  <a:srgbClr val="C0392B"/>
                </a:solidFill>
                <a:latin typeface="Calibri" pitchFamily="34" charset="0"/>
                <a:ea typeface="Calibri" pitchFamily="34" charset="-122"/>
                <a:cs typeface="Calibri" pitchFamily="34" charset="-120"/>
              </a:rPr>
              <a:t>BVA-01</a:t>
            </a:r>
            <a:endParaRPr lang="en-US" sz="900" dirty="0"/>
          </a:p>
        </p:txBody>
      </p:sp>
      <p:sp>
        <p:nvSpPr>
          <p:cNvPr id="16" name="Shape 14"/>
          <p:cNvSpPr/>
          <p:nvPr/>
        </p:nvSpPr>
        <p:spPr>
          <a:xfrm>
            <a:off x="4023360" y="1755648"/>
            <a:ext cx="777240" cy="320040"/>
          </a:xfrm>
          <a:prstGeom prst="rect">
            <a:avLst/>
          </a:prstGeom>
          <a:solidFill>
            <a:srgbClr val="EDF2F7"/>
          </a:solidFill>
          <a:ln/>
        </p:spPr>
        <p:txBody>
          <a:bodyPr/>
          <a:lstStyle/>
          <a:p>
            <a:endParaRPr lang="en-US"/>
          </a:p>
        </p:txBody>
      </p:sp>
      <p:sp>
        <p:nvSpPr>
          <p:cNvPr id="17" name="Text 15"/>
          <p:cNvSpPr/>
          <p:nvPr/>
        </p:nvSpPr>
        <p:spPr>
          <a:xfrm>
            <a:off x="4059936" y="1755648"/>
            <a:ext cx="722376" cy="320040"/>
          </a:xfrm>
          <a:prstGeom prst="rect">
            <a:avLst/>
          </a:prstGeom>
          <a:noFill/>
          <a:ln/>
        </p:spPr>
        <p:txBody>
          <a:bodyPr wrap="square" rtlCol="0" anchor="ctr"/>
          <a:lstStyle/>
          <a:p>
            <a:pPr marL="0" indent="0">
              <a:buNone/>
            </a:pPr>
            <a:r>
              <a:rPr lang="en-US" sz="900" dirty="0">
                <a:solidFill>
                  <a:srgbClr val="C0392B"/>
                </a:solidFill>
                <a:latin typeface="Calibri" pitchFamily="34" charset="0"/>
                <a:ea typeface="Calibri" pitchFamily="34" charset="-122"/>
                <a:cs typeface="Calibri" pitchFamily="34" charset="-120"/>
              </a:rPr>
              <a:t>-1</a:t>
            </a:r>
            <a:endParaRPr lang="en-US" sz="900" dirty="0"/>
          </a:p>
        </p:txBody>
      </p:sp>
      <p:sp>
        <p:nvSpPr>
          <p:cNvPr id="18" name="Shape 16"/>
          <p:cNvSpPr/>
          <p:nvPr/>
        </p:nvSpPr>
        <p:spPr>
          <a:xfrm>
            <a:off x="4800600" y="1755648"/>
            <a:ext cx="914400" cy="320040"/>
          </a:xfrm>
          <a:prstGeom prst="rect">
            <a:avLst/>
          </a:prstGeom>
          <a:solidFill>
            <a:srgbClr val="EDF2F7"/>
          </a:solidFill>
          <a:ln/>
        </p:spPr>
        <p:txBody>
          <a:bodyPr/>
          <a:lstStyle/>
          <a:p>
            <a:endParaRPr lang="en-US"/>
          </a:p>
        </p:txBody>
      </p:sp>
      <p:sp>
        <p:nvSpPr>
          <p:cNvPr id="19" name="Text 17"/>
          <p:cNvSpPr/>
          <p:nvPr/>
        </p:nvSpPr>
        <p:spPr>
          <a:xfrm>
            <a:off x="4837176" y="1755648"/>
            <a:ext cx="859536" cy="320040"/>
          </a:xfrm>
          <a:prstGeom prst="rect">
            <a:avLst/>
          </a:prstGeom>
          <a:noFill/>
          <a:ln/>
        </p:spPr>
        <p:txBody>
          <a:bodyPr wrap="square" rtlCol="0" anchor="ctr"/>
          <a:lstStyle/>
          <a:p>
            <a:pPr marL="0" indent="0">
              <a:buNone/>
            </a:pPr>
            <a:r>
              <a:rPr lang="en-US" sz="900" dirty="0">
                <a:solidFill>
                  <a:srgbClr val="C0392B"/>
                </a:solidFill>
                <a:latin typeface="Calibri" pitchFamily="34" charset="0"/>
                <a:ea typeface="Calibri" pitchFamily="34" charset="-122"/>
                <a:cs typeface="Calibri" pitchFamily="34" charset="-120"/>
              </a:rPr>
              <a:t>Exception</a:t>
            </a:r>
            <a:endParaRPr lang="en-US" sz="900" dirty="0"/>
          </a:p>
        </p:txBody>
      </p:sp>
      <p:sp>
        <p:nvSpPr>
          <p:cNvPr id="20" name="Shape 18"/>
          <p:cNvSpPr/>
          <p:nvPr/>
        </p:nvSpPr>
        <p:spPr>
          <a:xfrm>
            <a:off x="5715000" y="1755648"/>
            <a:ext cx="2743200" cy="320040"/>
          </a:xfrm>
          <a:prstGeom prst="rect">
            <a:avLst/>
          </a:prstGeom>
          <a:solidFill>
            <a:srgbClr val="EDF2F7"/>
          </a:solidFill>
          <a:ln/>
        </p:spPr>
        <p:txBody>
          <a:bodyPr/>
          <a:lstStyle/>
          <a:p>
            <a:endParaRPr lang="en-US"/>
          </a:p>
        </p:txBody>
      </p:sp>
      <p:sp>
        <p:nvSpPr>
          <p:cNvPr id="21" name="Text 19"/>
          <p:cNvSpPr/>
          <p:nvPr/>
        </p:nvSpPr>
        <p:spPr>
          <a:xfrm>
            <a:off x="5751576" y="1755648"/>
            <a:ext cx="2688336" cy="320040"/>
          </a:xfrm>
          <a:prstGeom prst="rect">
            <a:avLst/>
          </a:prstGeom>
          <a:noFill/>
          <a:ln/>
        </p:spPr>
        <p:txBody>
          <a:bodyPr wrap="square" rtlCol="0" anchor="ctr"/>
          <a:lstStyle/>
          <a:p>
            <a:pPr marL="0" indent="0">
              <a:buNone/>
            </a:pPr>
            <a:r>
              <a:rPr lang="en-US" sz="900" dirty="0">
                <a:solidFill>
                  <a:srgbClr val="C0392B"/>
                </a:solidFill>
                <a:latin typeface="Calibri" pitchFamily="34" charset="0"/>
                <a:ea typeface="Calibri" pitchFamily="34" charset="-122"/>
                <a:cs typeface="Calibri" pitchFamily="34" charset="-120"/>
              </a:rPr>
              <a:t>Just below minimum — invalid</a:t>
            </a:r>
            <a:endParaRPr lang="en-US" sz="900" dirty="0"/>
          </a:p>
        </p:txBody>
      </p:sp>
      <p:sp>
        <p:nvSpPr>
          <p:cNvPr id="22" name="Shape 20"/>
          <p:cNvSpPr/>
          <p:nvPr/>
        </p:nvSpPr>
        <p:spPr>
          <a:xfrm>
            <a:off x="3246120" y="2093976"/>
            <a:ext cx="777240" cy="320040"/>
          </a:xfrm>
          <a:prstGeom prst="rect">
            <a:avLst/>
          </a:prstGeom>
          <a:solidFill>
            <a:srgbClr val="FFFFFF"/>
          </a:solidFill>
          <a:ln/>
        </p:spPr>
        <p:txBody>
          <a:bodyPr/>
          <a:lstStyle/>
          <a:p>
            <a:endParaRPr lang="en-US"/>
          </a:p>
        </p:txBody>
      </p:sp>
      <p:sp>
        <p:nvSpPr>
          <p:cNvPr id="23" name="Text 21"/>
          <p:cNvSpPr/>
          <p:nvPr/>
        </p:nvSpPr>
        <p:spPr>
          <a:xfrm>
            <a:off x="3282696" y="2093976"/>
            <a:ext cx="72237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BVA-02</a:t>
            </a:r>
            <a:endParaRPr lang="en-US" sz="900" dirty="0"/>
          </a:p>
        </p:txBody>
      </p:sp>
      <p:sp>
        <p:nvSpPr>
          <p:cNvPr id="24" name="Shape 22"/>
          <p:cNvSpPr/>
          <p:nvPr/>
        </p:nvSpPr>
        <p:spPr>
          <a:xfrm>
            <a:off x="4023360" y="2093976"/>
            <a:ext cx="777240" cy="320040"/>
          </a:xfrm>
          <a:prstGeom prst="rect">
            <a:avLst/>
          </a:prstGeom>
          <a:solidFill>
            <a:srgbClr val="FFFFFF"/>
          </a:solidFill>
          <a:ln/>
        </p:spPr>
        <p:txBody>
          <a:bodyPr/>
          <a:lstStyle/>
          <a:p>
            <a:endParaRPr lang="en-US"/>
          </a:p>
        </p:txBody>
      </p:sp>
      <p:sp>
        <p:nvSpPr>
          <p:cNvPr id="25" name="Text 23"/>
          <p:cNvSpPr/>
          <p:nvPr/>
        </p:nvSpPr>
        <p:spPr>
          <a:xfrm>
            <a:off x="4059936" y="2093976"/>
            <a:ext cx="72237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0</a:t>
            </a:r>
            <a:endParaRPr lang="en-US" sz="900" dirty="0"/>
          </a:p>
        </p:txBody>
      </p:sp>
      <p:sp>
        <p:nvSpPr>
          <p:cNvPr id="26" name="Shape 24"/>
          <p:cNvSpPr/>
          <p:nvPr/>
        </p:nvSpPr>
        <p:spPr>
          <a:xfrm>
            <a:off x="4800600" y="2093976"/>
            <a:ext cx="914400" cy="320040"/>
          </a:xfrm>
          <a:prstGeom prst="rect">
            <a:avLst/>
          </a:prstGeom>
          <a:solidFill>
            <a:srgbClr val="FFFFFF"/>
          </a:solidFill>
          <a:ln/>
        </p:spPr>
        <p:txBody>
          <a:bodyPr/>
          <a:lstStyle/>
          <a:p>
            <a:endParaRPr lang="en-US"/>
          </a:p>
        </p:txBody>
      </p:sp>
      <p:sp>
        <p:nvSpPr>
          <p:cNvPr id="27" name="Text 25"/>
          <p:cNvSpPr/>
          <p:nvPr/>
        </p:nvSpPr>
        <p:spPr>
          <a:xfrm>
            <a:off x="4837176" y="2093976"/>
            <a:ext cx="85953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10mg clamped</a:t>
            </a:r>
            <a:endParaRPr lang="en-US" sz="900" dirty="0"/>
          </a:p>
        </p:txBody>
      </p:sp>
      <p:sp>
        <p:nvSpPr>
          <p:cNvPr id="28" name="Shape 26"/>
          <p:cNvSpPr/>
          <p:nvPr/>
        </p:nvSpPr>
        <p:spPr>
          <a:xfrm>
            <a:off x="5715000" y="2093976"/>
            <a:ext cx="2743200" cy="320040"/>
          </a:xfrm>
          <a:prstGeom prst="rect">
            <a:avLst/>
          </a:prstGeom>
          <a:solidFill>
            <a:srgbClr val="FFFFFF"/>
          </a:solidFill>
          <a:ln/>
        </p:spPr>
        <p:txBody>
          <a:bodyPr/>
          <a:lstStyle/>
          <a:p>
            <a:endParaRPr lang="en-US"/>
          </a:p>
        </p:txBody>
      </p:sp>
      <p:sp>
        <p:nvSpPr>
          <p:cNvPr id="29" name="Text 27"/>
          <p:cNvSpPr/>
          <p:nvPr/>
        </p:nvSpPr>
        <p:spPr>
          <a:xfrm>
            <a:off x="5751576" y="2093976"/>
            <a:ext cx="268833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Minimum boundary (newborn)</a:t>
            </a:r>
            <a:endParaRPr lang="en-US" sz="900" dirty="0"/>
          </a:p>
        </p:txBody>
      </p:sp>
      <p:sp>
        <p:nvSpPr>
          <p:cNvPr id="30" name="Shape 28"/>
          <p:cNvSpPr/>
          <p:nvPr/>
        </p:nvSpPr>
        <p:spPr>
          <a:xfrm>
            <a:off x="3246120" y="2432304"/>
            <a:ext cx="777240" cy="320040"/>
          </a:xfrm>
          <a:prstGeom prst="rect">
            <a:avLst/>
          </a:prstGeom>
          <a:solidFill>
            <a:srgbClr val="EDF2F7"/>
          </a:solidFill>
          <a:ln/>
        </p:spPr>
        <p:txBody>
          <a:bodyPr/>
          <a:lstStyle/>
          <a:p>
            <a:endParaRPr lang="en-US"/>
          </a:p>
        </p:txBody>
      </p:sp>
      <p:sp>
        <p:nvSpPr>
          <p:cNvPr id="31" name="Text 29"/>
          <p:cNvSpPr/>
          <p:nvPr/>
        </p:nvSpPr>
        <p:spPr>
          <a:xfrm>
            <a:off x="3282696" y="2432304"/>
            <a:ext cx="72237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BVA-03</a:t>
            </a:r>
            <a:endParaRPr lang="en-US" sz="900" dirty="0"/>
          </a:p>
        </p:txBody>
      </p:sp>
      <p:sp>
        <p:nvSpPr>
          <p:cNvPr id="32" name="Shape 30"/>
          <p:cNvSpPr/>
          <p:nvPr/>
        </p:nvSpPr>
        <p:spPr>
          <a:xfrm>
            <a:off x="4023360" y="2432304"/>
            <a:ext cx="777240" cy="320040"/>
          </a:xfrm>
          <a:prstGeom prst="rect">
            <a:avLst/>
          </a:prstGeom>
          <a:solidFill>
            <a:srgbClr val="EDF2F7"/>
          </a:solidFill>
          <a:ln/>
        </p:spPr>
        <p:txBody>
          <a:bodyPr/>
          <a:lstStyle/>
          <a:p>
            <a:endParaRPr lang="en-US"/>
          </a:p>
        </p:txBody>
      </p:sp>
      <p:sp>
        <p:nvSpPr>
          <p:cNvPr id="33" name="Text 31"/>
          <p:cNvSpPr/>
          <p:nvPr/>
        </p:nvSpPr>
        <p:spPr>
          <a:xfrm>
            <a:off x="4059936" y="2432304"/>
            <a:ext cx="72237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1</a:t>
            </a:r>
            <a:endParaRPr lang="en-US" sz="900" dirty="0"/>
          </a:p>
        </p:txBody>
      </p:sp>
      <p:sp>
        <p:nvSpPr>
          <p:cNvPr id="34" name="Shape 32"/>
          <p:cNvSpPr/>
          <p:nvPr/>
        </p:nvSpPr>
        <p:spPr>
          <a:xfrm>
            <a:off x="4800600" y="2432304"/>
            <a:ext cx="914400" cy="320040"/>
          </a:xfrm>
          <a:prstGeom prst="rect">
            <a:avLst/>
          </a:prstGeom>
          <a:solidFill>
            <a:srgbClr val="EDF2F7"/>
          </a:solidFill>
          <a:ln/>
        </p:spPr>
        <p:txBody>
          <a:bodyPr/>
          <a:lstStyle/>
          <a:p>
            <a:endParaRPr lang="en-US"/>
          </a:p>
        </p:txBody>
      </p:sp>
      <p:sp>
        <p:nvSpPr>
          <p:cNvPr id="35" name="Text 33"/>
          <p:cNvSpPr/>
          <p:nvPr/>
        </p:nvSpPr>
        <p:spPr>
          <a:xfrm>
            <a:off x="4837176" y="2432304"/>
            <a:ext cx="85953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3mg/kg</a:t>
            </a:r>
            <a:endParaRPr lang="en-US" sz="900" dirty="0"/>
          </a:p>
        </p:txBody>
      </p:sp>
      <p:sp>
        <p:nvSpPr>
          <p:cNvPr id="36" name="Shape 34"/>
          <p:cNvSpPr/>
          <p:nvPr/>
        </p:nvSpPr>
        <p:spPr>
          <a:xfrm>
            <a:off x="5715000" y="2432304"/>
            <a:ext cx="2743200" cy="320040"/>
          </a:xfrm>
          <a:prstGeom prst="rect">
            <a:avLst/>
          </a:prstGeom>
          <a:solidFill>
            <a:srgbClr val="EDF2F7"/>
          </a:solidFill>
          <a:ln/>
        </p:spPr>
        <p:txBody>
          <a:bodyPr/>
          <a:lstStyle/>
          <a:p>
            <a:endParaRPr lang="en-US"/>
          </a:p>
        </p:txBody>
      </p:sp>
      <p:sp>
        <p:nvSpPr>
          <p:cNvPr id="37" name="Text 35"/>
          <p:cNvSpPr/>
          <p:nvPr/>
        </p:nvSpPr>
        <p:spPr>
          <a:xfrm>
            <a:off x="5751576" y="2432304"/>
            <a:ext cx="268833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Just above min — pediatric</a:t>
            </a:r>
            <a:endParaRPr lang="en-US" sz="900" dirty="0"/>
          </a:p>
        </p:txBody>
      </p:sp>
      <p:sp>
        <p:nvSpPr>
          <p:cNvPr id="38" name="Shape 36"/>
          <p:cNvSpPr/>
          <p:nvPr/>
        </p:nvSpPr>
        <p:spPr>
          <a:xfrm>
            <a:off x="3246120" y="2770632"/>
            <a:ext cx="777240" cy="320040"/>
          </a:xfrm>
          <a:prstGeom prst="rect">
            <a:avLst/>
          </a:prstGeom>
          <a:solidFill>
            <a:srgbClr val="FFF8E1"/>
          </a:solidFill>
          <a:ln/>
        </p:spPr>
        <p:txBody>
          <a:bodyPr/>
          <a:lstStyle/>
          <a:p>
            <a:endParaRPr lang="en-US"/>
          </a:p>
        </p:txBody>
      </p:sp>
      <p:sp>
        <p:nvSpPr>
          <p:cNvPr id="39" name="Text 37"/>
          <p:cNvSpPr/>
          <p:nvPr/>
        </p:nvSpPr>
        <p:spPr>
          <a:xfrm>
            <a:off x="3282696" y="2770632"/>
            <a:ext cx="72237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BVA-04</a:t>
            </a:r>
            <a:endParaRPr lang="en-US" sz="900" dirty="0"/>
          </a:p>
        </p:txBody>
      </p:sp>
      <p:sp>
        <p:nvSpPr>
          <p:cNvPr id="40" name="Shape 38"/>
          <p:cNvSpPr/>
          <p:nvPr/>
        </p:nvSpPr>
        <p:spPr>
          <a:xfrm>
            <a:off x="4023360" y="2770632"/>
            <a:ext cx="777240" cy="320040"/>
          </a:xfrm>
          <a:prstGeom prst="rect">
            <a:avLst/>
          </a:prstGeom>
          <a:solidFill>
            <a:srgbClr val="FFF8E1"/>
          </a:solidFill>
          <a:ln/>
        </p:spPr>
        <p:txBody>
          <a:bodyPr/>
          <a:lstStyle/>
          <a:p>
            <a:endParaRPr lang="en-US"/>
          </a:p>
        </p:txBody>
      </p:sp>
      <p:sp>
        <p:nvSpPr>
          <p:cNvPr id="41" name="Text 39"/>
          <p:cNvSpPr/>
          <p:nvPr/>
        </p:nvSpPr>
        <p:spPr>
          <a:xfrm>
            <a:off x="4059936" y="2770632"/>
            <a:ext cx="722376" cy="320040"/>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17</a:t>
            </a:r>
            <a:endParaRPr lang="en-US" sz="900" dirty="0"/>
          </a:p>
        </p:txBody>
      </p:sp>
      <p:sp>
        <p:nvSpPr>
          <p:cNvPr id="42" name="Shape 40"/>
          <p:cNvSpPr/>
          <p:nvPr/>
        </p:nvSpPr>
        <p:spPr>
          <a:xfrm>
            <a:off x="4800600" y="2770632"/>
            <a:ext cx="914400" cy="320040"/>
          </a:xfrm>
          <a:prstGeom prst="rect">
            <a:avLst/>
          </a:prstGeom>
          <a:solidFill>
            <a:srgbClr val="FFF8E1"/>
          </a:solidFill>
          <a:ln/>
        </p:spPr>
        <p:txBody>
          <a:bodyPr/>
          <a:lstStyle/>
          <a:p>
            <a:endParaRPr lang="en-US"/>
          </a:p>
        </p:txBody>
      </p:sp>
      <p:sp>
        <p:nvSpPr>
          <p:cNvPr id="43" name="Text 41"/>
          <p:cNvSpPr/>
          <p:nvPr/>
        </p:nvSpPr>
        <p:spPr>
          <a:xfrm>
            <a:off x="4837176" y="2770632"/>
            <a:ext cx="859536" cy="320040"/>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3mg/kg</a:t>
            </a:r>
            <a:endParaRPr lang="en-US" sz="900" dirty="0"/>
          </a:p>
        </p:txBody>
      </p:sp>
      <p:sp>
        <p:nvSpPr>
          <p:cNvPr id="44" name="Shape 42"/>
          <p:cNvSpPr/>
          <p:nvPr/>
        </p:nvSpPr>
        <p:spPr>
          <a:xfrm>
            <a:off x="5715000" y="2770632"/>
            <a:ext cx="2743200" cy="320040"/>
          </a:xfrm>
          <a:prstGeom prst="rect">
            <a:avLst/>
          </a:prstGeom>
          <a:solidFill>
            <a:srgbClr val="FFF8E1"/>
          </a:solidFill>
          <a:ln/>
        </p:spPr>
        <p:txBody>
          <a:bodyPr/>
          <a:lstStyle/>
          <a:p>
            <a:endParaRPr lang="en-US"/>
          </a:p>
        </p:txBody>
      </p:sp>
      <p:sp>
        <p:nvSpPr>
          <p:cNvPr id="45" name="Text 43"/>
          <p:cNvSpPr/>
          <p:nvPr/>
        </p:nvSpPr>
        <p:spPr>
          <a:xfrm>
            <a:off x="5751576" y="2770632"/>
            <a:ext cx="2688336" cy="320040"/>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Last pediatric age ← KEY</a:t>
            </a:r>
            <a:endParaRPr lang="en-US" sz="900" dirty="0"/>
          </a:p>
        </p:txBody>
      </p:sp>
      <p:sp>
        <p:nvSpPr>
          <p:cNvPr id="46" name="Shape 44"/>
          <p:cNvSpPr/>
          <p:nvPr/>
        </p:nvSpPr>
        <p:spPr>
          <a:xfrm>
            <a:off x="3246120" y="3108960"/>
            <a:ext cx="777240" cy="320040"/>
          </a:xfrm>
          <a:prstGeom prst="rect">
            <a:avLst/>
          </a:prstGeom>
          <a:solidFill>
            <a:srgbClr val="FFF8E1"/>
          </a:solidFill>
          <a:ln/>
        </p:spPr>
        <p:txBody>
          <a:bodyPr/>
          <a:lstStyle/>
          <a:p>
            <a:endParaRPr lang="en-US"/>
          </a:p>
        </p:txBody>
      </p:sp>
      <p:sp>
        <p:nvSpPr>
          <p:cNvPr id="47" name="Text 45"/>
          <p:cNvSpPr/>
          <p:nvPr/>
        </p:nvSpPr>
        <p:spPr>
          <a:xfrm>
            <a:off x="3282696" y="3108960"/>
            <a:ext cx="72237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BVA-05</a:t>
            </a:r>
            <a:endParaRPr lang="en-US" sz="900" dirty="0"/>
          </a:p>
        </p:txBody>
      </p:sp>
      <p:sp>
        <p:nvSpPr>
          <p:cNvPr id="48" name="Shape 46"/>
          <p:cNvSpPr/>
          <p:nvPr/>
        </p:nvSpPr>
        <p:spPr>
          <a:xfrm>
            <a:off x="4023360" y="3108960"/>
            <a:ext cx="777240" cy="320040"/>
          </a:xfrm>
          <a:prstGeom prst="rect">
            <a:avLst/>
          </a:prstGeom>
          <a:solidFill>
            <a:srgbClr val="FFF8E1"/>
          </a:solidFill>
          <a:ln/>
        </p:spPr>
        <p:txBody>
          <a:bodyPr/>
          <a:lstStyle/>
          <a:p>
            <a:endParaRPr lang="en-US"/>
          </a:p>
        </p:txBody>
      </p:sp>
      <p:sp>
        <p:nvSpPr>
          <p:cNvPr id="49" name="Text 47"/>
          <p:cNvSpPr/>
          <p:nvPr/>
        </p:nvSpPr>
        <p:spPr>
          <a:xfrm>
            <a:off x="4059936" y="3108960"/>
            <a:ext cx="722376" cy="320040"/>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18</a:t>
            </a:r>
            <a:endParaRPr lang="en-US" sz="900" dirty="0"/>
          </a:p>
        </p:txBody>
      </p:sp>
      <p:sp>
        <p:nvSpPr>
          <p:cNvPr id="50" name="Shape 48"/>
          <p:cNvSpPr/>
          <p:nvPr/>
        </p:nvSpPr>
        <p:spPr>
          <a:xfrm>
            <a:off x="4800600" y="3108960"/>
            <a:ext cx="914400" cy="320040"/>
          </a:xfrm>
          <a:prstGeom prst="rect">
            <a:avLst/>
          </a:prstGeom>
          <a:solidFill>
            <a:srgbClr val="FFF8E1"/>
          </a:solidFill>
          <a:ln/>
        </p:spPr>
        <p:txBody>
          <a:bodyPr/>
          <a:lstStyle/>
          <a:p>
            <a:endParaRPr lang="en-US"/>
          </a:p>
        </p:txBody>
      </p:sp>
      <p:sp>
        <p:nvSpPr>
          <p:cNvPr id="51" name="Text 49"/>
          <p:cNvSpPr/>
          <p:nvPr/>
        </p:nvSpPr>
        <p:spPr>
          <a:xfrm>
            <a:off x="4837176" y="3108960"/>
            <a:ext cx="859536" cy="320040"/>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5mg/kg</a:t>
            </a:r>
            <a:endParaRPr lang="en-US" sz="900" dirty="0"/>
          </a:p>
        </p:txBody>
      </p:sp>
      <p:sp>
        <p:nvSpPr>
          <p:cNvPr id="52" name="Shape 50"/>
          <p:cNvSpPr/>
          <p:nvPr/>
        </p:nvSpPr>
        <p:spPr>
          <a:xfrm>
            <a:off x="5715000" y="3108960"/>
            <a:ext cx="2743200" cy="320040"/>
          </a:xfrm>
          <a:prstGeom prst="rect">
            <a:avLst/>
          </a:prstGeom>
          <a:solidFill>
            <a:srgbClr val="FFF8E1"/>
          </a:solidFill>
          <a:ln/>
        </p:spPr>
        <p:txBody>
          <a:bodyPr/>
          <a:lstStyle/>
          <a:p>
            <a:endParaRPr lang="en-US"/>
          </a:p>
        </p:txBody>
      </p:sp>
      <p:sp>
        <p:nvSpPr>
          <p:cNvPr id="53" name="Text 51"/>
          <p:cNvSpPr/>
          <p:nvPr/>
        </p:nvSpPr>
        <p:spPr>
          <a:xfrm>
            <a:off x="5751576" y="3108960"/>
            <a:ext cx="2688336" cy="320040"/>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First adult age ← KEY BOUNDARY</a:t>
            </a:r>
            <a:endParaRPr lang="en-US" sz="900" dirty="0"/>
          </a:p>
        </p:txBody>
      </p:sp>
      <p:sp>
        <p:nvSpPr>
          <p:cNvPr id="54" name="Shape 52"/>
          <p:cNvSpPr/>
          <p:nvPr/>
        </p:nvSpPr>
        <p:spPr>
          <a:xfrm>
            <a:off x="3246120" y="3447288"/>
            <a:ext cx="777240" cy="320040"/>
          </a:xfrm>
          <a:prstGeom prst="rect">
            <a:avLst/>
          </a:prstGeom>
          <a:solidFill>
            <a:srgbClr val="FFF8E1"/>
          </a:solidFill>
          <a:ln/>
        </p:spPr>
        <p:txBody>
          <a:bodyPr/>
          <a:lstStyle/>
          <a:p>
            <a:endParaRPr lang="en-US"/>
          </a:p>
        </p:txBody>
      </p:sp>
      <p:sp>
        <p:nvSpPr>
          <p:cNvPr id="55" name="Text 53"/>
          <p:cNvSpPr/>
          <p:nvPr/>
        </p:nvSpPr>
        <p:spPr>
          <a:xfrm>
            <a:off x="3282696" y="3447288"/>
            <a:ext cx="72237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BVA-06</a:t>
            </a:r>
            <a:endParaRPr lang="en-US" sz="900" dirty="0"/>
          </a:p>
        </p:txBody>
      </p:sp>
      <p:sp>
        <p:nvSpPr>
          <p:cNvPr id="56" name="Shape 54"/>
          <p:cNvSpPr/>
          <p:nvPr/>
        </p:nvSpPr>
        <p:spPr>
          <a:xfrm>
            <a:off x="4023360" y="3447288"/>
            <a:ext cx="777240" cy="320040"/>
          </a:xfrm>
          <a:prstGeom prst="rect">
            <a:avLst/>
          </a:prstGeom>
          <a:solidFill>
            <a:srgbClr val="FFF8E1"/>
          </a:solidFill>
          <a:ln/>
        </p:spPr>
        <p:txBody>
          <a:bodyPr/>
          <a:lstStyle/>
          <a:p>
            <a:endParaRPr lang="en-US"/>
          </a:p>
        </p:txBody>
      </p:sp>
      <p:sp>
        <p:nvSpPr>
          <p:cNvPr id="57" name="Text 55"/>
          <p:cNvSpPr/>
          <p:nvPr/>
        </p:nvSpPr>
        <p:spPr>
          <a:xfrm>
            <a:off x="4059936" y="3447288"/>
            <a:ext cx="722376" cy="320040"/>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64</a:t>
            </a:r>
            <a:endParaRPr lang="en-US" sz="900" dirty="0"/>
          </a:p>
        </p:txBody>
      </p:sp>
      <p:sp>
        <p:nvSpPr>
          <p:cNvPr id="58" name="Shape 56"/>
          <p:cNvSpPr/>
          <p:nvPr/>
        </p:nvSpPr>
        <p:spPr>
          <a:xfrm>
            <a:off x="4800600" y="3447288"/>
            <a:ext cx="914400" cy="320040"/>
          </a:xfrm>
          <a:prstGeom prst="rect">
            <a:avLst/>
          </a:prstGeom>
          <a:solidFill>
            <a:srgbClr val="FFF8E1"/>
          </a:solidFill>
          <a:ln/>
        </p:spPr>
        <p:txBody>
          <a:bodyPr/>
          <a:lstStyle/>
          <a:p>
            <a:endParaRPr lang="en-US"/>
          </a:p>
        </p:txBody>
      </p:sp>
      <p:sp>
        <p:nvSpPr>
          <p:cNvPr id="59" name="Text 57"/>
          <p:cNvSpPr/>
          <p:nvPr/>
        </p:nvSpPr>
        <p:spPr>
          <a:xfrm>
            <a:off x="4837176" y="3447288"/>
            <a:ext cx="859536" cy="320040"/>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5mg/kg</a:t>
            </a:r>
            <a:endParaRPr lang="en-US" sz="900" dirty="0"/>
          </a:p>
        </p:txBody>
      </p:sp>
      <p:sp>
        <p:nvSpPr>
          <p:cNvPr id="60" name="Shape 58"/>
          <p:cNvSpPr/>
          <p:nvPr/>
        </p:nvSpPr>
        <p:spPr>
          <a:xfrm>
            <a:off x="5715000" y="3447288"/>
            <a:ext cx="2743200" cy="320040"/>
          </a:xfrm>
          <a:prstGeom prst="rect">
            <a:avLst/>
          </a:prstGeom>
          <a:solidFill>
            <a:srgbClr val="FFF8E1"/>
          </a:solidFill>
          <a:ln/>
        </p:spPr>
        <p:txBody>
          <a:bodyPr/>
          <a:lstStyle/>
          <a:p>
            <a:endParaRPr lang="en-US"/>
          </a:p>
        </p:txBody>
      </p:sp>
      <p:sp>
        <p:nvSpPr>
          <p:cNvPr id="61" name="Text 59"/>
          <p:cNvSpPr/>
          <p:nvPr/>
        </p:nvSpPr>
        <p:spPr>
          <a:xfrm>
            <a:off x="5751576" y="3447288"/>
            <a:ext cx="2688336" cy="320040"/>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Last adult age ← KEY</a:t>
            </a:r>
            <a:endParaRPr lang="en-US" sz="900" dirty="0"/>
          </a:p>
        </p:txBody>
      </p:sp>
      <p:sp>
        <p:nvSpPr>
          <p:cNvPr id="62" name="Shape 60"/>
          <p:cNvSpPr/>
          <p:nvPr/>
        </p:nvSpPr>
        <p:spPr>
          <a:xfrm>
            <a:off x="3246120" y="3785616"/>
            <a:ext cx="777240" cy="320040"/>
          </a:xfrm>
          <a:prstGeom prst="rect">
            <a:avLst/>
          </a:prstGeom>
          <a:solidFill>
            <a:srgbClr val="FFF8E1"/>
          </a:solidFill>
          <a:ln/>
        </p:spPr>
        <p:txBody>
          <a:bodyPr/>
          <a:lstStyle/>
          <a:p>
            <a:endParaRPr lang="en-US"/>
          </a:p>
        </p:txBody>
      </p:sp>
      <p:sp>
        <p:nvSpPr>
          <p:cNvPr id="63" name="Text 61"/>
          <p:cNvSpPr/>
          <p:nvPr/>
        </p:nvSpPr>
        <p:spPr>
          <a:xfrm>
            <a:off x="3282696" y="3785616"/>
            <a:ext cx="72237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BVA-07</a:t>
            </a:r>
            <a:endParaRPr lang="en-US" sz="900" dirty="0"/>
          </a:p>
        </p:txBody>
      </p:sp>
      <p:sp>
        <p:nvSpPr>
          <p:cNvPr id="64" name="Shape 62"/>
          <p:cNvSpPr/>
          <p:nvPr/>
        </p:nvSpPr>
        <p:spPr>
          <a:xfrm>
            <a:off x="4023360" y="3785616"/>
            <a:ext cx="777240" cy="320040"/>
          </a:xfrm>
          <a:prstGeom prst="rect">
            <a:avLst/>
          </a:prstGeom>
          <a:solidFill>
            <a:srgbClr val="FFF8E1"/>
          </a:solidFill>
          <a:ln/>
        </p:spPr>
        <p:txBody>
          <a:bodyPr/>
          <a:lstStyle/>
          <a:p>
            <a:endParaRPr lang="en-US"/>
          </a:p>
        </p:txBody>
      </p:sp>
      <p:sp>
        <p:nvSpPr>
          <p:cNvPr id="65" name="Text 63"/>
          <p:cNvSpPr/>
          <p:nvPr/>
        </p:nvSpPr>
        <p:spPr>
          <a:xfrm>
            <a:off x="4059936" y="3785616"/>
            <a:ext cx="722376" cy="320040"/>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65</a:t>
            </a:r>
            <a:endParaRPr lang="en-US" sz="900" dirty="0"/>
          </a:p>
        </p:txBody>
      </p:sp>
      <p:sp>
        <p:nvSpPr>
          <p:cNvPr id="66" name="Shape 64"/>
          <p:cNvSpPr/>
          <p:nvPr/>
        </p:nvSpPr>
        <p:spPr>
          <a:xfrm>
            <a:off x="4800600" y="3785616"/>
            <a:ext cx="914400" cy="320040"/>
          </a:xfrm>
          <a:prstGeom prst="rect">
            <a:avLst/>
          </a:prstGeom>
          <a:solidFill>
            <a:srgbClr val="FFF8E1"/>
          </a:solidFill>
          <a:ln/>
        </p:spPr>
        <p:txBody>
          <a:bodyPr/>
          <a:lstStyle/>
          <a:p>
            <a:endParaRPr lang="en-US"/>
          </a:p>
        </p:txBody>
      </p:sp>
      <p:sp>
        <p:nvSpPr>
          <p:cNvPr id="67" name="Text 65"/>
          <p:cNvSpPr/>
          <p:nvPr/>
        </p:nvSpPr>
        <p:spPr>
          <a:xfrm>
            <a:off x="4837176" y="3785616"/>
            <a:ext cx="859536" cy="320040"/>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4mg/kg</a:t>
            </a:r>
            <a:endParaRPr lang="en-US" sz="900" dirty="0"/>
          </a:p>
        </p:txBody>
      </p:sp>
      <p:sp>
        <p:nvSpPr>
          <p:cNvPr id="68" name="Shape 66"/>
          <p:cNvSpPr/>
          <p:nvPr/>
        </p:nvSpPr>
        <p:spPr>
          <a:xfrm>
            <a:off x="5715000" y="3785616"/>
            <a:ext cx="2743200" cy="320040"/>
          </a:xfrm>
          <a:prstGeom prst="rect">
            <a:avLst/>
          </a:prstGeom>
          <a:solidFill>
            <a:srgbClr val="FFF8E1"/>
          </a:solidFill>
          <a:ln/>
        </p:spPr>
        <p:txBody>
          <a:bodyPr/>
          <a:lstStyle/>
          <a:p>
            <a:endParaRPr lang="en-US"/>
          </a:p>
        </p:txBody>
      </p:sp>
      <p:sp>
        <p:nvSpPr>
          <p:cNvPr id="69" name="Text 67"/>
          <p:cNvSpPr/>
          <p:nvPr/>
        </p:nvSpPr>
        <p:spPr>
          <a:xfrm>
            <a:off x="5751576" y="3785616"/>
            <a:ext cx="2688336" cy="320040"/>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First elderly age ← KEY BOUNDARY</a:t>
            </a:r>
            <a:endParaRPr lang="en-US" sz="900" dirty="0"/>
          </a:p>
        </p:txBody>
      </p:sp>
      <p:sp>
        <p:nvSpPr>
          <p:cNvPr id="70" name="Shape 68"/>
          <p:cNvSpPr/>
          <p:nvPr/>
        </p:nvSpPr>
        <p:spPr>
          <a:xfrm>
            <a:off x="3246120" y="4123944"/>
            <a:ext cx="777240" cy="320040"/>
          </a:xfrm>
          <a:prstGeom prst="rect">
            <a:avLst/>
          </a:prstGeom>
          <a:solidFill>
            <a:srgbClr val="FFFFFF"/>
          </a:solidFill>
          <a:ln/>
        </p:spPr>
        <p:txBody>
          <a:bodyPr/>
          <a:lstStyle/>
          <a:p>
            <a:endParaRPr lang="en-US"/>
          </a:p>
        </p:txBody>
      </p:sp>
      <p:sp>
        <p:nvSpPr>
          <p:cNvPr id="71" name="Text 69"/>
          <p:cNvSpPr/>
          <p:nvPr/>
        </p:nvSpPr>
        <p:spPr>
          <a:xfrm>
            <a:off x="3282696" y="4123944"/>
            <a:ext cx="72237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BVA-08</a:t>
            </a:r>
            <a:endParaRPr lang="en-US" sz="900" dirty="0"/>
          </a:p>
        </p:txBody>
      </p:sp>
      <p:sp>
        <p:nvSpPr>
          <p:cNvPr id="72" name="Shape 70"/>
          <p:cNvSpPr/>
          <p:nvPr/>
        </p:nvSpPr>
        <p:spPr>
          <a:xfrm>
            <a:off x="4023360" y="4123944"/>
            <a:ext cx="777240" cy="320040"/>
          </a:xfrm>
          <a:prstGeom prst="rect">
            <a:avLst/>
          </a:prstGeom>
          <a:solidFill>
            <a:srgbClr val="FFFFFF"/>
          </a:solidFill>
          <a:ln/>
        </p:spPr>
        <p:txBody>
          <a:bodyPr/>
          <a:lstStyle/>
          <a:p>
            <a:endParaRPr lang="en-US"/>
          </a:p>
        </p:txBody>
      </p:sp>
      <p:sp>
        <p:nvSpPr>
          <p:cNvPr id="73" name="Text 71"/>
          <p:cNvSpPr/>
          <p:nvPr/>
        </p:nvSpPr>
        <p:spPr>
          <a:xfrm>
            <a:off x="4059936" y="4123944"/>
            <a:ext cx="72237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120</a:t>
            </a:r>
            <a:endParaRPr lang="en-US" sz="900" dirty="0"/>
          </a:p>
        </p:txBody>
      </p:sp>
      <p:sp>
        <p:nvSpPr>
          <p:cNvPr id="74" name="Shape 72"/>
          <p:cNvSpPr/>
          <p:nvPr/>
        </p:nvSpPr>
        <p:spPr>
          <a:xfrm>
            <a:off x="4800600" y="4123944"/>
            <a:ext cx="914400" cy="320040"/>
          </a:xfrm>
          <a:prstGeom prst="rect">
            <a:avLst/>
          </a:prstGeom>
          <a:solidFill>
            <a:srgbClr val="FFFFFF"/>
          </a:solidFill>
          <a:ln/>
        </p:spPr>
        <p:txBody>
          <a:bodyPr/>
          <a:lstStyle/>
          <a:p>
            <a:endParaRPr lang="en-US"/>
          </a:p>
        </p:txBody>
      </p:sp>
      <p:sp>
        <p:nvSpPr>
          <p:cNvPr id="75" name="Text 73"/>
          <p:cNvSpPr/>
          <p:nvPr/>
        </p:nvSpPr>
        <p:spPr>
          <a:xfrm>
            <a:off x="4837176" y="4123944"/>
            <a:ext cx="85953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4mg/kg</a:t>
            </a:r>
            <a:endParaRPr lang="en-US" sz="900" dirty="0"/>
          </a:p>
        </p:txBody>
      </p:sp>
      <p:sp>
        <p:nvSpPr>
          <p:cNvPr id="76" name="Shape 74"/>
          <p:cNvSpPr/>
          <p:nvPr/>
        </p:nvSpPr>
        <p:spPr>
          <a:xfrm>
            <a:off x="5715000" y="4123944"/>
            <a:ext cx="2743200" cy="320040"/>
          </a:xfrm>
          <a:prstGeom prst="rect">
            <a:avLst/>
          </a:prstGeom>
          <a:solidFill>
            <a:srgbClr val="FFFFFF"/>
          </a:solidFill>
          <a:ln/>
        </p:spPr>
        <p:txBody>
          <a:bodyPr/>
          <a:lstStyle/>
          <a:p>
            <a:endParaRPr lang="en-US"/>
          </a:p>
        </p:txBody>
      </p:sp>
      <p:sp>
        <p:nvSpPr>
          <p:cNvPr id="77" name="Text 75"/>
          <p:cNvSpPr/>
          <p:nvPr/>
        </p:nvSpPr>
        <p:spPr>
          <a:xfrm>
            <a:off x="5751576" y="4123944"/>
            <a:ext cx="2688336" cy="320040"/>
          </a:xfrm>
          <a:prstGeom prst="rect">
            <a:avLst/>
          </a:prstGeom>
          <a:noFill/>
          <a:ln/>
        </p:spPr>
        <p:txBody>
          <a:bodyPr wrap="square" rtlCol="0" anchor="ctr"/>
          <a:lstStyle/>
          <a:p>
            <a:pPr marL="0" indent="0">
              <a:buNone/>
            </a:pPr>
            <a:r>
              <a:rPr lang="en-US" sz="900" dirty="0">
                <a:solidFill>
                  <a:srgbClr val="0A2540"/>
                </a:solidFill>
                <a:latin typeface="Calibri" pitchFamily="34" charset="0"/>
                <a:ea typeface="Calibri" pitchFamily="34" charset="-122"/>
                <a:cs typeface="Calibri" pitchFamily="34" charset="-120"/>
              </a:rPr>
              <a:t>Maximum valid age</a:t>
            </a:r>
            <a:endParaRPr lang="en-US" sz="900" dirty="0"/>
          </a:p>
        </p:txBody>
      </p:sp>
      <p:sp>
        <p:nvSpPr>
          <p:cNvPr id="78" name="Shape 76"/>
          <p:cNvSpPr/>
          <p:nvPr/>
        </p:nvSpPr>
        <p:spPr>
          <a:xfrm>
            <a:off x="3246120" y="4462272"/>
            <a:ext cx="777240" cy="320040"/>
          </a:xfrm>
          <a:prstGeom prst="rect">
            <a:avLst/>
          </a:prstGeom>
          <a:solidFill>
            <a:srgbClr val="EDF2F7"/>
          </a:solidFill>
          <a:ln/>
        </p:spPr>
        <p:txBody>
          <a:bodyPr/>
          <a:lstStyle/>
          <a:p>
            <a:endParaRPr lang="en-US"/>
          </a:p>
        </p:txBody>
      </p:sp>
      <p:sp>
        <p:nvSpPr>
          <p:cNvPr id="79" name="Text 77"/>
          <p:cNvSpPr/>
          <p:nvPr/>
        </p:nvSpPr>
        <p:spPr>
          <a:xfrm>
            <a:off x="3282696" y="4462272"/>
            <a:ext cx="722376" cy="320040"/>
          </a:xfrm>
          <a:prstGeom prst="rect">
            <a:avLst/>
          </a:prstGeom>
          <a:noFill/>
          <a:ln/>
        </p:spPr>
        <p:txBody>
          <a:bodyPr wrap="square" rtlCol="0" anchor="ctr"/>
          <a:lstStyle/>
          <a:p>
            <a:pPr marL="0" indent="0">
              <a:buNone/>
            </a:pPr>
            <a:r>
              <a:rPr lang="en-US" sz="900" dirty="0">
                <a:solidFill>
                  <a:srgbClr val="C0392B"/>
                </a:solidFill>
                <a:latin typeface="Calibri" pitchFamily="34" charset="0"/>
                <a:ea typeface="Calibri" pitchFamily="34" charset="-122"/>
                <a:cs typeface="Calibri" pitchFamily="34" charset="-120"/>
              </a:rPr>
              <a:t>BVA-09</a:t>
            </a:r>
            <a:endParaRPr lang="en-US" sz="900" dirty="0"/>
          </a:p>
        </p:txBody>
      </p:sp>
      <p:sp>
        <p:nvSpPr>
          <p:cNvPr id="80" name="Shape 78"/>
          <p:cNvSpPr/>
          <p:nvPr/>
        </p:nvSpPr>
        <p:spPr>
          <a:xfrm>
            <a:off x="4023360" y="4462272"/>
            <a:ext cx="777240" cy="320040"/>
          </a:xfrm>
          <a:prstGeom prst="rect">
            <a:avLst/>
          </a:prstGeom>
          <a:solidFill>
            <a:srgbClr val="EDF2F7"/>
          </a:solidFill>
          <a:ln/>
        </p:spPr>
        <p:txBody>
          <a:bodyPr/>
          <a:lstStyle/>
          <a:p>
            <a:endParaRPr lang="en-US"/>
          </a:p>
        </p:txBody>
      </p:sp>
      <p:sp>
        <p:nvSpPr>
          <p:cNvPr id="81" name="Text 79"/>
          <p:cNvSpPr/>
          <p:nvPr/>
        </p:nvSpPr>
        <p:spPr>
          <a:xfrm>
            <a:off x="4059936" y="4462272"/>
            <a:ext cx="722376" cy="320040"/>
          </a:xfrm>
          <a:prstGeom prst="rect">
            <a:avLst/>
          </a:prstGeom>
          <a:noFill/>
          <a:ln/>
        </p:spPr>
        <p:txBody>
          <a:bodyPr wrap="square" rtlCol="0" anchor="ctr"/>
          <a:lstStyle/>
          <a:p>
            <a:pPr marL="0" indent="0">
              <a:buNone/>
            </a:pPr>
            <a:r>
              <a:rPr lang="en-US" sz="900" dirty="0">
                <a:solidFill>
                  <a:srgbClr val="C0392B"/>
                </a:solidFill>
                <a:latin typeface="Calibri" pitchFamily="34" charset="0"/>
                <a:ea typeface="Calibri" pitchFamily="34" charset="-122"/>
                <a:cs typeface="Calibri" pitchFamily="34" charset="-120"/>
              </a:rPr>
              <a:t>121</a:t>
            </a:r>
            <a:endParaRPr lang="en-US" sz="900" dirty="0"/>
          </a:p>
        </p:txBody>
      </p:sp>
      <p:sp>
        <p:nvSpPr>
          <p:cNvPr id="82" name="Shape 80"/>
          <p:cNvSpPr/>
          <p:nvPr/>
        </p:nvSpPr>
        <p:spPr>
          <a:xfrm>
            <a:off x="4800600" y="4462272"/>
            <a:ext cx="914400" cy="320040"/>
          </a:xfrm>
          <a:prstGeom prst="rect">
            <a:avLst/>
          </a:prstGeom>
          <a:solidFill>
            <a:srgbClr val="EDF2F7"/>
          </a:solidFill>
          <a:ln/>
        </p:spPr>
        <p:txBody>
          <a:bodyPr/>
          <a:lstStyle/>
          <a:p>
            <a:endParaRPr lang="en-US"/>
          </a:p>
        </p:txBody>
      </p:sp>
      <p:sp>
        <p:nvSpPr>
          <p:cNvPr id="83" name="Text 81"/>
          <p:cNvSpPr/>
          <p:nvPr/>
        </p:nvSpPr>
        <p:spPr>
          <a:xfrm>
            <a:off x="4837176" y="4462272"/>
            <a:ext cx="859536" cy="320040"/>
          </a:xfrm>
          <a:prstGeom prst="rect">
            <a:avLst/>
          </a:prstGeom>
          <a:noFill/>
          <a:ln/>
        </p:spPr>
        <p:txBody>
          <a:bodyPr wrap="square" rtlCol="0" anchor="ctr"/>
          <a:lstStyle/>
          <a:p>
            <a:pPr marL="0" indent="0">
              <a:buNone/>
            </a:pPr>
            <a:r>
              <a:rPr lang="en-US" sz="900" dirty="0">
                <a:solidFill>
                  <a:srgbClr val="C0392B"/>
                </a:solidFill>
                <a:latin typeface="Calibri" pitchFamily="34" charset="0"/>
                <a:ea typeface="Calibri" pitchFamily="34" charset="-122"/>
                <a:cs typeface="Calibri" pitchFamily="34" charset="-120"/>
              </a:rPr>
              <a:t>Exception</a:t>
            </a:r>
            <a:endParaRPr lang="en-US" sz="900" dirty="0"/>
          </a:p>
        </p:txBody>
      </p:sp>
      <p:sp>
        <p:nvSpPr>
          <p:cNvPr id="84" name="Shape 82"/>
          <p:cNvSpPr/>
          <p:nvPr/>
        </p:nvSpPr>
        <p:spPr>
          <a:xfrm>
            <a:off x="5715000" y="4462272"/>
            <a:ext cx="2743200" cy="320040"/>
          </a:xfrm>
          <a:prstGeom prst="rect">
            <a:avLst/>
          </a:prstGeom>
          <a:solidFill>
            <a:srgbClr val="EDF2F7"/>
          </a:solidFill>
          <a:ln/>
        </p:spPr>
        <p:txBody>
          <a:bodyPr/>
          <a:lstStyle/>
          <a:p>
            <a:endParaRPr lang="en-US"/>
          </a:p>
        </p:txBody>
      </p:sp>
      <p:sp>
        <p:nvSpPr>
          <p:cNvPr id="85" name="Text 83"/>
          <p:cNvSpPr/>
          <p:nvPr/>
        </p:nvSpPr>
        <p:spPr>
          <a:xfrm>
            <a:off x="5751576" y="4462272"/>
            <a:ext cx="2688336" cy="320040"/>
          </a:xfrm>
          <a:prstGeom prst="rect">
            <a:avLst/>
          </a:prstGeom>
          <a:noFill/>
          <a:ln/>
        </p:spPr>
        <p:txBody>
          <a:bodyPr wrap="square" rtlCol="0" anchor="ctr"/>
          <a:lstStyle/>
          <a:p>
            <a:pPr marL="0" indent="0">
              <a:buNone/>
            </a:pPr>
            <a:r>
              <a:rPr lang="en-US" sz="900" dirty="0">
                <a:solidFill>
                  <a:srgbClr val="C0392B"/>
                </a:solidFill>
                <a:latin typeface="Calibri" pitchFamily="34" charset="0"/>
                <a:ea typeface="Calibri" pitchFamily="34" charset="-122"/>
                <a:cs typeface="Calibri" pitchFamily="34" charset="-120"/>
              </a:rPr>
              <a:t>Just above maximum — invalid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chemeClr val="tx1"/>
          </a:solidFill>
          <a:ln/>
        </p:spPr>
        <p:txBody>
          <a:bodyPr/>
          <a:lstStyle/>
          <a:p>
            <a:endParaRPr lang="en-US"/>
          </a:p>
        </p:txBody>
      </p:sp>
      <p:sp>
        <p:nvSpPr>
          <p:cNvPr id="3" name="Text 1"/>
          <p:cNvSpPr/>
          <p:nvPr/>
        </p:nvSpPr>
        <p:spPr>
          <a:xfrm>
            <a:off x="411480" y="0"/>
            <a:ext cx="8412480" cy="658368"/>
          </a:xfrm>
          <a:prstGeom prst="rect">
            <a:avLst/>
          </a:prstGeom>
          <a:noFill/>
          <a:ln/>
        </p:spPr>
        <p:txBody>
          <a:bodyPr wrap="square" rtlCol="0" anchor="b"/>
          <a:lstStyle/>
          <a:p>
            <a:pPr marL="0" indent="0">
              <a:buNone/>
            </a:pPr>
            <a:r>
              <a:rPr lang="en-US" sz="2800" b="1" dirty="0">
                <a:solidFill>
                  <a:srgbClr val="FFFFFF"/>
                </a:solidFill>
                <a:latin typeface="Georgia" pitchFamily="34" charset="0"/>
                <a:ea typeface="Georgia" pitchFamily="34" charset="-122"/>
                <a:cs typeface="Georgia" pitchFamily="34" charset="-120"/>
              </a:rPr>
              <a:t>EPC — Equivalence Partitioning Classes</a:t>
            </a:r>
            <a:endParaRPr lang="en-US" sz="2800" dirty="0"/>
          </a:p>
        </p:txBody>
      </p:sp>
      <p:sp>
        <p:nvSpPr>
          <p:cNvPr id="4" name="Text 2"/>
          <p:cNvSpPr/>
          <p:nvPr/>
        </p:nvSpPr>
        <p:spPr>
          <a:xfrm>
            <a:off x="411480" y="658368"/>
            <a:ext cx="8412480" cy="347472"/>
          </a:xfrm>
          <a:prstGeom prst="rect">
            <a:avLst/>
          </a:prstGeom>
          <a:noFill/>
          <a:ln/>
        </p:spPr>
        <p:txBody>
          <a:bodyPr wrap="square" rtlCol="0" anchor="t"/>
          <a:lstStyle/>
          <a:p>
            <a:pPr marL="0" indent="0">
              <a:buNone/>
            </a:pPr>
            <a:r>
              <a:rPr lang="en-US" sz="1150" dirty="0">
                <a:solidFill>
                  <a:srgbClr val="CBD5E1"/>
                </a:solidFill>
                <a:latin typeface="Calibri" pitchFamily="34" charset="0"/>
                <a:ea typeface="Calibri" pitchFamily="34" charset="-122"/>
                <a:cs typeface="Calibri" pitchFamily="34" charset="-120"/>
              </a:rPr>
              <a:t>Dividing all possible inputs into groups that behave identically — then testing ONE value per group</a:t>
            </a:r>
            <a:endParaRPr lang="en-US" sz="1150" dirty="0"/>
          </a:p>
        </p:txBody>
      </p:sp>
      <p:sp>
        <p:nvSpPr>
          <p:cNvPr id="5" name="Shape 3"/>
          <p:cNvSpPr/>
          <p:nvPr/>
        </p:nvSpPr>
        <p:spPr>
          <a:xfrm>
            <a:off x="347472" y="1115568"/>
            <a:ext cx="2606040" cy="3730752"/>
          </a:xfrm>
          <a:prstGeom prst="rect">
            <a:avLst/>
          </a:prstGeom>
          <a:solidFill>
            <a:srgbClr val="0A2540"/>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475488" y="1207008"/>
            <a:ext cx="2359152" cy="201168"/>
          </a:xfrm>
          <a:prstGeom prst="rect">
            <a:avLst/>
          </a:prstGeom>
          <a:noFill/>
          <a:ln/>
        </p:spPr>
        <p:txBody>
          <a:bodyPr wrap="square" rtlCol="0" anchor="ctr"/>
          <a:lstStyle/>
          <a:p>
            <a:pPr marL="0" indent="0">
              <a:buNone/>
            </a:pPr>
            <a:r>
              <a:rPr lang="en-US" sz="800" b="1" kern="0" spc="300" dirty="0">
                <a:solidFill>
                  <a:srgbClr val="02C39A"/>
                </a:solidFill>
                <a:latin typeface="Calibri" pitchFamily="34" charset="0"/>
                <a:ea typeface="Calibri" pitchFamily="34" charset="-122"/>
                <a:cs typeface="Calibri" pitchFamily="34" charset="-120"/>
              </a:rPr>
              <a:t>WHY EPC?</a:t>
            </a:r>
            <a:endParaRPr lang="en-US" sz="800" dirty="0"/>
          </a:p>
        </p:txBody>
      </p:sp>
      <p:sp>
        <p:nvSpPr>
          <p:cNvPr id="7" name="Text 5"/>
          <p:cNvSpPr/>
          <p:nvPr/>
        </p:nvSpPr>
        <p:spPr>
          <a:xfrm>
            <a:off x="475488" y="1481328"/>
            <a:ext cx="2359152" cy="3291840"/>
          </a:xfrm>
          <a:prstGeom prst="rect">
            <a:avLst/>
          </a:prstGeom>
          <a:noFill/>
          <a:ln/>
        </p:spPr>
        <p:txBody>
          <a:bodyPr wrap="square"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The problem:
</a:t>
            </a:r>
            <a:endParaRPr lang="en-US" sz="1100" dirty="0"/>
          </a:p>
          <a:p>
            <a:pPr marL="0" indent="0">
              <a:buNone/>
            </a:pPr>
            <a:r>
              <a:rPr lang="en-US" sz="1000" dirty="0">
                <a:solidFill>
                  <a:srgbClr val="CBD5E1"/>
                </a:solidFill>
                <a:latin typeface="Calibri" pitchFamily="34" charset="0"/>
                <a:ea typeface="Calibri" pitchFamily="34" charset="-122"/>
                <a:cs typeface="Calibri" pitchFamily="34" charset="-120"/>
              </a:rPr>
              <a:t>Testing every possible age
from 0 to 120 =</a:t>
            </a:r>
            <a:endParaRPr lang="en-US" sz="1100" dirty="0"/>
          </a:p>
          <a:p>
            <a:pPr marL="0" indent="0">
              <a:buNone/>
            </a:pPr>
            <a:r>
              <a:rPr lang="en-US" sz="1200" b="1" dirty="0">
                <a:solidFill>
                  <a:srgbClr val="C0392B"/>
                </a:solidFill>
                <a:latin typeface="Calibri" pitchFamily="34" charset="0"/>
                <a:ea typeface="Calibri" pitchFamily="34" charset="-122"/>
                <a:cs typeface="Calibri" pitchFamily="34" charset="-120"/>
              </a:rPr>
              <a:t>121 separate tests!</a:t>
            </a:r>
          </a:p>
          <a:p>
            <a:pPr marL="0" indent="0">
              <a:buNone/>
            </a:pPr>
            <a:endParaRPr lang="en-US" sz="1100" dirty="0"/>
          </a:p>
          <a:p>
            <a:pPr marL="0" indent="0">
              <a:buNone/>
            </a:pPr>
            <a:r>
              <a:rPr lang="en-US" sz="1100" b="1" dirty="0">
                <a:solidFill>
                  <a:srgbClr val="FFFFFF"/>
                </a:solidFill>
                <a:latin typeface="Calibri" pitchFamily="34" charset="0"/>
                <a:ea typeface="Calibri" pitchFamily="34" charset="-122"/>
                <a:cs typeface="Calibri" pitchFamily="34" charset="-120"/>
              </a:rPr>
              <a:t>The solution:
</a:t>
            </a:r>
            <a:endParaRPr lang="en-US" sz="1100" dirty="0"/>
          </a:p>
          <a:p>
            <a:pPr marL="0" indent="0">
              <a:buNone/>
            </a:pPr>
            <a:r>
              <a:rPr lang="en-US" sz="1000" dirty="0">
                <a:solidFill>
                  <a:srgbClr val="CBD5E1"/>
                </a:solidFill>
                <a:latin typeface="Calibri" pitchFamily="34" charset="0"/>
                <a:ea typeface="Calibri" pitchFamily="34" charset="-122"/>
                <a:cs typeface="Calibri" pitchFamily="34" charset="-120"/>
              </a:rPr>
              <a:t>Ages 18–64 ALL behave
identically (adult rate).
So, test ONE value — age 30 —
and it covers all 47 ages
in that group.
</a:t>
            </a:r>
            <a:endParaRPr lang="en-US" sz="1100" dirty="0"/>
          </a:p>
          <a:p>
            <a:pPr marL="0" indent="0">
              <a:buNone/>
            </a:pPr>
            <a:r>
              <a:rPr lang="en-US" sz="1000" b="1" dirty="0">
                <a:solidFill>
                  <a:srgbClr val="27AE60"/>
                </a:solidFill>
                <a:latin typeface="Calibri" pitchFamily="34" charset="0"/>
                <a:ea typeface="Calibri" pitchFamily="34" charset="-122"/>
                <a:cs typeface="Calibri" pitchFamily="34" charset="-120"/>
              </a:rPr>
              <a:t>Valid partition </a:t>
            </a:r>
            <a:r>
              <a:rPr lang="en-US" sz="1000" dirty="0">
                <a:solidFill>
                  <a:srgbClr val="CBD5E1"/>
                </a:solidFill>
                <a:latin typeface="Calibri" pitchFamily="34" charset="0"/>
                <a:ea typeface="Calibri" pitchFamily="34" charset="-122"/>
                <a:cs typeface="Calibri" pitchFamily="34" charset="-120"/>
              </a:rPr>
              <a:t>= inputs that
should WORK correctly
</a:t>
            </a:r>
            <a:endParaRPr lang="en-US" sz="1100" dirty="0"/>
          </a:p>
          <a:p>
            <a:pPr marL="0" indent="0">
              <a:buNone/>
            </a:pPr>
            <a:r>
              <a:rPr lang="en-US" sz="1000" b="1" dirty="0">
                <a:solidFill>
                  <a:srgbClr val="C0392B"/>
                </a:solidFill>
                <a:latin typeface="Calibri" pitchFamily="34" charset="0"/>
                <a:ea typeface="Calibri" pitchFamily="34" charset="-122"/>
                <a:cs typeface="Calibri" pitchFamily="34" charset="-120"/>
              </a:rPr>
              <a:t>Invalid partition </a:t>
            </a:r>
            <a:r>
              <a:rPr lang="en-US" sz="1000" dirty="0">
                <a:solidFill>
                  <a:srgbClr val="CBD5E1"/>
                </a:solidFill>
                <a:latin typeface="Calibri" pitchFamily="34" charset="0"/>
                <a:ea typeface="Calibri" pitchFamily="34" charset="-122"/>
                <a:cs typeface="Calibri" pitchFamily="34" charset="-120"/>
              </a:rPr>
              <a:t>= inputs</a:t>
            </a:r>
            <a:endParaRPr lang="en-US" sz="1100" dirty="0"/>
          </a:p>
          <a:p>
            <a:pPr marL="0" indent="0">
              <a:buNone/>
            </a:pPr>
            <a:r>
              <a:rPr lang="en-US" sz="1000" dirty="0">
                <a:solidFill>
                  <a:srgbClr val="CBD5E1"/>
                </a:solidFill>
                <a:latin typeface="Calibri" pitchFamily="34" charset="0"/>
                <a:ea typeface="Calibri" pitchFamily="34" charset="-122"/>
                <a:cs typeface="Calibri" pitchFamily="34" charset="-120"/>
              </a:rPr>
              <a:t>that should throw ERROR</a:t>
            </a:r>
            <a:endParaRPr lang="en-US" sz="1100" dirty="0"/>
          </a:p>
        </p:txBody>
      </p:sp>
      <p:sp>
        <p:nvSpPr>
          <p:cNvPr id="8" name="Text 6"/>
          <p:cNvSpPr/>
          <p:nvPr/>
        </p:nvSpPr>
        <p:spPr>
          <a:xfrm>
            <a:off x="3108960" y="1115568"/>
            <a:ext cx="5669280" cy="256032"/>
          </a:xfrm>
          <a:prstGeom prst="rect">
            <a:avLst/>
          </a:prstGeom>
          <a:noFill/>
          <a:ln/>
        </p:spPr>
        <p:txBody>
          <a:bodyPr wrap="square" rtlCol="0" anchor="ctr"/>
          <a:lstStyle/>
          <a:p>
            <a:pPr marL="0" indent="0">
              <a:buNone/>
            </a:pPr>
            <a:r>
              <a:rPr lang="en-US" sz="1000" b="1" kern="0" spc="100" dirty="0">
                <a:solidFill>
                  <a:srgbClr val="64748B"/>
                </a:solidFill>
                <a:latin typeface="Calibri" pitchFamily="34" charset="0"/>
                <a:ea typeface="Calibri" pitchFamily="34" charset="-122"/>
                <a:cs typeface="Calibri" pitchFamily="34" charset="-120"/>
              </a:rPr>
              <a:t>PARTITIONS — calculateDosage(age)</a:t>
            </a:r>
            <a:endParaRPr lang="en-US" sz="1000" dirty="0"/>
          </a:p>
        </p:txBody>
      </p:sp>
      <p:sp>
        <p:nvSpPr>
          <p:cNvPr id="9" name="Shape 7"/>
          <p:cNvSpPr/>
          <p:nvPr/>
        </p:nvSpPr>
        <p:spPr>
          <a:xfrm>
            <a:off x="3108960" y="1444752"/>
            <a:ext cx="402077" cy="347472"/>
          </a:xfrm>
          <a:prstGeom prst="rect">
            <a:avLst/>
          </a:prstGeom>
          <a:solidFill>
            <a:srgbClr val="C0392B"/>
          </a:solidFill>
          <a:ln/>
        </p:spPr>
        <p:txBody>
          <a:bodyPr/>
          <a:lstStyle/>
          <a:p>
            <a:endParaRPr lang="en-US"/>
          </a:p>
        </p:txBody>
      </p:sp>
      <p:sp>
        <p:nvSpPr>
          <p:cNvPr id="10" name="Text 8"/>
          <p:cNvSpPr/>
          <p:nvPr/>
        </p:nvSpPr>
        <p:spPr>
          <a:xfrm>
            <a:off x="3108960" y="1444752"/>
            <a:ext cx="402077"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a:t>
            </a:r>
            <a:endParaRPr lang="en-US" sz="900" dirty="0"/>
          </a:p>
        </p:txBody>
      </p:sp>
      <p:sp>
        <p:nvSpPr>
          <p:cNvPr id="11" name="Shape 9"/>
          <p:cNvSpPr/>
          <p:nvPr/>
        </p:nvSpPr>
        <p:spPr>
          <a:xfrm>
            <a:off x="3511037" y="1444752"/>
            <a:ext cx="723738" cy="347472"/>
          </a:xfrm>
          <a:prstGeom prst="rect">
            <a:avLst/>
          </a:prstGeom>
          <a:solidFill>
            <a:srgbClr val="028090"/>
          </a:solidFill>
          <a:ln/>
        </p:spPr>
        <p:txBody>
          <a:bodyPr/>
          <a:lstStyle/>
          <a:p>
            <a:endParaRPr lang="en-US"/>
          </a:p>
        </p:txBody>
      </p:sp>
      <p:sp>
        <p:nvSpPr>
          <p:cNvPr id="12" name="Text 10"/>
          <p:cNvSpPr/>
          <p:nvPr/>
        </p:nvSpPr>
        <p:spPr>
          <a:xfrm>
            <a:off x="3511037" y="1444752"/>
            <a:ext cx="723738"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18%</a:t>
            </a:r>
            <a:endParaRPr lang="en-US" sz="900" dirty="0"/>
          </a:p>
        </p:txBody>
      </p:sp>
      <p:sp>
        <p:nvSpPr>
          <p:cNvPr id="13" name="Shape 11"/>
          <p:cNvSpPr/>
          <p:nvPr/>
        </p:nvSpPr>
        <p:spPr>
          <a:xfrm>
            <a:off x="4234774" y="1444752"/>
            <a:ext cx="1889760" cy="347472"/>
          </a:xfrm>
          <a:prstGeom prst="rect">
            <a:avLst/>
          </a:prstGeom>
          <a:solidFill>
            <a:srgbClr val="1565C0"/>
          </a:solidFill>
          <a:ln/>
        </p:spPr>
        <p:txBody>
          <a:bodyPr/>
          <a:lstStyle/>
          <a:p>
            <a:endParaRPr lang="en-US"/>
          </a:p>
        </p:txBody>
      </p:sp>
      <p:sp>
        <p:nvSpPr>
          <p:cNvPr id="14" name="Text 12"/>
          <p:cNvSpPr/>
          <p:nvPr/>
        </p:nvSpPr>
        <p:spPr>
          <a:xfrm>
            <a:off x="4234774" y="1444752"/>
            <a:ext cx="1889760"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47%</a:t>
            </a:r>
            <a:endParaRPr lang="en-US" sz="900" dirty="0"/>
          </a:p>
        </p:txBody>
      </p:sp>
      <p:sp>
        <p:nvSpPr>
          <p:cNvPr id="15" name="Shape 13"/>
          <p:cNvSpPr/>
          <p:nvPr/>
        </p:nvSpPr>
        <p:spPr>
          <a:xfrm>
            <a:off x="6124534" y="1444752"/>
            <a:ext cx="2251629" cy="347472"/>
          </a:xfrm>
          <a:prstGeom prst="rect">
            <a:avLst/>
          </a:prstGeom>
          <a:solidFill>
            <a:srgbClr val="7C3AED"/>
          </a:solidFill>
          <a:ln/>
        </p:spPr>
        <p:txBody>
          <a:bodyPr/>
          <a:lstStyle/>
          <a:p>
            <a:endParaRPr lang="en-US"/>
          </a:p>
        </p:txBody>
      </p:sp>
      <p:sp>
        <p:nvSpPr>
          <p:cNvPr id="16" name="Text 14"/>
          <p:cNvSpPr/>
          <p:nvPr/>
        </p:nvSpPr>
        <p:spPr>
          <a:xfrm>
            <a:off x="6124534" y="1444752"/>
            <a:ext cx="2251629"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56%</a:t>
            </a:r>
            <a:endParaRPr lang="en-US" sz="900" dirty="0"/>
          </a:p>
        </p:txBody>
      </p:sp>
      <p:sp>
        <p:nvSpPr>
          <p:cNvPr id="17" name="Shape 15"/>
          <p:cNvSpPr/>
          <p:nvPr/>
        </p:nvSpPr>
        <p:spPr>
          <a:xfrm>
            <a:off x="8376163" y="1444752"/>
            <a:ext cx="402077" cy="347472"/>
          </a:xfrm>
          <a:prstGeom prst="rect">
            <a:avLst/>
          </a:prstGeom>
          <a:solidFill>
            <a:srgbClr val="C0392B"/>
          </a:solidFill>
          <a:ln/>
        </p:spPr>
        <p:txBody>
          <a:bodyPr/>
          <a:lstStyle/>
          <a:p>
            <a:endParaRPr lang="en-US"/>
          </a:p>
        </p:txBody>
      </p:sp>
      <p:sp>
        <p:nvSpPr>
          <p:cNvPr id="18" name="Text 16"/>
          <p:cNvSpPr/>
          <p:nvPr/>
        </p:nvSpPr>
        <p:spPr>
          <a:xfrm>
            <a:off x="8376163" y="1444752"/>
            <a:ext cx="402077"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a:t>
            </a:r>
            <a:endParaRPr lang="en-US" sz="900" dirty="0"/>
          </a:p>
        </p:txBody>
      </p:sp>
      <p:sp>
        <p:nvSpPr>
          <p:cNvPr id="19" name="Text 17"/>
          <p:cNvSpPr/>
          <p:nvPr/>
        </p:nvSpPr>
        <p:spPr>
          <a:xfrm>
            <a:off x="3108960" y="1810512"/>
            <a:ext cx="5669280" cy="164592"/>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 All possible ages (0–120+) shown proportionally →</a:t>
            </a:r>
            <a:endParaRPr lang="en-US" sz="800" dirty="0"/>
          </a:p>
        </p:txBody>
      </p:sp>
      <p:sp>
        <p:nvSpPr>
          <p:cNvPr id="20" name="Shape 18"/>
          <p:cNvSpPr/>
          <p:nvPr/>
        </p:nvSpPr>
        <p:spPr>
          <a:xfrm>
            <a:off x="3108960" y="2029968"/>
            <a:ext cx="1810512" cy="129844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3108960" y="2029968"/>
            <a:ext cx="1810512" cy="274320"/>
          </a:xfrm>
          <a:prstGeom prst="rect">
            <a:avLst/>
          </a:prstGeom>
          <a:solidFill>
            <a:srgbClr val="C0392B"/>
          </a:solidFill>
          <a:ln/>
        </p:spPr>
        <p:txBody>
          <a:bodyPr/>
          <a:lstStyle/>
          <a:p>
            <a:endParaRPr lang="en-US"/>
          </a:p>
        </p:txBody>
      </p:sp>
      <p:sp>
        <p:nvSpPr>
          <p:cNvPr id="22" name="Shape 20"/>
          <p:cNvSpPr/>
          <p:nvPr/>
        </p:nvSpPr>
        <p:spPr>
          <a:xfrm>
            <a:off x="4279392" y="2304288"/>
            <a:ext cx="621792" cy="182880"/>
          </a:xfrm>
          <a:prstGeom prst="rect">
            <a:avLst/>
          </a:prstGeom>
          <a:solidFill>
            <a:srgbClr val="FCF0F0"/>
          </a:solidFill>
          <a:ln/>
        </p:spPr>
        <p:txBody>
          <a:bodyPr/>
          <a:lstStyle/>
          <a:p>
            <a:endParaRPr lang="en-US"/>
          </a:p>
        </p:txBody>
      </p:sp>
      <p:sp>
        <p:nvSpPr>
          <p:cNvPr id="23" name="Text 21"/>
          <p:cNvSpPr/>
          <p:nvPr/>
        </p:nvSpPr>
        <p:spPr>
          <a:xfrm>
            <a:off x="4279392" y="2304288"/>
            <a:ext cx="621792" cy="182880"/>
          </a:xfrm>
          <a:prstGeom prst="rect">
            <a:avLst/>
          </a:prstGeom>
          <a:noFill/>
          <a:ln/>
        </p:spPr>
        <p:txBody>
          <a:bodyPr wrap="square" lIns="0" tIns="0" rIns="0" bIns="0" rtlCol="0" anchor="ctr"/>
          <a:lstStyle/>
          <a:p>
            <a:pPr marL="0" indent="0" algn="ctr">
              <a:buNone/>
            </a:pPr>
            <a:r>
              <a:rPr lang="en-US" sz="700" b="1" dirty="0">
                <a:solidFill>
                  <a:srgbClr val="C0392B"/>
                </a:solidFill>
                <a:latin typeface="Calibri" pitchFamily="34" charset="0"/>
                <a:ea typeface="Calibri" pitchFamily="34" charset="-122"/>
                <a:cs typeface="Calibri" pitchFamily="34" charset="-120"/>
              </a:rPr>
              <a:t>INVALID</a:t>
            </a:r>
            <a:endParaRPr lang="en-US" sz="700" dirty="0"/>
          </a:p>
        </p:txBody>
      </p:sp>
      <p:sp>
        <p:nvSpPr>
          <p:cNvPr id="24" name="Text 22"/>
          <p:cNvSpPr/>
          <p:nvPr/>
        </p:nvSpPr>
        <p:spPr>
          <a:xfrm>
            <a:off x="3182112" y="2029968"/>
            <a:ext cx="1078992"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INVALID BELOW</a:t>
            </a:r>
            <a:endParaRPr lang="en-US" sz="900" dirty="0"/>
          </a:p>
        </p:txBody>
      </p:sp>
      <p:sp>
        <p:nvSpPr>
          <p:cNvPr id="25" name="Text 23"/>
          <p:cNvSpPr/>
          <p:nvPr/>
        </p:nvSpPr>
        <p:spPr>
          <a:xfrm>
            <a:off x="3182112" y="2322576"/>
            <a:ext cx="1664208" cy="201168"/>
          </a:xfrm>
          <a:prstGeom prst="rect">
            <a:avLst/>
          </a:prstGeom>
          <a:noFill/>
          <a:ln/>
        </p:spPr>
        <p:txBody>
          <a:bodyPr wrap="square" rtlCol="0" anchor="ctr"/>
          <a:lstStyle/>
          <a:p>
            <a:pPr marL="0" indent="0">
              <a:buNone/>
            </a:pPr>
            <a:r>
              <a:rPr lang="en-US" sz="950" b="1" dirty="0">
                <a:solidFill>
                  <a:srgbClr val="0A2540"/>
                </a:solidFill>
                <a:latin typeface="Calibri" pitchFamily="34" charset="0"/>
                <a:ea typeface="Calibri" pitchFamily="34" charset="-122"/>
                <a:cs typeface="Calibri" pitchFamily="34" charset="-120"/>
              </a:rPr>
              <a:t>Range: age &lt; 0</a:t>
            </a:r>
            <a:endParaRPr lang="en-US" sz="950" dirty="0"/>
          </a:p>
        </p:txBody>
      </p:sp>
      <p:sp>
        <p:nvSpPr>
          <p:cNvPr id="26" name="Text 24"/>
          <p:cNvSpPr/>
          <p:nvPr/>
        </p:nvSpPr>
        <p:spPr>
          <a:xfrm>
            <a:off x="3182112" y="2523744"/>
            <a:ext cx="1664208" cy="25603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Any negative age is impossible</a:t>
            </a:r>
            <a:endParaRPr lang="en-US" sz="850" dirty="0"/>
          </a:p>
        </p:txBody>
      </p:sp>
      <p:sp>
        <p:nvSpPr>
          <p:cNvPr id="27" name="Shape 25"/>
          <p:cNvSpPr/>
          <p:nvPr/>
        </p:nvSpPr>
        <p:spPr>
          <a:xfrm>
            <a:off x="3182112" y="2807208"/>
            <a:ext cx="1664208" cy="438912"/>
          </a:xfrm>
          <a:prstGeom prst="rect">
            <a:avLst/>
          </a:prstGeom>
          <a:solidFill>
            <a:srgbClr val="FCF0F0"/>
          </a:solidFill>
          <a:ln/>
        </p:spPr>
        <p:txBody>
          <a:bodyPr/>
          <a:lstStyle/>
          <a:p>
            <a:endParaRPr lang="en-US"/>
          </a:p>
        </p:txBody>
      </p:sp>
      <p:sp>
        <p:nvSpPr>
          <p:cNvPr id="28" name="Text 26"/>
          <p:cNvSpPr/>
          <p:nvPr/>
        </p:nvSpPr>
        <p:spPr>
          <a:xfrm>
            <a:off x="3218688" y="2825496"/>
            <a:ext cx="1609344" cy="201168"/>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Test: age = -5</a:t>
            </a:r>
            <a:endParaRPr lang="en-US" sz="900" dirty="0"/>
          </a:p>
        </p:txBody>
      </p:sp>
      <p:sp>
        <p:nvSpPr>
          <p:cNvPr id="29" name="Text 27"/>
          <p:cNvSpPr/>
          <p:nvPr/>
        </p:nvSpPr>
        <p:spPr>
          <a:xfrm>
            <a:off x="3218688" y="3026664"/>
            <a:ext cx="1609344" cy="182880"/>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 Exception</a:t>
            </a:r>
            <a:endParaRPr lang="en-US" sz="900" dirty="0"/>
          </a:p>
        </p:txBody>
      </p:sp>
      <p:sp>
        <p:nvSpPr>
          <p:cNvPr id="30" name="Shape 28"/>
          <p:cNvSpPr/>
          <p:nvPr/>
        </p:nvSpPr>
        <p:spPr>
          <a:xfrm>
            <a:off x="5010912" y="2029968"/>
            <a:ext cx="1810512" cy="129844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1" name="Shape 29"/>
          <p:cNvSpPr/>
          <p:nvPr/>
        </p:nvSpPr>
        <p:spPr>
          <a:xfrm>
            <a:off x="5010912" y="2029968"/>
            <a:ext cx="1810512" cy="274320"/>
          </a:xfrm>
          <a:prstGeom prst="rect">
            <a:avLst/>
          </a:prstGeom>
          <a:solidFill>
            <a:srgbClr val="028090"/>
          </a:solidFill>
          <a:ln/>
        </p:spPr>
        <p:txBody>
          <a:bodyPr/>
          <a:lstStyle/>
          <a:p>
            <a:endParaRPr lang="en-US"/>
          </a:p>
        </p:txBody>
      </p:sp>
      <p:sp>
        <p:nvSpPr>
          <p:cNvPr id="32" name="Shape 30"/>
          <p:cNvSpPr/>
          <p:nvPr/>
        </p:nvSpPr>
        <p:spPr>
          <a:xfrm>
            <a:off x="6254496" y="2304288"/>
            <a:ext cx="548640" cy="182880"/>
          </a:xfrm>
          <a:prstGeom prst="rect">
            <a:avLst/>
          </a:prstGeom>
          <a:solidFill>
            <a:srgbClr val="EAF3DE"/>
          </a:solidFill>
          <a:ln/>
        </p:spPr>
        <p:txBody>
          <a:bodyPr/>
          <a:lstStyle/>
          <a:p>
            <a:endParaRPr lang="en-US"/>
          </a:p>
        </p:txBody>
      </p:sp>
      <p:sp>
        <p:nvSpPr>
          <p:cNvPr id="33" name="Text 31"/>
          <p:cNvSpPr/>
          <p:nvPr/>
        </p:nvSpPr>
        <p:spPr>
          <a:xfrm>
            <a:off x="6254496" y="2304288"/>
            <a:ext cx="548640" cy="182880"/>
          </a:xfrm>
          <a:prstGeom prst="rect">
            <a:avLst/>
          </a:prstGeom>
          <a:noFill/>
          <a:ln/>
        </p:spPr>
        <p:txBody>
          <a:bodyPr wrap="square" lIns="0" tIns="0" rIns="0" bIns="0" rtlCol="0" anchor="ctr"/>
          <a:lstStyle/>
          <a:p>
            <a:pPr marL="0" indent="0" algn="ctr">
              <a:buNone/>
            </a:pPr>
            <a:r>
              <a:rPr lang="en-US" sz="700" b="1" dirty="0">
                <a:solidFill>
                  <a:srgbClr val="27AE60"/>
                </a:solidFill>
                <a:latin typeface="Calibri" pitchFamily="34" charset="0"/>
                <a:ea typeface="Calibri" pitchFamily="34" charset="-122"/>
                <a:cs typeface="Calibri" pitchFamily="34" charset="-120"/>
              </a:rPr>
              <a:t>VALID</a:t>
            </a:r>
            <a:endParaRPr lang="en-US" sz="700" dirty="0"/>
          </a:p>
        </p:txBody>
      </p:sp>
      <p:sp>
        <p:nvSpPr>
          <p:cNvPr id="34" name="Text 32"/>
          <p:cNvSpPr/>
          <p:nvPr/>
        </p:nvSpPr>
        <p:spPr>
          <a:xfrm>
            <a:off x="5084064" y="2029968"/>
            <a:ext cx="1078992"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PEDIATRIC</a:t>
            </a:r>
            <a:endParaRPr lang="en-US" sz="900" dirty="0"/>
          </a:p>
        </p:txBody>
      </p:sp>
      <p:sp>
        <p:nvSpPr>
          <p:cNvPr id="35" name="Text 33"/>
          <p:cNvSpPr/>
          <p:nvPr/>
        </p:nvSpPr>
        <p:spPr>
          <a:xfrm>
            <a:off x="5084064" y="2322576"/>
            <a:ext cx="1664208" cy="201168"/>
          </a:xfrm>
          <a:prstGeom prst="rect">
            <a:avLst/>
          </a:prstGeom>
          <a:noFill/>
          <a:ln/>
        </p:spPr>
        <p:txBody>
          <a:bodyPr wrap="square" rtlCol="0" anchor="ctr"/>
          <a:lstStyle/>
          <a:p>
            <a:pPr marL="0" indent="0">
              <a:buNone/>
            </a:pPr>
            <a:r>
              <a:rPr lang="en-US" sz="950" b="1" dirty="0">
                <a:solidFill>
                  <a:srgbClr val="0A2540"/>
                </a:solidFill>
                <a:latin typeface="Calibri" pitchFamily="34" charset="0"/>
                <a:ea typeface="Calibri" pitchFamily="34" charset="-122"/>
                <a:cs typeface="Calibri" pitchFamily="34" charset="-120"/>
              </a:rPr>
              <a:t>Range: 0 – 17</a:t>
            </a:r>
            <a:endParaRPr lang="en-US" sz="950" dirty="0"/>
          </a:p>
        </p:txBody>
      </p:sp>
      <p:sp>
        <p:nvSpPr>
          <p:cNvPr id="36" name="Text 34"/>
          <p:cNvSpPr/>
          <p:nvPr/>
        </p:nvSpPr>
        <p:spPr>
          <a:xfrm>
            <a:off x="5084064" y="2523744"/>
            <a:ext cx="1664208" cy="25603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Children — 3mg/kg applied</a:t>
            </a:r>
            <a:endParaRPr lang="en-US" sz="850" dirty="0"/>
          </a:p>
        </p:txBody>
      </p:sp>
      <p:sp>
        <p:nvSpPr>
          <p:cNvPr id="37" name="Shape 35"/>
          <p:cNvSpPr/>
          <p:nvPr/>
        </p:nvSpPr>
        <p:spPr>
          <a:xfrm>
            <a:off x="5084064" y="2807208"/>
            <a:ext cx="1664208" cy="438912"/>
          </a:xfrm>
          <a:prstGeom prst="rect">
            <a:avLst/>
          </a:prstGeom>
          <a:solidFill>
            <a:srgbClr val="EAF3DE"/>
          </a:solidFill>
          <a:ln/>
        </p:spPr>
        <p:txBody>
          <a:bodyPr/>
          <a:lstStyle/>
          <a:p>
            <a:endParaRPr lang="en-US"/>
          </a:p>
        </p:txBody>
      </p:sp>
      <p:sp>
        <p:nvSpPr>
          <p:cNvPr id="38" name="Text 36"/>
          <p:cNvSpPr/>
          <p:nvPr/>
        </p:nvSpPr>
        <p:spPr>
          <a:xfrm>
            <a:off x="5120640" y="2825496"/>
            <a:ext cx="1609344" cy="201168"/>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Test: age = 10</a:t>
            </a:r>
            <a:endParaRPr lang="en-US" sz="900" dirty="0"/>
          </a:p>
        </p:txBody>
      </p:sp>
      <p:sp>
        <p:nvSpPr>
          <p:cNvPr id="39" name="Text 37"/>
          <p:cNvSpPr/>
          <p:nvPr/>
        </p:nvSpPr>
        <p:spPr>
          <a:xfrm>
            <a:off x="5120640" y="3026664"/>
            <a:ext cx="1609344" cy="182880"/>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 150 mg</a:t>
            </a:r>
            <a:endParaRPr lang="en-US" sz="900" dirty="0"/>
          </a:p>
        </p:txBody>
      </p:sp>
      <p:sp>
        <p:nvSpPr>
          <p:cNvPr id="40" name="Shape 38"/>
          <p:cNvSpPr/>
          <p:nvPr/>
        </p:nvSpPr>
        <p:spPr>
          <a:xfrm>
            <a:off x="6912864" y="2029968"/>
            <a:ext cx="1810512" cy="129844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41" name="Shape 39"/>
          <p:cNvSpPr/>
          <p:nvPr/>
        </p:nvSpPr>
        <p:spPr>
          <a:xfrm>
            <a:off x="6912864" y="2029968"/>
            <a:ext cx="1810512" cy="274320"/>
          </a:xfrm>
          <a:prstGeom prst="rect">
            <a:avLst/>
          </a:prstGeom>
          <a:solidFill>
            <a:srgbClr val="1565C0"/>
          </a:solidFill>
          <a:ln/>
        </p:spPr>
        <p:txBody>
          <a:bodyPr/>
          <a:lstStyle/>
          <a:p>
            <a:endParaRPr lang="en-US"/>
          </a:p>
        </p:txBody>
      </p:sp>
      <p:sp>
        <p:nvSpPr>
          <p:cNvPr id="42" name="Shape 40"/>
          <p:cNvSpPr/>
          <p:nvPr/>
        </p:nvSpPr>
        <p:spPr>
          <a:xfrm>
            <a:off x="8156448" y="2304288"/>
            <a:ext cx="548640" cy="182880"/>
          </a:xfrm>
          <a:prstGeom prst="rect">
            <a:avLst/>
          </a:prstGeom>
          <a:solidFill>
            <a:srgbClr val="EAF3DE"/>
          </a:solidFill>
          <a:ln/>
        </p:spPr>
        <p:txBody>
          <a:bodyPr/>
          <a:lstStyle/>
          <a:p>
            <a:endParaRPr lang="en-US"/>
          </a:p>
        </p:txBody>
      </p:sp>
      <p:sp>
        <p:nvSpPr>
          <p:cNvPr id="43" name="Text 41"/>
          <p:cNvSpPr/>
          <p:nvPr/>
        </p:nvSpPr>
        <p:spPr>
          <a:xfrm>
            <a:off x="8156448" y="2304288"/>
            <a:ext cx="548640" cy="182880"/>
          </a:xfrm>
          <a:prstGeom prst="rect">
            <a:avLst/>
          </a:prstGeom>
          <a:noFill/>
          <a:ln/>
        </p:spPr>
        <p:txBody>
          <a:bodyPr wrap="square" lIns="0" tIns="0" rIns="0" bIns="0" rtlCol="0" anchor="ctr"/>
          <a:lstStyle/>
          <a:p>
            <a:pPr marL="0" indent="0" algn="ctr">
              <a:buNone/>
            </a:pPr>
            <a:r>
              <a:rPr lang="en-US" sz="700" b="1" dirty="0">
                <a:solidFill>
                  <a:srgbClr val="27AE60"/>
                </a:solidFill>
                <a:latin typeface="Calibri" pitchFamily="34" charset="0"/>
                <a:ea typeface="Calibri" pitchFamily="34" charset="-122"/>
                <a:cs typeface="Calibri" pitchFamily="34" charset="-120"/>
              </a:rPr>
              <a:t>VALID</a:t>
            </a:r>
            <a:endParaRPr lang="en-US" sz="700" dirty="0"/>
          </a:p>
        </p:txBody>
      </p:sp>
      <p:sp>
        <p:nvSpPr>
          <p:cNvPr id="44" name="Text 42"/>
          <p:cNvSpPr/>
          <p:nvPr/>
        </p:nvSpPr>
        <p:spPr>
          <a:xfrm>
            <a:off x="6986016" y="2029968"/>
            <a:ext cx="1078992"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ADULT</a:t>
            </a:r>
            <a:endParaRPr lang="en-US" sz="900" dirty="0"/>
          </a:p>
        </p:txBody>
      </p:sp>
      <p:sp>
        <p:nvSpPr>
          <p:cNvPr id="45" name="Text 43"/>
          <p:cNvSpPr/>
          <p:nvPr/>
        </p:nvSpPr>
        <p:spPr>
          <a:xfrm>
            <a:off x="6986016" y="2322576"/>
            <a:ext cx="1664208" cy="201168"/>
          </a:xfrm>
          <a:prstGeom prst="rect">
            <a:avLst/>
          </a:prstGeom>
          <a:noFill/>
          <a:ln/>
        </p:spPr>
        <p:txBody>
          <a:bodyPr wrap="square" rtlCol="0" anchor="ctr"/>
          <a:lstStyle/>
          <a:p>
            <a:pPr marL="0" indent="0">
              <a:buNone/>
            </a:pPr>
            <a:r>
              <a:rPr lang="en-US" sz="950" b="1" dirty="0">
                <a:solidFill>
                  <a:srgbClr val="0A2540"/>
                </a:solidFill>
                <a:latin typeface="Calibri" pitchFamily="34" charset="0"/>
                <a:ea typeface="Calibri" pitchFamily="34" charset="-122"/>
                <a:cs typeface="Calibri" pitchFamily="34" charset="-120"/>
              </a:rPr>
              <a:t>Range: 18 – 64</a:t>
            </a:r>
            <a:endParaRPr lang="en-US" sz="950" dirty="0"/>
          </a:p>
        </p:txBody>
      </p:sp>
      <p:sp>
        <p:nvSpPr>
          <p:cNvPr id="46" name="Text 44"/>
          <p:cNvSpPr/>
          <p:nvPr/>
        </p:nvSpPr>
        <p:spPr>
          <a:xfrm>
            <a:off x="6986016" y="2523744"/>
            <a:ext cx="1664208" cy="25603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Adults — 5mg/kg applied</a:t>
            </a:r>
            <a:endParaRPr lang="en-US" sz="850" dirty="0"/>
          </a:p>
        </p:txBody>
      </p:sp>
      <p:sp>
        <p:nvSpPr>
          <p:cNvPr id="47" name="Shape 45"/>
          <p:cNvSpPr/>
          <p:nvPr/>
        </p:nvSpPr>
        <p:spPr>
          <a:xfrm>
            <a:off x="6986016" y="2807208"/>
            <a:ext cx="1664208" cy="438912"/>
          </a:xfrm>
          <a:prstGeom prst="rect">
            <a:avLst/>
          </a:prstGeom>
          <a:solidFill>
            <a:srgbClr val="EAF3DE"/>
          </a:solidFill>
          <a:ln/>
        </p:spPr>
        <p:txBody>
          <a:bodyPr/>
          <a:lstStyle/>
          <a:p>
            <a:endParaRPr lang="en-US"/>
          </a:p>
        </p:txBody>
      </p:sp>
      <p:sp>
        <p:nvSpPr>
          <p:cNvPr id="48" name="Text 46"/>
          <p:cNvSpPr/>
          <p:nvPr/>
        </p:nvSpPr>
        <p:spPr>
          <a:xfrm>
            <a:off x="7022592" y="2825496"/>
            <a:ext cx="1609344" cy="201168"/>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Test: age = 30</a:t>
            </a:r>
            <a:endParaRPr lang="en-US" sz="900" dirty="0"/>
          </a:p>
        </p:txBody>
      </p:sp>
      <p:sp>
        <p:nvSpPr>
          <p:cNvPr id="49" name="Text 47"/>
          <p:cNvSpPr/>
          <p:nvPr/>
        </p:nvSpPr>
        <p:spPr>
          <a:xfrm>
            <a:off x="7022592" y="3026664"/>
            <a:ext cx="1609344" cy="182880"/>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 300 mg</a:t>
            </a:r>
            <a:endParaRPr lang="en-US" sz="900" dirty="0"/>
          </a:p>
        </p:txBody>
      </p:sp>
      <p:sp>
        <p:nvSpPr>
          <p:cNvPr id="50" name="Shape 48"/>
          <p:cNvSpPr/>
          <p:nvPr/>
        </p:nvSpPr>
        <p:spPr>
          <a:xfrm>
            <a:off x="3108960" y="3447288"/>
            <a:ext cx="1810512" cy="129844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51" name="Shape 49"/>
          <p:cNvSpPr/>
          <p:nvPr/>
        </p:nvSpPr>
        <p:spPr>
          <a:xfrm>
            <a:off x="3108960" y="3447288"/>
            <a:ext cx="1810512" cy="274320"/>
          </a:xfrm>
          <a:prstGeom prst="rect">
            <a:avLst/>
          </a:prstGeom>
          <a:solidFill>
            <a:srgbClr val="7C3AED"/>
          </a:solidFill>
          <a:ln/>
        </p:spPr>
        <p:txBody>
          <a:bodyPr/>
          <a:lstStyle/>
          <a:p>
            <a:endParaRPr lang="en-US"/>
          </a:p>
        </p:txBody>
      </p:sp>
      <p:sp>
        <p:nvSpPr>
          <p:cNvPr id="52" name="Shape 50"/>
          <p:cNvSpPr/>
          <p:nvPr/>
        </p:nvSpPr>
        <p:spPr>
          <a:xfrm>
            <a:off x="4352544" y="3721608"/>
            <a:ext cx="548640" cy="182880"/>
          </a:xfrm>
          <a:prstGeom prst="rect">
            <a:avLst/>
          </a:prstGeom>
          <a:solidFill>
            <a:srgbClr val="EAF3DE"/>
          </a:solidFill>
          <a:ln/>
        </p:spPr>
        <p:txBody>
          <a:bodyPr/>
          <a:lstStyle/>
          <a:p>
            <a:endParaRPr lang="en-US"/>
          </a:p>
        </p:txBody>
      </p:sp>
      <p:sp>
        <p:nvSpPr>
          <p:cNvPr id="53" name="Text 51"/>
          <p:cNvSpPr/>
          <p:nvPr/>
        </p:nvSpPr>
        <p:spPr>
          <a:xfrm>
            <a:off x="4352544" y="3721608"/>
            <a:ext cx="548640" cy="182880"/>
          </a:xfrm>
          <a:prstGeom prst="rect">
            <a:avLst/>
          </a:prstGeom>
          <a:noFill/>
          <a:ln/>
        </p:spPr>
        <p:txBody>
          <a:bodyPr wrap="square" lIns="0" tIns="0" rIns="0" bIns="0" rtlCol="0" anchor="ctr"/>
          <a:lstStyle/>
          <a:p>
            <a:pPr marL="0" indent="0" algn="ctr">
              <a:buNone/>
            </a:pPr>
            <a:r>
              <a:rPr lang="en-US" sz="700" b="1" dirty="0">
                <a:solidFill>
                  <a:srgbClr val="27AE60"/>
                </a:solidFill>
                <a:latin typeface="Calibri" pitchFamily="34" charset="0"/>
                <a:ea typeface="Calibri" pitchFamily="34" charset="-122"/>
                <a:cs typeface="Calibri" pitchFamily="34" charset="-120"/>
              </a:rPr>
              <a:t>VALID</a:t>
            </a:r>
            <a:endParaRPr lang="en-US" sz="700" dirty="0"/>
          </a:p>
        </p:txBody>
      </p:sp>
      <p:sp>
        <p:nvSpPr>
          <p:cNvPr id="54" name="Text 52"/>
          <p:cNvSpPr/>
          <p:nvPr/>
        </p:nvSpPr>
        <p:spPr>
          <a:xfrm>
            <a:off x="3182112" y="3447288"/>
            <a:ext cx="1078992"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ELDERLY</a:t>
            </a:r>
            <a:endParaRPr lang="en-US" sz="900" dirty="0"/>
          </a:p>
        </p:txBody>
      </p:sp>
      <p:sp>
        <p:nvSpPr>
          <p:cNvPr id="55" name="Text 53"/>
          <p:cNvSpPr/>
          <p:nvPr/>
        </p:nvSpPr>
        <p:spPr>
          <a:xfrm>
            <a:off x="3182112" y="3739896"/>
            <a:ext cx="1664208" cy="201168"/>
          </a:xfrm>
          <a:prstGeom prst="rect">
            <a:avLst/>
          </a:prstGeom>
          <a:noFill/>
          <a:ln/>
        </p:spPr>
        <p:txBody>
          <a:bodyPr wrap="square" rtlCol="0" anchor="ctr"/>
          <a:lstStyle/>
          <a:p>
            <a:pPr marL="0" indent="0">
              <a:buNone/>
            </a:pPr>
            <a:r>
              <a:rPr lang="en-US" sz="950" b="1" dirty="0">
                <a:solidFill>
                  <a:srgbClr val="0A2540"/>
                </a:solidFill>
                <a:latin typeface="Calibri" pitchFamily="34" charset="0"/>
                <a:ea typeface="Calibri" pitchFamily="34" charset="-122"/>
                <a:cs typeface="Calibri" pitchFamily="34" charset="-120"/>
              </a:rPr>
              <a:t>Range: 65 – 120</a:t>
            </a:r>
            <a:endParaRPr lang="en-US" sz="950" dirty="0"/>
          </a:p>
        </p:txBody>
      </p:sp>
      <p:sp>
        <p:nvSpPr>
          <p:cNvPr id="56" name="Text 54"/>
          <p:cNvSpPr/>
          <p:nvPr/>
        </p:nvSpPr>
        <p:spPr>
          <a:xfrm>
            <a:off x="3182112" y="3941064"/>
            <a:ext cx="1664208" cy="25603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Elderly — 4mg/kg applied</a:t>
            </a:r>
            <a:endParaRPr lang="en-US" sz="850" dirty="0"/>
          </a:p>
        </p:txBody>
      </p:sp>
      <p:sp>
        <p:nvSpPr>
          <p:cNvPr id="57" name="Shape 55"/>
          <p:cNvSpPr/>
          <p:nvPr/>
        </p:nvSpPr>
        <p:spPr>
          <a:xfrm>
            <a:off x="3182112" y="4224528"/>
            <a:ext cx="1664208" cy="438912"/>
          </a:xfrm>
          <a:prstGeom prst="rect">
            <a:avLst/>
          </a:prstGeom>
          <a:solidFill>
            <a:srgbClr val="EAF3DE"/>
          </a:solidFill>
          <a:ln/>
        </p:spPr>
        <p:txBody>
          <a:bodyPr/>
          <a:lstStyle/>
          <a:p>
            <a:endParaRPr lang="en-US"/>
          </a:p>
        </p:txBody>
      </p:sp>
      <p:sp>
        <p:nvSpPr>
          <p:cNvPr id="58" name="Text 56"/>
          <p:cNvSpPr/>
          <p:nvPr/>
        </p:nvSpPr>
        <p:spPr>
          <a:xfrm>
            <a:off x="3218688" y="4242816"/>
            <a:ext cx="1609344" cy="201168"/>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Test: age = 70</a:t>
            </a:r>
            <a:endParaRPr lang="en-US" sz="900" dirty="0"/>
          </a:p>
        </p:txBody>
      </p:sp>
      <p:sp>
        <p:nvSpPr>
          <p:cNvPr id="59" name="Text 57"/>
          <p:cNvSpPr/>
          <p:nvPr/>
        </p:nvSpPr>
        <p:spPr>
          <a:xfrm>
            <a:off x="3218688" y="4443984"/>
            <a:ext cx="1609344" cy="182880"/>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 280 mg</a:t>
            </a:r>
            <a:endParaRPr lang="en-US" sz="900" dirty="0"/>
          </a:p>
        </p:txBody>
      </p:sp>
      <p:sp>
        <p:nvSpPr>
          <p:cNvPr id="60" name="Shape 58"/>
          <p:cNvSpPr/>
          <p:nvPr/>
        </p:nvSpPr>
        <p:spPr>
          <a:xfrm>
            <a:off x="5010912" y="3447288"/>
            <a:ext cx="1810512" cy="129844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61" name="Shape 59"/>
          <p:cNvSpPr/>
          <p:nvPr/>
        </p:nvSpPr>
        <p:spPr>
          <a:xfrm>
            <a:off x="5010912" y="3447288"/>
            <a:ext cx="1810512" cy="274320"/>
          </a:xfrm>
          <a:prstGeom prst="rect">
            <a:avLst/>
          </a:prstGeom>
          <a:solidFill>
            <a:srgbClr val="C0392B"/>
          </a:solidFill>
          <a:ln/>
        </p:spPr>
        <p:txBody>
          <a:bodyPr/>
          <a:lstStyle/>
          <a:p>
            <a:endParaRPr lang="en-US"/>
          </a:p>
        </p:txBody>
      </p:sp>
      <p:sp>
        <p:nvSpPr>
          <p:cNvPr id="62" name="Shape 60"/>
          <p:cNvSpPr/>
          <p:nvPr/>
        </p:nvSpPr>
        <p:spPr>
          <a:xfrm>
            <a:off x="6181344" y="3721608"/>
            <a:ext cx="621792" cy="182880"/>
          </a:xfrm>
          <a:prstGeom prst="rect">
            <a:avLst/>
          </a:prstGeom>
          <a:solidFill>
            <a:srgbClr val="FCF0F0"/>
          </a:solidFill>
          <a:ln/>
        </p:spPr>
        <p:txBody>
          <a:bodyPr/>
          <a:lstStyle/>
          <a:p>
            <a:endParaRPr lang="en-US"/>
          </a:p>
        </p:txBody>
      </p:sp>
      <p:sp>
        <p:nvSpPr>
          <p:cNvPr id="63" name="Text 61"/>
          <p:cNvSpPr/>
          <p:nvPr/>
        </p:nvSpPr>
        <p:spPr>
          <a:xfrm>
            <a:off x="6181344" y="3721608"/>
            <a:ext cx="621792" cy="182880"/>
          </a:xfrm>
          <a:prstGeom prst="rect">
            <a:avLst/>
          </a:prstGeom>
          <a:noFill/>
          <a:ln/>
        </p:spPr>
        <p:txBody>
          <a:bodyPr wrap="square" lIns="0" tIns="0" rIns="0" bIns="0" rtlCol="0" anchor="ctr"/>
          <a:lstStyle/>
          <a:p>
            <a:pPr marL="0" indent="0" algn="ctr">
              <a:buNone/>
            </a:pPr>
            <a:r>
              <a:rPr lang="en-US" sz="700" b="1" dirty="0">
                <a:solidFill>
                  <a:srgbClr val="C0392B"/>
                </a:solidFill>
                <a:latin typeface="Calibri" pitchFamily="34" charset="0"/>
                <a:ea typeface="Calibri" pitchFamily="34" charset="-122"/>
                <a:cs typeface="Calibri" pitchFamily="34" charset="-120"/>
              </a:rPr>
              <a:t>INVALID</a:t>
            </a:r>
            <a:endParaRPr lang="en-US" sz="700" dirty="0"/>
          </a:p>
        </p:txBody>
      </p:sp>
      <p:sp>
        <p:nvSpPr>
          <p:cNvPr id="64" name="Text 62"/>
          <p:cNvSpPr/>
          <p:nvPr/>
        </p:nvSpPr>
        <p:spPr>
          <a:xfrm>
            <a:off x="5084064" y="3447288"/>
            <a:ext cx="1078992"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INVALID ABOVE</a:t>
            </a:r>
            <a:endParaRPr lang="en-US" sz="900" dirty="0"/>
          </a:p>
        </p:txBody>
      </p:sp>
      <p:sp>
        <p:nvSpPr>
          <p:cNvPr id="65" name="Text 63"/>
          <p:cNvSpPr/>
          <p:nvPr/>
        </p:nvSpPr>
        <p:spPr>
          <a:xfrm>
            <a:off x="5084064" y="3739896"/>
            <a:ext cx="1664208" cy="201168"/>
          </a:xfrm>
          <a:prstGeom prst="rect">
            <a:avLst/>
          </a:prstGeom>
          <a:noFill/>
          <a:ln/>
        </p:spPr>
        <p:txBody>
          <a:bodyPr wrap="square" rtlCol="0" anchor="ctr"/>
          <a:lstStyle/>
          <a:p>
            <a:pPr marL="0" indent="0">
              <a:buNone/>
            </a:pPr>
            <a:r>
              <a:rPr lang="en-US" sz="950" b="1" dirty="0">
                <a:solidFill>
                  <a:srgbClr val="0A2540"/>
                </a:solidFill>
                <a:latin typeface="Calibri" pitchFamily="34" charset="0"/>
                <a:ea typeface="Calibri" pitchFamily="34" charset="-122"/>
                <a:cs typeface="Calibri" pitchFamily="34" charset="-120"/>
              </a:rPr>
              <a:t>Range: age &gt; 120</a:t>
            </a:r>
            <a:endParaRPr lang="en-US" sz="950" dirty="0"/>
          </a:p>
        </p:txBody>
      </p:sp>
      <p:sp>
        <p:nvSpPr>
          <p:cNvPr id="66" name="Text 64"/>
          <p:cNvSpPr/>
          <p:nvPr/>
        </p:nvSpPr>
        <p:spPr>
          <a:xfrm>
            <a:off x="5084064" y="3941064"/>
            <a:ext cx="1664208" cy="256032"/>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No human is older than 120</a:t>
            </a:r>
            <a:endParaRPr lang="en-US" sz="850" dirty="0"/>
          </a:p>
        </p:txBody>
      </p:sp>
      <p:sp>
        <p:nvSpPr>
          <p:cNvPr id="67" name="Shape 65"/>
          <p:cNvSpPr/>
          <p:nvPr/>
        </p:nvSpPr>
        <p:spPr>
          <a:xfrm>
            <a:off x="5084064" y="4224528"/>
            <a:ext cx="1664208" cy="438912"/>
          </a:xfrm>
          <a:prstGeom prst="rect">
            <a:avLst/>
          </a:prstGeom>
          <a:solidFill>
            <a:srgbClr val="FCF0F0"/>
          </a:solidFill>
          <a:ln/>
        </p:spPr>
        <p:txBody>
          <a:bodyPr/>
          <a:lstStyle/>
          <a:p>
            <a:endParaRPr lang="en-US"/>
          </a:p>
        </p:txBody>
      </p:sp>
      <p:sp>
        <p:nvSpPr>
          <p:cNvPr id="68" name="Text 66"/>
          <p:cNvSpPr/>
          <p:nvPr/>
        </p:nvSpPr>
        <p:spPr>
          <a:xfrm>
            <a:off x="5120640" y="4242816"/>
            <a:ext cx="1609344" cy="201168"/>
          </a:xfrm>
          <a:prstGeom prst="rect">
            <a:avLst/>
          </a:prstGeom>
          <a:noFill/>
          <a:ln/>
        </p:spPr>
        <p:txBody>
          <a:bodyPr wrap="square" rtlCol="0" anchor="ctr"/>
          <a:lstStyle/>
          <a:p>
            <a:pPr marL="0" indent="0">
              <a:buNone/>
            </a:pPr>
            <a:r>
              <a:rPr lang="en-US" sz="900" b="1" dirty="0">
                <a:solidFill>
                  <a:srgbClr val="0A2540"/>
                </a:solidFill>
                <a:latin typeface="Calibri" pitchFamily="34" charset="0"/>
                <a:ea typeface="Calibri" pitchFamily="34" charset="-122"/>
                <a:cs typeface="Calibri" pitchFamily="34" charset="-120"/>
              </a:rPr>
              <a:t>Test: age = 130</a:t>
            </a:r>
            <a:endParaRPr lang="en-US" sz="900" dirty="0"/>
          </a:p>
        </p:txBody>
      </p:sp>
      <p:sp>
        <p:nvSpPr>
          <p:cNvPr id="69" name="Text 67"/>
          <p:cNvSpPr/>
          <p:nvPr/>
        </p:nvSpPr>
        <p:spPr>
          <a:xfrm>
            <a:off x="5120640" y="4443984"/>
            <a:ext cx="1609344" cy="182880"/>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 Exception</a:t>
            </a:r>
            <a:endParaRPr lang="en-US" sz="900" dirty="0"/>
          </a:p>
        </p:txBody>
      </p:sp>
      <p:sp>
        <p:nvSpPr>
          <p:cNvPr id="70" name="Shape 68"/>
          <p:cNvSpPr/>
          <p:nvPr/>
        </p:nvSpPr>
        <p:spPr>
          <a:xfrm>
            <a:off x="347472" y="4846320"/>
            <a:ext cx="8449056" cy="256032"/>
          </a:xfrm>
          <a:prstGeom prst="rect">
            <a:avLst/>
          </a:prstGeom>
          <a:solidFill>
            <a:srgbClr val="0D2137"/>
          </a:solidFill>
          <a:ln/>
        </p:spPr>
        <p:txBody>
          <a:bodyPr/>
          <a:lstStyle/>
          <a:p>
            <a:endParaRPr lang="en-US"/>
          </a:p>
        </p:txBody>
      </p:sp>
      <p:sp>
        <p:nvSpPr>
          <p:cNvPr id="71" name="Text 69"/>
          <p:cNvSpPr/>
          <p:nvPr/>
        </p:nvSpPr>
        <p:spPr>
          <a:xfrm>
            <a:off x="457200" y="4846320"/>
            <a:ext cx="8321040" cy="256032"/>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EPC vs BVA:  </a:t>
            </a:r>
            <a:r>
              <a:rPr lang="en-US" sz="900" dirty="0">
                <a:solidFill>
                  <a:srgbClr val="FFFFFF"/>
                </a:solidFill>
                <a:latin typeface="Calibri" pitchFamily="34" charset="0"/>
                <a:ea typeface="Calibri" pitchFamily="34" charset="-122"/>
                <a:cs typeface="Calibri" pitchFamily="34" charset="-120"/>
              </a:rPr>
              <a:t>EPC tests ONE value per group (efficiency). BVA tests the EDGES of each group (catches boundary bugs). </a:t>
            </a:r>
            <a:r>
              <a:rPr lang="en-US" sz="900" dirty="0">
                <a:solidFill>
                  <a:srgbClr val="CBD5E1"/>
                </a:solidFill>
                <a:latin typeface="Calibri" pitchFamily="34" charset="0"/>
                <a:ea typeface="Calibri" pitchFamily="34" charset="-122"/>
                <a:cs typeface="Calibri" pitchFamily="34" charset="-120"/>
              </a:rPr>
              <a:t>Together they give maximum blackbox coverage.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txBody>
          <a:bodyPr/>
          <a:lstStyle/>
          <a:p>
            <a:endParaRPr lang="en-US"/>
          </a:p>
        </p:txBody>
      </p:sp>
      <p:sp>
        <p:nvSpPr>
          <p:cNvPr id="3" name="Text 1"/>
          <p:cNvSpPr/>
          <p:nvPr/>
        </p:nvSpPr>
        <p:spPr>
          <a:xfrm>
            <a:off x="365760" y="164592"/>
            <a:ext cx="8412480" cy="50292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EPC — All Functions in Detail</a:t>
            </a:r>
            <a:endParaRPr lang="en-US" sz="2800" dirty="0"/>
          </a:p>
        </p:txBody>
      </p:sp>
      <p:sp>
        <p:nvSpPr>
          <p:cNvPr id="4" name="Text 2"/>
          <p:cNvSpPr/>
          <p:nvPr/>
        </p:nvSpPr>
        <p:spPr>
          <a:xfrm>
            <a:off x="365760" y="676656"/>
            <a:ext cx="8412480" cy="256032"/>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Every function has its own set of equivalence partitions — valid groups + invalid groups</a:t>
            </a:r>
            <a:endParaRPr lang="en-US" sz="1150" dirty="0"/>
          </a:p>
        </p:txBody>
      </p:sp>
      <p:sp>
        <p:nvSpPr>
          <p:cNvPr id="5" name="Shape 3"/>
          <p:cNvSpPr/>
          <p:nvPr/>
        </p:nvSpPr>
        <p:spPr>
          <a:xfrm>
            <a:off x="347472" y="1024128"/>
            <a:ext cx="2788920" cy="475488"/>
          </a:xfrm>
          <a:prstGeom prst="rect">
            <a:avLst/>
          </a:prstGeom>
          <a:solidFill>
            <a:srgbClr val="028090"/>
          </a:solidFill>
          <a:ln/>
        </p:spPr>
        <p:txBody>
          <a:bodyPr/>
          <a:lstStyle/>
          <a:p>
            <a:endParaRPr lang="en-US"/>
          </a:p>
        </p:txBody>
      </p:sp>
      <p:sp>
        <p:nvSpPr>
          <p:cNvPr id="6" name="Text 4"/>
          <p:cNvSpPr/>
          <p:nvPr/>
        </p:nvSpPr>
        <p:spPr>
          <a:xfrm>
            <a:off x="438912" y="1024128"/>
            <a:ext cx="2651760" cy="47548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registerPrescription</a:t>
            </a:r>
            <a:endParaRPr lang="en-US" sz="1100" dirty="0"/>
          </a:p>
          <a:p>
            <a:pPr marL="0" indent="0">
              <a:buNone/>
            </a:pPr>
            <a:r>
              <a:rPr lang="en-US" sz="1100" b="1" dirty="0">
                <a:solidFill>
                  <a:srgbClr val="FFFFFF"/>
                </a:solidFill>
                <a:latin typeface="Calibri" pitchFamily="34" charset="0"/>
                <a:ea typeface="Calibri" pitchFamily="34" charset="-122"/>
                <a:cs typeface="Calibri" pitchFamily="34" charset="-120"/>
              </a:rPr>
              <a:t>(patientAge)</a:t>
            </a:r>
            <a:endParaRPr lang="en-US" sz="1100" dirty="0"/>
          </a:p>
        </p:txBody>
      </p:sp>
      <p:sp>
        <p:nvSpPr>
          <p:cNvPr id="7" name="Shape 5"/>
          <p:cNvSpPr/>
          <p:nvPr/>
        </p:nvSpPr>
        <p:spPr>
          <a:xfrm>
            <a:off x="347472" y="1536192"/>
            <a:ext cx="2788920" cy="237744"/>
          </a:xfrm>
          <a:prstGeom prst="rect">
            <a:avLst/>
          </a:prstGeom>
          <a:solidFill>
            <a:srgbClr val="0D2137"/>
          </a:solidFill>
          <a:ln/>
        </p:spPr>
        <p:txBody>
          <a:bodyPr/>
          <a:lstStyle/>
          <a:p>
            <a:endParaRPr lang="en-US"/>
          </a:p>
        </p:txBody>
      </p:sp>
      <p:sp>
        <p:nvSpPr>
          <p:cNvPr id="8" name="Text 6"/>
          <p:cNvSpPr/>
          <p:nvPr/>
        </p:nvSpPr>
        <p:spPr>
          <a:xfrm>
            <a:off x="420624" y="1536192"/>
            <a:ext cx="1188720" cy="237744"/>
          </a:xfrm>
          <a:prstGeom prst="rect">
            <a:avLst/>
          </a:prstGeom>
          <a:noFill/>
          <a:ln/>
        </p:spPr>
        <p:txBody>
          <a:bodyPr wrap="square" rtlCol="0" anchor="ctr"/>
          <a:lstStyle/>
          <a:p>
            <a:pPr marL="0" indent="0">
              <a:buNone/>
            </a:pPr>
            <a:r>
              <a:rPr lang="en-US" sz="800" b="1" dirty="0">
                <a:solidFill>
                  <a:srgbClr val="02C39A"/>
                </a:solidFill>
                <a:latin typeface="Calibri" pitchFamily="34" charset="0"/>
                <a:ea typeface="Calibri" pitchFamily="34" charset="-122"/>
                <a:cs typeface="Calibri" pitchFamily="34" charset="-120"/>
              </a:rPr>
              <a:t>Partition</a:t>
            </a:r>
            <a:endParaRPr lang="en-US" sz="800" dirty="0"/>
          </a:p>
        </p:txBody>
      </p:sp>
      <p:sp>
        <p:nvSpPr>
          <p:cNvPr id="9" name="Text 7"/>
          <p:cNvSpPr/>
          <p:nvPr/>
        </p:nvSpPr>
        <p:spPr>
          <a:xfrm>
            <a:off x="1609344" y="1536192"/>
            <a:ext cx="685800" cy="237744"/>
          </a:xfrm>
          <a:prstGeom prst="rect">
            <a:avLst/>
          </a:prstGeom>
          <a:noFill/>
          <a:ln/>
        </p:spPr>
        <p:txBody>
          <a:bodyPr wrap="square" rtlCol="0" anchor="ctr"/>
          <a:lstStyle/>
          <a:p>
            <a:pPr marL="0" indent="0">
              <a:buNone/>
            </a:pPr>
            <a:r>
              <a:rPr lang="en-US" sz="800" b="1" dirty="0">
                <a:solidFill>
                  <a:srgbClr val="02C39A"/>
                </a:solidFill>
                <a:latin typeface="Calibri" pitchFamily="34" charset="0"/>
                <a:ea typeface="Calibri" pitchFamily="34" charset="-122"/>
                <a:cs typeface="Calibri" pitchFamily="34" charset="-120"/>
              </a:rPr>
              <a:t>Test Value</a:t>
            </a:r>
            <a:endParaRPr lang="en-US" sz="800" dirty="0"/>
          </a:p>
        </p:txBody>
      </p:sp>
      <p:sp>
        <p:nvSpPr>
          <p:cNvPr id="10" name="Text 8"/>
          <p:cNvSpPr/>
          <p:nvPr/>
        </p:nvSpPr>
        <p:spPr>
          <a:xfrm>
            <a:off x="2295144" y="1536192"/>
            <a:ext cx="822960" cy="237744"/>
          </a:xfrm>
          <a:prstGeom prst="rect">
            <a:avLst/>
          </a:prstGeom>
          <a:noFill/>
          <a:ln/>
        </p:spPr>
        <p:txBody>
          <a:bodyPr wrap="square" rtlCol="0" anchor="ctr"/>
          <a:lstStyle/>
          <a:p>
            <a:pPr marL="0" indent="0">
              <a:buNone/>
            </a:pPr>
            <a:r>
              <a:rPr lang="en-US" sz="800" b="1" dirty="0">
                <a:solidFill>
                  <a:srgbClr val="02C39A"/>
                </a:solidFill>
                <a:latin typeface="Calibri" pitchFamily="34" charset="0"/>
                <a:ea typeface="Calibri" pitchFamily="34" charset="-122"/>
                <a:cs typeface="Calibri" pitchFamily="34" charset="-120"/>
              </a:rPr>
              <a:t>Result</a:t>
            </a:r>
            <a:endParaRPr lang="en-US" sz="800" dirty="0"/>
          </a:p>
        </p:txBody>
      </p:sp>
      <p:sp>
        <p:nvSpPr>
          <p:cNvPr id="11" name="Shape 9"/>
          <p:cNvSpPr/>
          <p:nvPr/>
        </p:nvSpPr>
        <p:spPr>
          <a:xfrm>
            <a:off x="347472" y="1801368"/>
            <a:ext cx="2788920" cy="457200"/>
          </a:xfrm>
          <a:prstGeom prst="rect">
            <a:avLst/>
          </a:prstGeom>
          <a:solidFill>
            <a:srgbClr val="1A0808"/>
          </a:solidFill>
          <a:ln/>
        </p:spPr>
        <p:txBody>
          <a:bodyPr/>
          <a:lstStyle/>
          <a:p>
            <a:endParaRPr lang="en-US"/>
          </a:p>
        </p:txBody>
      </p:sp>
      <p:sp>
        <p:nvSpPr>
          <p:cNvPr id="12" name="Shape 10"/>
          <p:cNvSpPr/>
          <p:nvPr/>
        </p:nvSpPr>
        <p:spPr>
          <a:xfrm>
            <a:off x="347472" y="1801368"/>
            <a:ext cx="54864" cy="457200"/>
          </a:xfrm>
          <a:prstGeom prst="rect">
            <a:avLst/>
          </a:prstGeom>
          <a:solidFill>
            <a:srgbClr val="C0392B"/>
          </a:solidFill>
          <a:ln/>
        </p:spPr>
        <p:txBody>
          <a:bodyPr/>
          <a:lstStyle/>
          <a:p>
            <a:endParaRPr lang="en-US"/>
          </a:p>
        </p:txBody>
      </p:sp>
      <p:sp>
        <p:nvSpPr>
          <p:cNvPr id="13" name="Text 11"/>
          <p:cNvSpPr/>
          <p:nvPr/>
        </p:nvSpPr>
        <p:spPr>
          <a:xfrm>
            <a:off x="457200" y="1801368"/>
            <a:ext cx="1188720" cy="45720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Below 0</a:t>
            </a:r>
            <a:endParaRPr lang="en-US" sz="900" dirty="0"/>
          </a:p>
        </p:txBody>
      </p:sp>
      <p:sp>
        <p:nvSpPr>
          <p:cNvPr id="14" name="Text 12"/>
          <p:cNvSpPr/>
          <p:nvPr/>
        </p:nvSpPr>
        <p:spPr>
          <a:xfrm>
            <a:off x="1645920" y="1801368"/>
            <a:ext cx="685800" cy="457200"/>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-5</a:t>
            </a:r>
            <a:endParaRPr lang="en-US" sz="900" dirty="0"/>
          </a:p>
        </p:txBody>
      </p:sp>
      <p:sp>
        <p:nvSpPr>
          <p:cNvPr id="15" name="Text 13"/>
          <p:cNvSpPr/>
          <p:nvPr/>
        </p:nvSpPr>
        <p:spPr>
          <a:xfrm>
            <a:off x="2331720" y="1801368"/>
            <a:ext cx="822960" cy="457200"/>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Exception</a:t>
            </a:r>
            <a:endParaRPr lang="en-US" sz="900" dirty="0"/>
          </a:p>
        </p:txBody>
      </p:sp>
      <p:sp>
        <p:nvSpPr>
          <p:cNvPr id="16" name="Shape 14"/>
          <p:cNvSpPr/>
          <p:nvPr/>
        </p:nvSpPr>
        <p:spPr>
          <a:xfrm>
            <a:off x="347472" y="2295144"/>
            <a:ext cx="2788920" cy="457200"/>
          </a:xfrm>
          <a:prstGeom prst="rect">
            <a:avLst/>
          </a:prstGeom>
          <a:solidFill>
            <a:srgbClr val="122635"/>
          </a:solidFill>
          <a:ln/>
        </p:spPr>
        <p:txBody>
          <a:bodyPr/>
          <a:lstStyle/>
          <a:p>
            <a:endParaRPr lang="en-US"/>
          </a:p>
        </p:txBody>
      </p:sp>
      <p:sp>
        <p:nvSpPr>
          <p:cNvPr id="17" name="Shape 15"/>
          <p:cNvSpPr/>
          <p:nvPr/>
        </p:nvSpPr>
        <p:spPr>
          <a:xfrm>
            <a:off x="347472" y="2295144"/>
            <a:ext cx="54864" cy="457200"/>
          </a:xfrm>
          <a:prstGeom prst="rect">
            <a:avLst/>
          </a:prstGeom>
          <a:solidFill>
            <a:srgbClr val="27AE60"/>
          </a:solidFill>
          <a:ln/>
        </p:spPr>
        <p:txBody>
          <a:bodyPr/>
          <a:lstStyle/>
          <a:p>
            <a:endParaRPr lang="en-US"/>
          </a:p>
        </p:txBody>
      </p:sp>
      <p:sp>
        <p:nvSpPr>
          <p:cNvPr id="18" name="Text 16"/>
          <p:cNvSpPr/>
          <p:nvPr/>
        </p:nvSpPr>
        <p:spPr>
          <a:xfrm>
            <a:off x="457200" y="2295144"/>
            <a:ext cx="1188720" cy="45720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0–120</a:t>
            </a:r>
            <a:endParaRPr lang="en-US" sz="900" dirty="0"/>
          </a:p>
        </p:txBody>
      </p:sp>
      <p:sp>
        <p:nvSpPr>
          <p:cNvPr id="19" name="Text 17"/>
          <p:cNvSpPr/>
          <p:nvPr/>
        </p:nvSpPr>
        <p:spPr>
          <a:xfrm>
            <a:off x="1645920" y="2295144"/>
            <a:ext cx="685800" cy="457200"/>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30</a:t>
            </a:r>
            <a:endParaRPr lang="en-US" sz="900" dirty="0"/>
          </a:p>
        </p:txBody>
      </p:sp>
      <p:sp>
        <p:nvSpPr>
          <p:cNvPr id="20" name="Text 18"/>
          <p:cNvSpPr/>
          <p:nvPr/>
        </p:nvSpPr>
        <p:spPr>
          <a:xfrm>
            <a:off x="2331720" y="2295144"/>
            <a:ext cx="822960" cy="457200"/>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Stores OK</a:t>
            </a:r>
            <a:endParaRPr lang="en-US" sz="900" dirty="0"/>
          </a:p>
        </p:txBody>
      </p:sp>
      <p:sp>
        <p:nvSpPr>
          <p:cNvPr id="21" name="Shape 19"/>
          <p:cNvSpPr/>
          <p:nvPr/>
        </p:nvSpPr>
        <p:spPr>
          <a:xfrm>
            <a:off x="347472" y="2788920"/>
            <a:ext cx="2788920" cy="457200"/>
          </a:xfrm>
          <a:prstGeom prst="rect">
            <a:avLst/>
          </a:prstGeom>
          <a:solidFill>
            <a:srgbClr val="1A0808"/>
          </a:solidFill>
          <a:ln/>
        </p:spPr>
        <p:txBody>
          <a:bodyPr/>
          <a:lstStyle/>
          <a:p>
            <a:endParaRPr lang="en-US"/>
          </a:p>
        </p:txBody>
      </p:sp>
      <p:sp>
        <p:nvSpPr>
          <p:cNvPr id="22" name="Shape 20"/>
          <p:cNvSpPr/>
          <p:nvPr/>
        </p:nvSpPr>
        <p:spPr>
          <a:xfrm>
            <a:off x="347472" y="2788920"/>
            <a:ext cx="54864" cy="457200"/>
          </a:xfrm>
          <a:prstGeom prst="rect">
            <a:avLst/>
          </a:prstGeom>
          <a:solidFill>
            <a:srgbClr val="C0392B"/>
          </a:solidFill>
          <a:ln/>
        </p:spPr>
        <p:txBody>
          <a:bodyPr/>
          <a:lstStyle/>
          <a:p>
            <a:endParaRPr lang="en-US"/>
          </a:p>
        </p:txBody>
      </p:sp>
      <p:sp>
        <p:nvSpPr>
          <p:cNvPr id="23" name="Text 21"/>
          <p:cNvSpPr/>
          <p:nvPr/>
        </p:nvSpPr>
        <p:spPr>
          <a:xfrm>
            <a:off x="457200" y="2788920"/>
            <a:ext cx="1188720" cy="45720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Above 120</a:t>
            </a:r>
            <a:endParaRPr lang="en-US" sz="900" dirty="0"/>
          </a:p>
        </p:txBody>
      </p:sp>
      <p:sp>
        <p:nvSpPr>
          <p:cNvPr id="24" name="Text 22"/>
          <p:cNvSpPr/>
          <p:nvPr/>
        </p:nvSpPr>
        <p:spPr>
          <a:xfrm>
            <a:off x="1645920" y="2788920"/>
            <a:ext cx="685800" cy="457200"/>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130</a:t>
            </a:r>
            <a:endParaRPr lang="en-US" sz="900" dirty="0"/>
          </a:p>
        </p:txBody>
      </p:sp>
      <p:sp>
        <p:nvSpPr>
          <p:cNvPr id="25" name="Text 23"/>
          <p:cNvSpPr/>
          <p:nvPr/>
        </p:nvSpPr>
        <p:spPr>
          <a:xfrm>
            <a:off x="2331720" y="2788920"/>
            <a:ext cx="822960" cy="457200"/>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Exception</a:t>
            </a:r>
            <a:endParaRPr lang="en-US" sz="900" dirty="0"/>
          </a:p>
        </p:txBody>
      </p:sp>
      <p:sp>
        <p:nvSpPr>
          <p:cNvPr id="26" name="Shape 24"/>
          <p:cNvSpPr/>
          <p:nvPr/>
        </p:nvSpPr>
        <p:spPr>
          <a:xfrm>
            <a:off x="3291840" y="1024128"/>
            <a:ext cx="2788920" cy="475488"/>
          </a:xfrm>
          <a:prstGeom prst="rect">
            <a:avLst/>
          </a:prstGeom>
          <a:solidFill>
            <a:srgbClr val="1565C0"/>
          </a:solidFill>
          <a:ln/>
        </p:spPr>
        <p:txBody>
          <a:bodyPr/>
          <a:lstStyle/>
          <a:p>
            <a:endParaRPr lang="en-US"/>
          </a:p>
        </p:txBody>
      </p:sp>
      <p:sp>
        <p:nvSpPr>
          <p:cNvPr id="27" name="Text 25"/>
          <p:cNvSpPr/>
          <p:nvPr/>
        </p:nvSpPr>
        <p:spPr>
          <a:xfrm>
            <a:off x="3383280" y="1024128"/>
            <a:ext cx="2651760" cy="47548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calculateDosage</a:t>
            </a:r>
            <a:endParaRPr lang="en-US" sz="1100" dirty="0"/>
          </a:p>
          <a:p>
            <a:pPr marL="0" indent="0">
              <a:buNone/>
            </a:pPr>
            <a:r>
              <a:rPr lang="en-US" sz="1100" b="1" dirty="0">
                <a:solidFill>
                  <a:srgbClr val="FFFFFF"/>
                </a:solidFill>
                <a:latin typeface="Calibri" pitchFamily="34" charset="0"/>
                <a:ea typeface="Calibri" pitchFamily="34" charset="-122"/>
                <a:cs typeface="Calibri" pitchFamily="34" charset="-120"/>
              </a:rPr>
              <a:t>(age)</a:t>
            </a:r>
            <a:endParaRPr lang="en-US" sz="1100" dirty="0"/>
          </a:p>
        </p:txBody>
      </p:sp>
      <p:sp>
        <p:nvSpPr>
          <p:cNvPr id="28" name="Shape 26"/>
          <p:cNvSpPr/>
          <p:nvPr/>
        </p:nvSpPr>
        <p:spPr>
          <a:xfrm>
            <a:off x="3291840" y="1536192"/>
            <a:ext cx="2788920" cy="237744"/>
          </a:xfrm>
          <a:prstGeom prst="rect">
            <a:avLst/>
          </a:prstGeom>
          <a:solidFill>
            <a:srgbClr val="0D2137"/>
          </a:solidFill>
          <a:ln/>
        </p:spPr>
        <p:txBody>
          <a:bodyPr/>
          <a:lstStyle/>
          <a:p>
            <a:endParaRPr lang="en-US"/>
          </a:p>
        </p:txBody>
      </p:sp>
      <p:sp>
        <p:nvSpPr>
          <p:cNvPr id="29" name="Text 27"/>
          <p:cNvSpPr/>
          <p:nvPr/>
        </p:nvSpPr>
        <p:spPr>
          <a:xfrm>
            <a:off x="3364992" y="1536192"/>
            <a:ext cx="1188720" cy="237744"/>
          </a:xfrm>
          <a:prstGeom prst="rect">
            <a:avLst/>
          </a:prstGeom>
          <a:noFill/>
          <a:ln/>
        </p:spPr>
        <p:txBody>
          <a:bodyPr wrap="square" rtlCol="0" anchor="ctr"/>
          <a:lstStyle/>
          <a:p>
            <a:pPr marL="0" indent="0">
              <a:buNone/>
            </a:pPr>
            <a:r>
              <a:rPr lang="en-US" sz="800" b="1" dirty="0">
                <a:solidFill>
                  <a:srgbClr val="02C39A"/>
                </a:solidFill>
                <a:latin typeface="Calibri" pitchFamily="34" charset="0"/>
                <a:ea typeface="Calibri" pitchFamily="34" charset="-122"/>
                <a:cs typeface="Calibri" pitchFamily="34" charset="-120"/>
              </a:rPr>
              <a:t>Partition</a:t>
            </a:r>
            <a:endParaRPr lang="en-US" sz="800" dirty="0"/>
          </a:p>
        </p:txBody>
      </p:sp>
      <p:sp>
        <p:nvSpPr>
          <p:cNvPr id="30" name="Text 28"/>
          <p:cNvSpPr/>
          <p:nvPr/>
        </p:nvSpPr>
        <p:spPr>
          <a:xfrm>
            <a:off x="4553712" y="1536192"/>
            <a:ext cx="685800" cy="237744"/>
          </a:xfrm>
          <a:prstGeom prst="rect">
            <a:avLst/>
          </a:prstGeom>
          <a:noFill/>
          <a:ln/>
        </p:spPr>
        <p:txBody>
          <a:bodyPr wrap="square" rtlCol="0" anchor="ctr"/>
          <a:lstStyle/>
          <a:p>
            <a:pPr marL="0" indent="0">
              <a:buNone/>
            </a:pPr>
            <a:r>
              <a:rPr lang="en-US" sz="800" b="1" dirty="0">
                <a:solidFill>
                  <a:srgbClr val="02C39A"/>
                </a:solidFill>
                <a:latin typeface="Calibri" pitchFamily="34" charset="0"/>
                <a:ea typeface="Calibri" pitchFamily="34" charset="-122"/>
                <a:cs typeface="Calibri" pitchFamily="34" charset="-120"/>
              </a:rPr>
              <a:t>Test Value</a:t>
            </a:r>
            <a:endParaRPr lang="en-US" sz="800" dirty="0"/>
          </a:p>
        </p:txBody>
      </p:sp>
      <p:sp>
        <p:nvSpPr>
          <p:cNvPr id="31" name="Text 29"/>
          <p:cNvSpPr/>
          <p:nvPr/>
        </p:nvSpPr>
        <p:spPr>
          <a:xfrm>
            <a:off x="5239512" y="1536192"/>
            <a:ext cx="822960" cy="237744"/>
          </a:xfrm>
          <a:prstGeom prst="rect">
            <a:avLst/>
          </a:prstGeom>
          <a:noFill/>
          <a:ln/>
        </p:spPr>
        <p:txBody>
          <a:bodyPr wrap="square" rtlCol="0" anchor="ctr"/>
          <a:lstStyle/>
          <a:p>
            <a:pPr marL="0" indent="0">
              <a:buNone/>
            </a:pPr>
            <a:r>
              <a:rPr lang="en-US" sz="800" b="1" dirty="0">
                <a:solidFill>
                  <a:srgbClr val="02C39A"/>
                </a:solidFill>
                <a:latin typeface="Calibri" pitchFamily="34" charset="0"/>
                <a:ea typeface="Calibri" pitchFamily="34" charset="-122"/>
                <a:cs typeface="Calibri" pitchFamily="34" charset="-120"/>
              </a:rPr>
              <a:t>Result</a:t>
            </a:r>
            <a:endParaRPr lang="en-US" sz="800" dirty="0"/>
          </a:p>
        </p:txBody>
      </p:sp>
      <p:sp>
        <p:nvSpPr>
          <p:cNvPr id="32" name="Shape 30"/>
          <p:cNvSpPr/>
          <p:nvPr/>
        </p:nvSpPr>
        <p:spPr>
          <a:xfrm>
            <a:off x="3291840" y="1801368"/>
            <a:ext cx="2788920" cy="457200"/>
          </a:xfrm>
          <a:prstGeom prst="rect">
            <a:avLst/>
          </a:prstGeom>
          <a:solidFill>
            <a:srgbClr val="1A0808"/>
          </a:solidFill>
          <a:ln/>
        </p:spPr>
        <p:txBody>
          <a:bodyPr/>
          <a:lstStyle/>
          <a:p>
            <a:endParaRPr lang="en-US"/>
          </a:p>
        </p:txBody>
      </p:sp>
      <p:sp>
        <p:nvSpPr>
          <p:cNvPr id="33" name="Shape 31"/>
          <p:cNvSpPr/>
          <p:nvPr/>
        </p:nvSpPr>
        <p:spPr>
          <a:xfrm>
            <a:off x="3291840" y="1801368"/>
            <a:ext cx="54864" cy="457200"/>
          </a:xfrm>
          <a:prstGeom prst="rect">
            <a:avLst/>
          </a:prstGeom>
          <a:solidFill>
            <a:srgbClr val="C0392B"/>
          </a:solidFill>
          <a:ln/>
        </p:spPr>
        <p:txBody>
          <a:bodyPr/>
          <a:lstStyle/>
          <a:p>
            <a:endParaRPr lang="en-US"/>
          </a:p>
        </p:txBody>
      </p:sp>
      <p:sp>
        <p:nvSpPr>
          <p:cNvPr id="34" name="Text 32"/>
          <p:cNvSpPr/>
          <p:nvPr/>
        </p:nvSpPr>
        <p:spPr>
          <a:xfrm>
            <a:off x="3401568" y="1801368"/>
            <a:ext cx="1188720" cy="45720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&lt; 0 (invalid)</a:t>
            </a:r>
            <a:endParaRPr lang="en-US" sz="900" dirty="0"/>
          </a:p>
        </p:txBody>
      </p:sp>
      <p:sp>
        <p:nvSpPr>
          <p:cNvPr id="35" name="Text 33"/>
          <p:cNvSpPr/>
          <p:nvPr/>
        </p:nvSpPr>
        <p:spPr>
          <a:xfrm>
            <a:off x="4590288" y="1801368"/>
            <a:ext cx="685800" cy="457200"/>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-5</a:t>
            </a:r>
            <a:endParaRPr lang="en-US" sz="900" dirty="0"/>
          </a:p>
        </p:txBody>
      </p:sp>
      <p:sp>
        <p:nvSpPr>
          <p:cNvPr id="36" name="Text 34"/>
          <p:cNvSpPr/>
          <p:nvPr/>
        </p:nvSpPr>
        <p:spPr>
          <a:xfrm>
            <a:off x="5276088" y="1801368"/>
            <a:ext cx="822960" cy="457200"/>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Exception</a:t>
            </a:r>
            <a:endParaRPr lang="en-US" sz="900" dirty="0"/>
          </a:p>
        </p:txBody>
      </p:sp>
      <p:sp>
        <p:nvSpPr>
          <p:cNvPr id="37" name="Shape 35"/>
          <p:cNvSpPr/>
          <p:nvPr/>
        </p:nvSpPr>
        <p:spPr>
          <a:xfrm>
            <a:off x="3291840" y="2295144"/>
            <a:ext cx="2788920" cy="457200"/>
          </a:xfrm>
          <a:prstGeom prst="rect">
            <a:avLst/>
          </a:prstGeom>
          <a:solidFill>
            <a:srgbClr val="122635"/>
          </a:solidFill>
          <a:ln/>
        </p:spPr>
        <p:txBody>
          <a:bodyPr/>
          <a:lstStyle/>
          <a:p>
            <a:endParaRPr lang="en-US"/>
          </a:p>
        </p:txBody>
      </p:sp>
      <p:sp>
        <p:nvSpPr>
          <p:cNvPr id="38" name="Shape 36"/>
          <p:cNvSpPr/>
          <p:nvPr/>
        </p:nvSpPr>
        <p:spPr>
          <a:xfrm>
            <a:off x="3291840" y="2295144"/>
            <a:ext cx="54864" cy="457200"/>
          </a:xfrm>
          <a:prstGeom prst="rect">
            <a:avLst/>
          </a:prstGeom>
          <a:solidFill>
            <a:srgbClr val="27AE60"/>
          </a:solidFill>
          <a:ln/>
        </p:spPr>
        <p:txBody>
          <a:bodyPr/>
          <a:lstStyle/>
          <a:p>
            <a:endParaRPr lang="en-US"/>
          </a:p>
        </p:txBody>
      </p:sp>
      <p:sp>
        <p:nvSpPr>
          <p:cNvPr id="39" name="Text 37"/>
          <p:cNvSpPr/>
          <p:nvPr/>
        </p:nvSpPr>
        <p:spPr>
          <a:xfrm>
            <a:off x="3401568" y="2295144"/>
            <a:ext cx="1188720" cy="45720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0–17 (pediatric)</a:t>
            </a:r>
            <a:endParaRPr lang="en-US" sz="900" dirty="0"/>
          </a:p>
        </p:txBody>
      </p:sp>
      <p:sp>
        <p:nvSpPr>
          <p:cNvPr id="40" name="Text 38"/>
          <p:cNvSpPr/>
          <p:nvPr/>
        </p:nvSpPr>
        <p:spPr>
          <a:xfrm>
            <a:off x="4590288" y="2295144"/>
            <a:ext cx="685800" cy="457200"/>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10</a:t>
            </a:r>
            <a:endParaRPr lang="en-US" sz="900" dirty="0"/>
          </a:p>
        </p:txBody>
      </p:sp>
      <p:sp>
        <p:nvSpPr>
          <p:cNvPr id="41" name="Text 39"/>
          <p:cNvSpPr/>
          <p:nvPr/>
        </p:nvSpPr>
        <p:spPr>
          <a:xfrm>
            <a:off x="5276088" y="2295144"/>
            <a:ext cx="822960" cy="457200"/>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150 mg</a:t>
            </a:r>
            <a:endParaRPr lang="en-US" sz="900" dirty="0"/>
          </a:p>
        </p:txBody>
      </p:sp>
      <p:sp>
        <p:nvSpPr>
          <p:cNvPr id="42" name="Shape 40"/>
          <p:cNvSpPr/>
          <p:nvPr/>
        </p:nvSpPr>
        <p:spPr>
          <a:xfrm>
            <a:off x="3291840" y="2788920"/>
            <a:ext cx="2788920" cy="457200"/>
          </a:xfrm>
          <a:prstGeom prst="rect">
            <a:avLst/>
          </a:prstGeom>
          <a:solidFill>
            <a:srgbClr val="0D2137"/>
          </a:solidFill>
          <a:ln/>
        </p:spPr>
        <p:txBody>
          <a:bodyPr/>
          <a:lstStyle/>
          <a:p>
            <a:endParaRPr lang="en-US"/>
          </a:p>
        </p:txBody>
      </p:sp>
      <p:sp>
        <p:nvSpPr>
          <p:cNvPr id="43" name="Shape 41"/>
          <p:cNvSpPr/>
          <p:nvPr/>
        </p:nvSpPr>
        <p:spPr>
          <a:xfrm>
            <a:off x="3291840" y="2788920"/>
            <a:ext cx="54864" cy="457200"/>
          </a:xfrm>
          <a:prstGeom prst="rect">
            <a:avLst/>
          </a:prstGeom>
          <a:solidFill>
            <a:srgbClr val="27AE60"/>
          </a:solidFill>
          <a:ln/>
        </p:spPr>
        <p:txBody>
          <a:bodyPr/>
          <a:lstStyle/>
          <a:p>
            <a:endParaRPr lang="en-US"/>
          </a:p>
        </p:txBody>
      </p:sp>
      <p:sp>
        <p:nvSpPr>
          <p:cNvPr id="44" name="Text 42"/>
          <p:cNvSpPr/>
          <p:nvPr/>
        </p:nvSpPr>
        <p:spPr>
          <a:xfrm>
            <a:off x="3401568" y="2788920"/>
            <a:ext cx="1188720" cy="45720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18–64 (adult)</a:t>
            </a:r>
            <a:endParaRPr lang="en-US" sz="900" dirty="0"/>
          </a:p>
        </p:txBody>
      </p:sp>
      <p:sp>
        <p:nvSpPr>
          <p:cNvPr id="45" name="Text 43"/>
          <p:cNvSpPr/>
          <p:nvPr/>
        </p:nvSpPr>
        <p:spPr>
          <a:xfrm>
            <a:off x="4590288" y="2788920"/>
            <a:ext cx="685800" cy="457200"/>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30</a:t>
            </a:r>
            <a:endParaRPr lang="en-US" sz="900" dirty="0"/>
          </a:p>
        </p:txBody>
      </p:sp>
      <p:sp>
        <p:nvSpPr>
          <p:cNvPr id="46" name="Text 44"/>
          <p:cNvSpPr/>
          <p:nvPr/>
        </p:nvSpPr>
        <p:spPr>
          <a:xfrm>
            <a:off x="5276088" y="2788920"/>
            <a:ext cx="822960" cy="457200"/>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300 mg</a:t>
            </a:r>
            <a:endParaRPr lang="en-US" sz="900" dirty="0"/>
          </a:p>
        </p:txBody>
      </p:sp>
      <p:sp>
        <p:nvSpPr>
          <p:cNvPr id="47" name="Shape 45"/>
          <p:cNvSpPr/>
          <p:nvPr/>
        </p:nvSpPr>
        <p:spPr>
          <a:xfrm>
            <a:off x="3291840" y="3282696"/>
            <a:ext cx="2788920" cy="457200"/>
          </a:xfrm>
          <a:prstGeom prst="rect">
            <a:avLst/>
          </a:prstGeom>
          <a:solidFill>
            <a:srgbClr val="122635"/>
          </a:solidFill>
          <a:ln/>
        </p:spPr>
        <p:txBody>
          <a:bodyPr/>
          <a:lstStyle/>
          <a:p>
            <a:endParaRPr lang="en-US"/>
          </a:p>
        </p:txBody>
      </p:sp>
      <p:sp>
        <p:nvSpPr>
          <p:cNvPr id="48" name="Shape 46"/>
          <p:cNvSpPr/>
          <p:nvPr/>
        </p:nvSpPr>
        <p:spPr>
          <a:xfrm>
            <a:off x="3291840" y="3282696"/>
            <a:ext cx="54864" cy="457200"/>
          </a:xfrm>
          <a:prstGeom prst="rect">
            <a:avLst/>
          </a:prstGeom>
          <a:solidFill>
            <a:srgbClr val="27AE60"/>
          </a:solidFill>
          <a:ln/>
        </p:spPr>
        <p:txBody>
          <a:bodyPr/>
          <a:lstStyle/>
          <a:p>
            <a:endParaRPr lang="en-US"/>
          </a:p>
        </p:txBody>
      </p:sp>
      <p:sp>
        <p:nvSpPr>
          <p:cNvPr id="49" name="Text 47"/>
          <p:cNvSpPr/>
          <p:nvPr/>
        </p:nvSpPr>
        <p:spPr>
          <a:xfrm>
            <a:off x="3401568" y="3282696"/>
            <a:ext cx="1188720" cy="45720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65–120 (elderly)</a:t>
            </a:r>
            <a:endParaRPr lang="en-US" sz="900" dirty="0"/>
          </a:p>
        </p:txBody>
      </p:sp>
      <p:sp>
        <p:nvSpPr>
          <p:cNvPr id="50" name="Text 48"/>
          <p:cNvSpPr/>
          <p:nvPr/>
        </p:nvSpPr>
        <p:spPr>
          <a:xfrm>
            <a:off x="4590288" y="3282696"/>
            <a:ext cx="685800" cy="457200"/>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70</a:t>
            </a:r>
            <a:endParaRPr lang="en-US" sz="900" dirty="0"/>
          </a:p>
        </p:txBody>
      </p:sp>
      <p:sp>
        <p:nvSpPr>
          <p:cNvPr id="51" name="Text 49"/>
          <p:cNvSpPr/>
          <p:nvPr/>
        </p:nvSpPr>
        <p:spPr>
          <a:xfrm>
            <a:off x="5276088" y="3282696"/>
            <a:ext cx="822960" cy="457200"/>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280 mg</a:t>
            </a:r>
            <a:endParaRPr lang="en-US" sz="900" dirty="0"/>
          </a:p>
        </p:txBody>
      </p:sp>
      <p:sp>
        <p:nvSpPr>
          <p:cNvPr id="52" name="Shape 50"/>
          <p:cNvSpPr/>
          <p:nvPr/>
        </p:nvSpPr>
        <p:spPr>
          <a:xfrm>
            <a:off x="3291840" y="3776472"/>
            <a:ext cx="2788920" cy="457200"/>
          </a:xfrm>
          <a:prstGeom prst="rect">
            <a:avLst/>
          </a:prstGeom>
          <a:solidFill>
            <a:srgbClr val="1A0808"/>
          </a:solidFill>
          <a:ln/>
        </p:spPr>
        <p:txBody>
          <a:bodyPr/>
          <a:lstStyle/>
          <a:p>
            <a:endParaRPr lang="en-US"/>
          </a:p>
        </p:txBody>
      </p:sp>
      <p:sp>
        <p:nvSpPr>
          <p:cNvPr id="53" name="Shape 51"/>
          <p:cNvSpPr/>
          <p:nvPr/>
        </p:nvSpPr>
        <p:spPr>
          <a:xfrm>
            <a:off x="3291840" y="3776472"/>
            <a:ext cx="54864" cy="457200"/>
          </a:xfrm>
          <a:prstGeom prst="rect">
            <a:avLst/>
          </a:prstGeom>
          <a:solidFill>
            <a:srgbClr val="C0392B"/>
          </a:solidFill>
          <a:ln/>
        </p:spPr>
        <p:txBody>
          <a:bodyPr/>
          <a:lstStyle/>
          <a:p>
            <a:endParaRPr lang="en-US"/>
          </a:p>
        </p:txBody>
      </p:sp>
      <p:sp>
        <p:nvSpPr>
          <p:cNvPr id="54" name="Text 52"/>
          <p:cNvSpPr/>
          <p:nvPr/>
        </p:nvSpPr>
        <p:spPr>
          <a:xfrm>
            <a:off x="3401568" y="3776472"/>
            <a:ext cx="1188720" cy="45720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&gt; 120 (invalid)</a:t>
            </a:r>
            <a:endParaRPr lang="en-US" sz="900" dirty="0"/>
          </a:p>
        </p:txBody>
      </p:sp>
      <p:sp>
        <p:nvSpPr>
          <p:cNvPr id="55" name="Text 53"/>
          <p:cNvSpPr/>
          <p:nvPr/>
        </p:nvSpPr>
        <p:spPr>
          <a:xfrm>
            <a:off x="4590288" y="3776472"/>
            <a:ext cx="685800" cy="457200"/>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130</a:t>
            </a:r>
            <a:endParaRPr lang="en-US" sz="900" dirty="0"/>
          </a:p>
        </p:txBody>
      </p:sp>
      <p:sp>
        <p:nvSpPr>
          <p:cNvPr id="56" name="Text 54"/>
          <p:cNvSpPr/>
          <p:nvPr/>
        </p:nvSpPr>
        <p:spPr>
          <a:xfrm>
            <a:off x="5276088" y="3776472"/>
            <a:ext cx="822960" cy="457200"/>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Exception</a:t>
            </a:r>
            <a:endParaRPr lang="en-US" sz="900" dirty="0"/>
          </a:p>
        </p:txBody>
      </p:sp>
      <p:sp>
        <p:nvSpPr>
          <p:cNvPr id="57" name="Shape 55"/>
          <p:cNvSpPr/>
          <p:nvPr/>
        </p:nvSpPr>
        <p:spPr>
          <a:xfrm>
            <a:off x="6236208" y="1024128"/>
            <a:ext cx="2788920" cy="475488"/>
          </a:xfrm>
          <a:prstGeom prst="rect">
            <a:avLst/>
          </a:prstGeom>
          <a:solidFill>
            <a:srgbClr val="E67E22"/>
          </a:solidFill>
          <a:ln/>
        </p:spPr>
        <p:txBody>
          <a:bodyPr/>
          <a:lstStyle/>
          <a:p>
            <a:endParaRPr lang="en-US"/>
          </a:p>
        </p:txBody>
      </p:sp>
      <p:sp>
        <p:nvSpPr>
          <p:cNvPr id="58" name="Text 56"/>
          <p:cNvSpPr/>
          <p:nvPr/>
        </p:nvSpPr>
        <p:spPr>
          <a:xfrm>
            <a:off x="6327648" y="1024128"/>
            <a:ext cx="2651760" cy="47548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calculateCost</a:t>
            </a:r>
            <a:endParaRPr lang="en-US" sz="1100" dirty="0"/>
          </a:p>
          <a:p>
            <a:pPr marL="0" indent="0">
              <a:buNone/>
            </a:pPr>
            <a:r>
              <a:rPr lang="en-US" sz="1100" b="1" dirty="0">
                <a:solidFill>
                  <a:srgbClr val="FFFFFF"/>
                </a:solidFill>
                <a:latin typeface="Calibri" pitchFamily="34" charset="0"/>
                <a:ea typeface="Calibri" pitchFamily="34" charset="-122"/>
                <a:cs typeface="Calibri" pitchFamily="34" charset="-120"/>
              </a:rPr>
              <a:t>(age + dosage)</a:t>
            </a:r>
            <a:endParaRPr lang="en-US" sz="1100" dirty="0"/>
          </a:p>
        </p:txBody>
      </p:sp>
      <p:sp>
        <p:nvSpPr>
          <p:cNvPr id="59" name="Shape 57"/>
          <p:cNvSpPr/>
          <p:nvPr/>
        </p:nvSpPr>
        <p:spPr>
          <a:xfrm>
            <a:off x="6236208" y="1536192"/>
            <a:ext cx="2788920" cy="237744"/>
          </a:xfrm>
          <a:prstGeom prst="rect">
            <a:avLst/>
          </a:prstGeom>
          <a:solidFill>
            <a:srgbClr val="0D2137"/>
          </a:solidFill>
          <a:ln/>
        </p:spPr>
        <p:txBody>
          <a:bodyPr/>
          <a:lstStyle/>
          <a:p>
            <a:endParaRPr lang="en-US"/>
          </a:p>
        </p:txBody>
      </p:sp>
      <p:sp>
        <p:nvSpPr>
          <p:cNvPr id="60" name="Text 58"/>
          <p:cNvSpPr/>
          <p:nvPr/>
        </p:nvSpPr>
        <p:spPr>
          <a:xfrm>
            <a:off x="6309360" y="1536192"/>
            <a:ext cx="1188720" cy="237744"/>
          </a:xfrm>
          <a:prstGeom prst="rect">
            <a:avLst/>
          </a:prstGeom>
          <a:noFill/>
          <a:ln/>
        </p:spPr>
        <p:txBody>
          <a:bodyPr wrap="square" rtlCol="0" anchor="ctr"/>
          <a:lstStyle/>
          <a:p>
            <a:pPr marL="0" indent="0">
              <a:buNone/>
            </a:pPr>
            <a:r>
              <a:rPr lang="en-US" sz="800" b="1" dirty="0">
                <a:solidFill>
                  <a:srgbClr val="02C39A"/>
                </a:solidFill>
                <a:latin typeface="Calibri" pitchFamily="34" charset="0"/>
                <a:ea typeface="Calibri" pitchFamily="34" charset="-122"/>
                <a:cs typeface="Calibri" pitchFamily="34" charset="-120"/>
              </a:rPr>
              <a:t>Partition</a:t>
            </a:r>
            <a:endParaRPr lang="en-US" sz="800" dirty="0"/>
          </a:p>
        </p:txBody>
      </p:sp>
      <p:sp>
        <p:nvSpPr>
          <p:cNvPr id="61" name="Text 59"/>
          <p:cNvSpPr/>
          <p:nvPr/>
        </p:nvSpPr>
        <p:spPr>
          <a:xfrm>
            <a:off x="7498080" y="1536192"/>
            <a:ext cx="685800" cy="237744"/>
          </a:xfrm>
          <a:prstGeom prst="rect">
            <a:avLst/>
          </a:prstGeom>
          <a:noFill/>
          <a:ln/>
        </p:spPr>
        <p:txBody>
          <a:bodyPr wrap="square" rtlCol="0" anchor="ctr"/>
          <a:lstStyle/>
          <a:p>
            <a:pPr marL="0" indent="0">
              <a:buNone/>
            </a:pPr>
            <a:r>
              <a:rPr lang="en-US" sz="800" b="1" dirty="0">
                <a:solidFill>
                  <a:srgbClr val="02C39A"/>
                </a:solidFill>
                <a:latin typeface="Calibri" pitchFamily="34" charset="0"/>
                <a:ea typeface="Calibri" pitchFamily="34" charset="-122"/>
                <a:cs typeface="Calibri" pitchFamily="34" charset="-120"/>
              </a:rPr>
              <a:t>Test Value</a:t>
            </a:r>
            <a:endParaRPr lang="en-US" sz="800" dirty="0"/>
          </a:p>
        </p:txBody>
      </p:sp>
      <p:sp>
        <p:nvSpPr>
          <p:cNvPr id="62" name="Text 60"/>
          <p:cNvSpPr/>
          <p:nvPr/>
        </p:nvSpPr>
        <p:spPr>
          <a:xfrm>
            <a:off x="8183880" y="1536192"/>
            <a:ext cx="822960" cy="237744"/>
          </a:xfrm>
          <a:prstGeom prst="rect">
            <a:avLst/>
          </a:prstGeom>
          <a:noFill/>
          <a:ln/>
        </p:spPr>
        <p:txBody>
          <a:bodyPr wrap="square" rtlCol="0" anchor="ctr"/>
          <a:lstStyle/>
          <a:p>
            <a:pPr marL="0" indent="0">
              <a:buNone/>
            </a:pPr>
            <a:r>
              <a:rPr lang="en-US" sz="800" b="1" dirty="0">
                <a:solidFill>
                  <a:srgbClr val="02C39A"/>
                </a:solidFill>
                <a:latin typeface="Calibri" pitchFamily="34" charset="0"/>
                <a:ea typeface="Calibri" pitchFamily="34" charset="-122"/>
                <a:cs typeface="Calibri" pitchFamily="34" charset="-120"/>
              </a:rPr>
              <a:t>Result</a:t>
            </a:r>
            <a:endParaRPr lang="en-US" sz="800" dirty="0"/>
          </a:p>
        </p:txBody>
      </p:sp>
      <p:sp>
        <p:nvSpPr>
          <p:cNvPr id="63" name="Shape 61"/>
          <p:cNvSpPr/>
          <p:nvPr/>
        </p:nvSpPr>
        <p:spPr>
          <a:xfrm>
            <a:off x="6236208" y="1801368"/>
            <a:ext cx="2788920" cy="457200"/>
          </a:xfrm>
          <a:prstGeom prst="rect">
            <a:avLst/>
          </a:prstGeom>
          <a:solidFill>
            <a:srgbClr val="1A0808"/>
          </a:solidFill>
          <a:ln/>
        </p:spPr>
        <p:txBody>
          <a:bodyPr/>
          <a:lstStyle/>
          <a:p>
            <a:endParaRPr lang="en-US"/>
          </a:p>
        </p:txBody>
      </p:sp>
      <p:sp>
        <p:nvSpPr>
          <p:cNvPr id="64" name="Shape 62"/>
          <p:cNvSpPr/>
          <p:nvPr/>
        </p:nvSpPr>
        <p:spPr>
          <a:xfrm>
            <a:off x="6236208" y="1801368"/>
            <a:ext cx="54864" cy="457200"/>
          </a:xfrm>
          <a:prstGeom prst="rect">
            <a:avLst/>
          </a:prstGeom>
          <a:solidFill>
            <a:srgbClr val="C0392B"/>
          </a:solidFill>
          <a:ln/>
        </p:spPr>
        <p:txBody>
          <a:bodyPr/>
          <a:lstStyle/>
          <a:p>
            <a:endParaRPr lang="en-US"/>
          </a:p>
        </p:txBody>
      </p:sp>
      <p:sp>
        <p:nvSpPr>
          <p:cNvPr id="65" name="Text 63"/>
          <p:cNvSpPr/>
          <p:nvPr/>
        </p:nvSpPr>
        <p:spPr>
          <a:xfrm>
            <a:off x="6345936" y="1801368"/>
            <a:ext cx="1188720" cy="45720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age &lt; 0</a:t>
            </a:r>
            <a:endParaRPr lang="en-US" sz="900" dirty="0"/>
          </a:p>
        </p:txBody>
      </p:sp>
      <p:sp>
        <p:nvSpPr>
          <p:cNvPr id="66" name="Text 64"/>
          <p:cNvSpPr/>
          <p:nvPr/>
        </p:nvSpPr>
        <p:spPr>
          <a:xfrm>
            <a:off x="7534656" y="1801368"/>
            <a:ext cx="685800" cy="457200"/>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-1</a:t>
            </a:r>
            <a:endParaRPr lang="en-US" sz="900" dirty="0"/>
          </a:p>
        </p:txBody>
      </p:sp>
      <p:sp>
        <p:nvSpPr>
          <p:cNvPr id="67" name="Text 65"/>
          <p:cNvSpPr/>
          <p:nvPr/>
        </p:nvSpPr>
        <p:spPr>
          <a:xfrm>
            <a:off x="8220456" y="1801368"/>
            <a:ext cx="822960" cy="457200"/>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Exception</a:t>
            </a:r>
            <a:endParaRPr lang="en-US" sz="900" dirty="0"/>
          </a:p>
        </p:txBody>
      </p:sp>
      <p:sp>
        <p:nvSpPr>
          <p:cNvPr id="68" name="Shape 66"/>
          <p:cNvSpPr/>
          <p:nvPr/>
        </p:nvSpPr>
        <p:spPr>
          <a:xfrm>
            <a:off x="6236208" y="2295144"/>
            <a:ext cx="2788920" cy="457200"/>
          </a:xfrm>
          <a:prstGeom prst="rect">
            <a:avLst/>
          </a:prstGeom>
          <a:solidFill>
            <a:srgbClr val="1A0808"/>
          </a:solidFill>
          <a:ln/>
        </p:spPr>
        <p:txBody>
          <a:bodyPr/>
          <a:lstStyle/>
          <a:p>
            <a:endParaRPr lang="en-US"/>
          </a:p>
        </p:txBody>
      </p:sp>
      <p:sp>
        <p:nvSpPr>
          <p:cNvPr id="69" name="Shape 67"/>
          <p:cNvSpPr/>
          <p:nvPr/>
        </p:nvSpPr>
        <p:spPr>
          <a:xfrm>
            <a:off x="6236208" y="2295144"/>
            <a:ext cx="54864" cy="457200"/>
          </a:xfrm>
          <a:prstGeom prst="rect">
            <a:avLst/>
          </a:prstGeom>
          <a:solidFill>
            <a:srgbClr val="C0392B"/>
          </a:solidFill>
          <a:ln/>
        </p:spPr>
        <p:txBody>
          <a:bodyPr/>
          <a:lstStyle/>
          <a:p>
            <a:endParaRPr lang="en-US"/>
          </a:p>
        </p:txBody>
      </p:sp>
      <p:sp>
        <p:nvSpPr>
          <p:cNvPr id="70" name="Text 68"/>
          <p:cNvSpPr/>
          <p:nvPr/>
        </p:nvSpPr>
        <p:spPr>
          <a:xfrm>
            <a:off x="6345936" y="2295144"/>
            <a:ext cx="1188720" cy="45720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dosage ≤ 0</a:t>
            </a:r>
            <a:endParaRPr lang="en-US" sz="900" dirty="0"/>
          </a:p>
        </p:txBody>
      </p:sp>
      <p:sp>
        <p:nvSpPr>
          <p:cNvPr id="71" name="Text 69"/>
          <p:cNvSpPr/>
          <p:nvPr/>
        </p:nvSpPr>
        <p:spPr>
          <a:xfrm>
            <a:off x="7534656" y="2295144"/>
            <a:ext cx="685800" cy="457200"/>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0</a:t>
            </a:r>
            <a:endParaRPr lang="en-US" sz="900" dirty="0"/>
          </a:p>
        </p:txBody>
      </p:sp>
      <p:sp>
        <p:nvSpPr>
          <p:cNvPr id="72" name="Text 70"/>
          <p:cNvSpPr/>
          <p:nvPr/>
        </p:nvSpPr>
        <p:spPr>
          <a:xfrm>
            <a:off x="8220456" y="2295144"/>
            <a:ext cx="822960" cy="457200"/>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Exception</a:t>
            </a:r>
            <a:endParaRPr lang="en-US" sz="900" dirty="0"/>
          </a:p>
        </p:txBody>
      </p:sp>
      <p:sp>
        <p:nvSpPr>
          <p:cNvPr id="73" name="Shape 71"/>
          <p:cNvSpPr/>
          <p:nvPr/>
        </p:nvSpPr>
        <p:spPr>
          <a:xfrm>
            <a:off x="6236208" y="2788920"/>
            <a:ext cx="2788920" cy="457200"/>
          </a:xfrm>
          <a:prstGeom prst="rect">
            <a:avLst/>
          </a:prstGeom>
          <a:solidFill>
            <a:srgbClr val="0D2137"/>
          </a:solidFill>
          <a:ln/>
        </p:spPr>
        <p:txBody>
          <a:bodyPr/>
          <a:lstStyle/>
          <a:p>
            <a:endParaRPr lang="en-US"/>
          </a:p>
        </p:txBody>
      </p:sp>
      <p:sp>
        <p:nvSpPr>
          <p:cNvPr id="74" name="Shape 72"/>
          <p:cNvSpPr/>
          <p:nvPr/>
        </p:nvSpPr>
        <p:spPr>
          <a:xfrm>
            <a:off x="6236208" y="2788920"/>
            <a:ext cx="54864" cy="457200"/>
          </a:xfrm>
          <a:prstGeom prst="rect">
            <a:avLst/>
          </a:prstGeom>
          <a:solidFill>
            <a:srgbClr val="27AE60"/>
          </a:solidFill>
          <a:ln/>
        </p:spPr>
        <p:txBody>
          <a:bodyPr/>
          <a:lstStyle/>
          <a:p>
            <a:endParaRPr lang="en-US"/>
          </a:p>
        </p:txBody>
      </p:sp>
      <p:sp>
        <p:nvSpPr>
          <p:cNvPr id="75" name="Text 73"/>
          <p:cNvSpPr/>
          <p:nvPr/>
        </p:nvSpPr>
        <p:spPr>
          <a:xfrm>
            <a:off x="6345936" y="2788920"/>
            <a:ext cx="1188720" cy="45720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Pediatric &lt;18</a:t>
            </a:r>
            <a:endParaRPr lang="en-US" sz="900" dirty="0"/>
          </a:p>
        </p:txBody>
      </p:sp>
      <p:sp>
        <p:nvSpPr>
          <p:cNvPr id="76" name="Text 74"/>
          <p:cNvSpPr/>
          <p:nvPr/>
        </p:nvSpPr>
        <p:spPr>
          <a:xfrm>
            <a:off x="7534656" y="2788920"/>
            <a:ext cx="685800" cy="457200"/>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10</a:t>
            </a:r>
            <a:endParaRPr lang="en-US" sz="900" dirty="0"/>
          </a:p>
        </p:txBody>
      </p:sp>
      <p:sp>
        <p:nvSpPr>
          <p:cNvPr id="77" name="Text 75"/>
          <p:cNvSpPr/>
          <p:nvPr/>
        </p:nvSpPr>
        <p:spPr>
          <a:xfrm>
            <a:off x="8220456" y="2788920"/>
            <a:ext cx="822960" cy="457200"/>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+$15</a:t>
            </a:r>
            <a:endParaRPr lang="en-US" sz="900" dirty="0"/>
          </a:p>
        </p:txBody>
      </p:sp>
      <p:sp>
        <p:nvSpPr>
          <p:cNvPr id="78" name="Shape 76"/>
          <p:cNvSpPr/>
          <p:nvPr/>
        </p:nvSpPr>
        <p:spPr>
          <a:xfrm>
            <a:off x="6236208" y="3282696"/>
            <a:ext cx="2788920" cy="457200"/>
          </a:xfrm>
          <a:prstGeom prst="rect">
            <a:avLst/>
          </a:prstGeom>
          <a:solidFill>
            <a:srgbClr val="122635"/>
          </a:solidFill>
          <a:ln/>
        </p:spPr>
        <p:txBody>
          <a:bodyPr/>
          <a:lstStyle/>
          <a:p>
            <a:endParaRPr lang="en-US"/>
          </a:p>
        </p:txBody>
      </p:sp>
      <p:sp>
        <p:nvSpPr>
          <p:cNvPr id="79" name="Shape 77"/>
          <p:cNvSpPr/>
          <p:nvPr/>
        </p:nvSpPr>
        <p:spPr>
          <a:xfrm>
            <a:off x="6236208" y="3282696"/>
            <a:ext cx="54864" cy="457200"/>
          </a:xfrm>
          <a:prstGeom prst="rect">
            <a:avLst/>
          </a:prstGeom>
          <a:solidFill>
            <a:srgbClr val="27AE60"/>
          </a:solidFill>
          <a:ln/>
        </p:spPr>
        <p:txBody>
          <a:bodyPr/>
          <a:lstStyle/>
          <a:p>
            <a:endParaRPr lang="en-US"/>
          </a:p>
        </p:txBody>
      </p:sp>
      <p:sp>
        <p:nvSpPr>
          <p:cNvPr id="80" name="Text 78"/>
          <p:cNvSpPr/>
          <p:nvPr/>
        </p:nvSpPr>
        <p:spPr>
          <a:xfrm>
            <a:off x="6345936" y="3282696"/>
            <a:ext cx="1188720" cy="45720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Adult 18–64</a:t>
            </a:r>
            <a:endParaRPr lang="en-US" sz="900" dirty="0"/>
          </a:p>
        </p:txBody>
      </p:sp>
      <p:sp>
        <p:nvSpPr>
          <p:cNvPr id="81" name="Text 79"/>
          <p:cNvSpPr/>
          <p:nvPr/>
        </p:nvSpPr>
        <p:spPr>
          <a:xfrm>
            <a:off x="7534656" y="3282696"/>
            <a:ext cx="685800" cy="457200"/>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30</a:t>
            </a:r>
            <a:endParaRPr lang="en-US" sz="900" dirty="0"/>
          </a:p>
        </p:txBody>
      </p:sp>
      <p:sp>
        <p:nvSpPr>
          <p:cNvPr id="82" name="Text 80"/>
          <p:cNvSpPr/>
          <p:nvPr/>
        </p:nvSpPr>
        <p:spPr>
          <a:xfrm>
            <a:off x="8220456" y="3282696"/>
            <a:ext cx="822960" cy="457200"/>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Base only</a:t>
            </a:r>
            <a:endParaRPr lang="en-US" sz="900" dirty="0"/>
          </a:p>
        </p:txBody>
      </p:sp>
      <p:sp>
        <p:nvSpPr>
          <p:cNvPr id="83" name="Shape 81"/>
          <p:cNvSpPr/>
          <p:nvPr/>
        </p:nvSpPr>
        <p:spPr>
          <a:xfrm>
            <a:off x="6236208" y="3776472"/>
            <a:ext cx="2788920" cy="457200"/>
          </a:xfrm>
          <a:prstGeom prst="rect">
            <a:avLst/>
          </a:prstGeom>
          <a:solidFill>
            <a:srgbClr val="0D2137"/>
          </a:solidFill>
          <a:ln/>
        </p:spPr>
        <p:txBody>
          <a:bodyPr/>
          <a:lstStyle/>
          <a:p>
            <a:endParaRPr lang="en-US"/>
          </a:p>
        </p:txBody>
      </p:sp>
      <p:sp>
        <p:nvSpPr>
          <p:cNvPr id="84" name="Shape 82"/>
          <p:cNvSpPr/>
          <p:nvPr/>
        </p:nvSpPr>
        <p:spPr>
          <a:xfrm>
            <a:off x="6236208" y="3776472"/>
            <a:ext cx="54864" cy="457200"/>
          </a:xfrm>
          <a:prstGeom prst="rect">
            <a:avLst/>
          </a:prstGeom>
          <a:solidFill>
            <a:srgbClr val="27AE60"/>
          </a:solidFill>
          <a:ln/>
        </p:spPr>
        <p:txBody>
          <a:bodyPr/>
          <a:lstStyle/>
          <a:p>
            <a:endParaRPr lang="en-US"/>
          </a:p>
        </p:txBody>
      </p:sp>
      <p:sp>
        <p:nvSpPr>
          <p:cNvPr id="85" name="Text 83"/>
          <p:cNvSpPr/>
          <p:nvPr/>
        </p:nvSpPr>
        <p:spPr>
          <a:xfrm>
            <a:off x="6345936" y="3776472"/>
            <a:ext cx="1188720" cy="45720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Elderly 65+</a:t>
            </a:r>
            <a:endParaRPr lang="en-US" sz="900" dirty="0"/>
          </a:p>
        </p:txBody>
      </p:sp>
      <p:sp>
        <p:nvSpPr>
          <p:cNvPr id="86" name="Text 84"/>
          <p:cNvSpPr/>
          <p:nvPr/>
        </p:nvSpPr>
        <p:spPr>
          <a:xfrm>
            <a:off x="7534656" y="3776472"/>
            <a:ext cx="685800" cy="457200"/>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70</a:t>
            </a:r>
            <a:endParaRPr lang="en-US" sz="900" dirty="0"/>
          </a:p>
        </p:txBody>
      </p:sp>
      <p:sp>
        <p:nvSpPr>
          <p:cNvPr id="87" name="Text 85"/>
          <p:cNvSpPr/>
          <p:nvPr/>
        </p:nvSpPr>
        <p:spPr>
          <a:xfrm>
            <a:off x="8220456" y="3776472"/>
            <a:ext cx="822960" cy="457200"/>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-$10</a:t>
            </a:r>
            <a:endParaRPr lang="en-US" sz="900" dirty="0"/>
          </a:p>
        </p:txBody>
      </p:sp>
      <p:sp>
        <p:nvSpPr>
          <p:cNvPr id="88" name="Shape 86"/>
          <p:cNvSpPr/>
          <p:nvPr/>
        </p:nvSpPr>
        <p:spPr>
          <a:xfrm>
            <a:off x="6236208" y="4270248"/>
            <a:ext cx="2788920" cy="457200"/>
          </a:xfrm>
          <a:prstGeom prst="rect">
            <a:avLst/>
          </a:prstGeom>
          <a:solidFill>
            <a:srgbClr val="1A0808"/>
          </a:solidFill>
          <a:ln/>
        </p:spPr>
        <p:txBody>
          <a:bodyPr/>
          <a:lstStyle/>
          <a:p>
            <a:endParaRPr lang="en-US"/>
          </a:p>
        </p:txBody>
      </p:sp>
      <p:sp>
        <p:nvSpPr>
          <p:cNvPr id="89" name="Shape 87"/>
          <p:cNvSpPr/>
          <p:nvPr/>
        </p:nvSpPr>
        <p:spPr>
          <a:xfrm>
            <a:off x="6236208" y="4270248"/>
            <a:ext cx="54864" cy="457200"/>
          </a:xfrm>
          <a:prstGeom prst="rect">
            <a:avLst/>
          </a:prstGeom>
          <a:solidFill>
            <a:srgbClr val="C0392B"/>
          </a:solidFill>
          <a:ln/>
        </p:spPr>
        <p:txBody>
          <a:bodyPr/>
          <a:lstStyle/>
          <a:p>
            <a:endParaRPr lang="en-US"/>
          </a:p>
        </p:txBody>
      </p:sp>
      <p:sp>
        <p:nvSpPr>
          <p:cNvPr id="90" name="Text 88"/>
          <p:cNvSpPr/>
          <p:nvPr/>
        </p:nvSpPr>
        <p:spPr>
          <a:xfrm>
            <a:off x="6345936" y="4270248"/>
            <a:ext cx="1188720" cy="45720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dosage &gt; 500</a:t>
            </a:r>
            <a:endParaRPr lang="en-US" sz="900" dirty="0"/>
          </a:p>
        </p:txBody>
      </p:sp>
      <p:sp>
        <p:nvSpPr>
          <p:cNvPr id="91" name="Text 89"/>
          <p:cNvSpPr/>
          <p:nvPr/>
        </p:nvSpPr>
        <p:spPr>
          <a:xfrm>
            <a:off x="7534656" y="4270248"/>
            <a:ext cx="685800" cy="457200"/>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600</a:t>
            </a:r>
            <a:endParaRPr lang="en-US" sz="900" dirty="0"/>
          </a:p>
        </p:txBody>
      </p:sp>
      <p:sp>
        <p:nvSpPr>
          <p:cNvPr id="92" name="Text 90"/>
          <p:cNvSpPr/>
          <p:nvPr/>
        </p:nvSpPr>
        <p:spPr>
          <a:xfrm>
            <a:off x="8220456" y="4270248"/>
            <a:ext cx="822960" cy="457200"/>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Exception</a:t>
            </a:r>
            <a:endParaRPr lang="en-US" sz="900" dirty="0"/>
          </a:p>
        </p:txBody>
      </p:sp>
      <p:sp>
        <p:nvSpPr>
          <p:cNvPr id="93" name="Shape 91"/>
          <p:cNvSpPr/>
          <p:nvPr/>
        </p:nvSpPr>
        <p:spPr>
          <a:xfrm>
            <a:off x="347472" y="4846320"/>
            <a:ext cx="8449056" cy="256032"/>
          </a:xfrm>
          <a:prstGeom prst="rect">
            <a:avLst/>
          </a:prstGeom>
          <a:solidFill>
            <a:srgbClr val="0D2137"/>
          </a:solidFill>
          <a:ln/>
        </p:spPr>
        <p:txBody>
          <a:bodyPr/>
          <a:lstStyle/>
          <a:p>
            <a:endParaRPr lang="en-US"/>
          </a:p>
        </p:txBody>
      </p:sp>
      <p:sp>
        <p:nvSpPr>
          <p:cNvPr id="94" name="Text 92"/>
          <p:cNvSpPr/>
          <p:nvPr/>
        </p:nvSpPr>
        <p:spPr>
          <a:xfrm>
            <a:off x="457200" y="4846320"/>
            <a:ext cx="8321040" cy="256032"/>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Key insight:  </a:t>
            </a:r>
            <a:r>
              <a:rPr lang="en-US" sz="900" dirty="0">
                <a:solidFill>
                  <a:srgbClr val="CBD5E1"/>
                </a:solidFill>
                <a:latin typeface="Calibri" pitchFamily="34" charset="0"/>
                <a:ea typeface="Calibri" pitchFamily="34" charset="-122"/>
                <a:cs typeface="Calibri" pitchFamily="34" charset="-120"/>
              </a:rPr>
              <a:t>calculateDosage needs 5 partitions (2 invalid + 3 valid age groups). calculateCost needs 6 partitions because it has TWO parameters (age AND dosage) each with their own invalid ranges.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chemeClr val="tx1"/>
          </a:solidFill>
          <a:ln/>
        </p:spPr>
        <p:txBody>
          <a:bodyPr/>
          <a:lstStyle/>
          <a:p>
            <a:endParaRPr lang="en-US"/>
          </a:p>
        </p:txBody>
      </p:sp>
      <p:sp>
        <p:nvSpPr>
          <p:cNvPr id="3" name="Text 1"/>
          <p:cNvSpPr/>
          <p:nvPr/>
        </p:nvSpPr>
        <p:spPr>
          <a:xfrm>
            <a:off x="411480" y="0"/>
            <a:ext cx="8412480" cy="658368"/>
          </a:xfrm>
          <a:prstGeom prst="rect">
            <a:avLst/>
          </a:prstGeom>
          <a:noFill/>
          <a:ln/>
        </p:spPr>
        <p:txBody>
          <a:bodyPr wrap="square" rtlCol="0" anchor="b"/>
          <a:lstStyle/>
          <a:p>
            <a:pPr marL="0" indent="0">
              <a:buNone/>
            </a:pPr>
            <a:r>
              <a:rPr lang="en-US" sz="2800" b="1" dirty="0">
                <a:solidFill>
                  <a:srgbClr val="FFFFFF"/>
                </a:solidFill>
                <a:latin typeface="Georgia" pitchFamily="34" charset="0"/>
                <a:ea typeface="Georgia" pitchFamily="34" charset="-122"/>
                <a:cs typeface="Georgia" pitchFamily="34" charset="-120"/>
              </a:rPr>
              <a:t>EPC vs BVA — How They Work Together</a:t>
            </a:r>
            <a:endParaRPr lang="en-US" sz="2800" dirty="0"/>
          </a:p>
        </p:txBody>
      </p:sp>
      <p:sp>
        <p:nvSpPr>
          <p:cNvPr id="4" name="Text 2"/>
          <p:cNvSpPr/>
          <p:nvPr/>
        </p:nvSpPr>
        <p:spPr>
          <a:xfrm>
            <a:off x="411480" y="658368"/>
            <a:ext cx="8412480" cy="347472"/>
          </a:xfrm>
          <a:prstGeom prst="rect">
            <a:avLst/>
          </a:prstGeom>
          <a:noFill/>
          <a:ln/>
        </p:spPr>
        <p:txBody>
          <a:bodyPr wrap="square" rtlCol="0" anchor="t"/>
          <a:lstStyle/>
          <a:p>
            <a:pPr marL="0" indent="0">
              <a:buNone/>
            </a:pPr>
            <a:r>
              <a:rPr lang="en-US" sz="1150" dirty="0">
                <a:solidFill>
                  <a:srgbClr val="CBD5E1"/>
                </a:solidFill>
                <a:latin typeface="Calibri" pitchFamily="34" charset="0"/>
                <a:ea typeface="Calibri" pitchFamily="34" charset="-122"/>
                <a:cs typeface="Calibri" pitchFamily="34" charset="-120"/>
              </a:rPr>
              <a:t>Two blackbox techniques that complement each other — EPC for efficiency, BVA for boundary precision</a:t>
            </a:r>
            <a:endParaRPr lang="en-US" sz="1150" dirty="0"/>
          </a:p>
        </p:txBody>
      </p:sp>
      <p:sp>
        <p:nvSpPr>
          <p:cNvPr id="5" name="Shape 3"/>
          <p:cNvSpPr/>
          <p:nvPr/>
        </p:nvSpPr>
        <p:spPr>
          <a:xfrm>
            <a:off x="347472" y="1115568"/>
            <a:ext cx="4041648" cy="373075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47472" y="1115568"/>
            <a:ext cx="4041648" cy="384048"/>
          </a:xfrm>
          <a:prstGeom prst="rect">
            <a:avLst/>
          </a:prstGeom>
          <a:solidFill>
            <a:srgbClr val="1565C0"/>
          </a:solidFill>
          <a:ln/>
        </p:spPr>
        <p:txBody>
          <a:bodyPr/>
          <a:lstStyle/>
          <a:p>
            <a:endParaRPr lang="en-US"/>
          </a:p>
        </p:txBody>
      </p:sp>
      <p:sp>
        <p:nvSpPr>
          <p:cNvPr id="7" name="Text 5"/>
          <p:cNvSpPr/>
          <p:nvPr/>
        </p:nvSpPr>
        <p:spPr>
          <a:xfrm>
            <a:off x="457200" y="1115568"/>
            <a:ext cx="3840480" cy="384048"/>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EPC  —  Equivalence Partitioning</a:t>
            </a:r>
            <a:endParaRPr lang="en-US" sz="1300" dirty="0"/>
          </a:p>
        </p:txBody>
      </p:sp>
      <p:sp>
        <p:nvSpPr>
          <p:cNvPr id="8" name="Shape 6"/>
          <p:cNvSpPr/>
          <p:nvPr/>
        </p:nvSpPr>
        <p:spPr>
          <a:xfrm>
            <a:off x="347472" y="1572768"/>
            <a:ext cx="4041648" cy="493776"/>
          </a:xfrm>
          <a:prstGeom prst="rect">
            <a:avLst/>
          </a:prstGeom>
          <a:solidFill>
            <a:srgbClr val="EDF2F7"/>
          </a:solidFill>
          <a:ln/>
        </p:spPr>
        <p:txBody>
          <a:bodyPr/>
          <a:lstStyle/>
          <a:p>
            <a:endParaRPr lang="en-US"/>
          </a:p>
        </p:txBody>
      </p:sp>
      <p:sp>
        <p:nvSpPr>
          <p:cNvPr id="9" name="Text 7"/>
          <p:cNvSpPr/>
          <p:nvPr/>
        </p:nvSpPr>
        <p:spPr>
          <a:xfrm>
            <a:off x="457200" y="1609344"/>
            <a:ext cx="1097280" cy="420624"/>
          </a:xfrm>
          <a:prstGeom prst="rect">
            <a:avLst/>
          </a:prstGeom>
          <a:noFill/>
          <a:ln/>
        </p:spPr>
        <p:txBody>
          <a:bodyPr wrap="square"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Goal</a:t>
            </a:r>
            <a:endParaRPr lang="en-US" sz="1000" dirty="0"/>
          </a:p>
        </p:txBody>
      </p:sp>
      <p:sp>
        <p:nvSpPr>
          <p:cNvPr id="10" name="Text 8"/>
          <p:cNvSpPr/>
          <p:nvPr/>
        </p:nvSpPr>
        <p:spPr>
          <a:xfrm>
            <a:off x="1572768" y="1609344"/>
            <a:ext cx="2724912" cy="420624"/>
          </a:xfrm>
          <a:prstGeom prst="rect">
            <a:avLst/>
          </a:prstGeom>
          <a:noFill/>
          <a:ln/>
        </p:spPr>
        <p:txBody>
          <a:bodyPr wrap="square" rtlCol="0" anchor="t"/>
          <a:lstStyle/>
          <a:p>
            <a:pPr marL="0" indent="0">
              <a:buNone/>
            </a:pPr>
            <a:r>
              <a:rPr lang="en-US" sz="1000" dirty="0">
                <a:solidFill>
                  <a:srgbClr val="0A2540"/>
                </a:solidFill>
                <a:latin typeface="Calibri" pitchFamily="34" charset="0"/>
                <a:ea typeface="Calibri" pitchFamily="34" charset="-122"/>
                <a:cs typeface="Calibri" pitchFamily="34" charset="-120"/>
              </a:rPr>
              <a:t>Efficiency &gt; cover all inputs with FEWER tests</a:t>
            </a:r>
            <a:endParaRPr lang="en-US" sz="1000" dirty="0"/>
          </a:p>
        </p:txBody>
      </p:sp>
      <p:sp>
        <p:nvSpPr>
          <p:cNvPr id="11" name="Shape 9"/>
          <p:cNvSpPr/>
          <p:nvPr/>
        </p:nvSpPr>
        <p:spPr>
          <a:xfrm>
            <a:off x="347472" y="2103120"/>
            <a:ext cx="4041648" cy="493776"/>
          </a:xfrm>
          <a:prstGeom prst="rect">
            <a:avLst/>
          </a:prstGeom>
          <a:solidFill>
            <a:srgbClr val="FFFFFF"/>
          </a:solidFill>
          <a:ln/>
        </p:spPr>
        <p:txBody>
          <a:bodyPr/>
          <a:lstStyle/>
          <a:p>
            <a:endParaRPr lang="en-US"/>
          </a:p>
        </p:txBody>
      </p:sp>
      <p:sp>
        <p:nvSpPr>
          <p:cNvPr id="12" name="Text 10"/>
          <p:cNvSpPr/>
          <p:nvPr/>
        </p:nvSpPr>
        <p:spPr>
          <a:xfrm>
            <a:off x="457200" y="2139696"/>
            <a:ext cx="1097280" cy="420624"/>
          </a:xfrm>
          <a:prstGeom prst="rect">
            <a:avLst/>
          </a:prstGeom>
          <a:noFill/>
          <a:ln/>
        </p:spPr>
        <p:txBody>
          <a:bodyPr wrap="square"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How</a:t>
            </a:r>
            <a:endParaRPr lang="en-US" sz="1000" dirty="0"/>
          </a:p>
        </p:txBody>
      </p:sp>
      <p:sp>
        <p:nvSpPr>
          <p:cNvPr id="13" name="Text 11"/>
          <p:cNvSpPr/>
          <p:nvPr/>
        </p:nvSpPr>
        <p:spPr>
          <a:xfrm>
            <a:off x="1572768" y="2139696"/>
            <a:ext cx="2724912" cy="420624"/>
          </a:xfrm>
          <a:prstGeom prst="rect">
            <a:avLst/>
          </a:prstGeom>
          <a:noFill/>
          <a:ln/>
        </p:spPr>
        <p:txBody>
          <a:bodyPr wrap="square" rtlCol="0" anchor="t"/>
          <a:lstStyle/>
          <a:p>
            <a:pPr marL="0" indent="0">
              <a:buNone/>
            </a:pPr>
            <a:r>
              <a:rPr lang="en-US" sz="1000" dirty="0">
                <a:solidFill>
                  <a:srgbClr val="0A2540"/>
                </a:solidFill>
                <a:latin typeface="Calibri" pitchFamily="34" charset="0"/>
                <a:ea typeface="Calibri" pitchFamily="34" charset="-122"/>
                <a:cs typeface="Calibri" pitchFamily="34" charset="-120"/>
              </a:rPr>
              <a:t>Divide inputs into groups (partitions)</a:t>
            </a:r>
            <a:endParaRPr lang="en-US" sz="1000" dirty="0"/>
          </a:p>
          <a:p>
            <a:pPr marL="0" indent="0">
              <a:buNone/>
            </a:pPr>
            <a:r>
              <a:rPr lang="en-US" sz="1000" dirty="0">
                <a:solidFill>
                  <a:srgbClr val="0A2540"/>
                </a:solidFill>
                <a:latin typeface="Calibri" pitchFamily="34" charset="0"/>
                <a:ea typeface="Calibri" pitchFamily="34" charset="-122"/>
                <a:cs typeface="Calibri" pitchFamily="34" charset="-120"/>
              </a:rPr>
              <a:t>where all values behave identically</a:t>
            </a:r>
            <a:endParaRPr lang="en-US" sz="1000" dirty="0"/>
          </a:p>
        </p:txBody>
      </p:sp>
      <p:sp>
        <p:nvSpPr>
          <p:cNvPr id="14" name="Shape 12"/>
          <p:cNvSpPr/>
          <p:nvPr/>
        </p:nvSpPr>
        <p:spPr>
          <a:xfrm>
            <a:off x="347472" y="2633472"/>
            <a:ext cx="4041648" cy="493776"/>
          </a:xfrm>
          <a:prstGeom prst="rect">
            <a:avLst/>
          </a:prstGeom>
          <a:solidFill>
            <a:srgbClr val="EDF2F7"/>
          </a:solidFill>
          <a:ln/>
        </p:spPr>
        <p:txBody>
          <a:bodyPr/>
          <a:lstStyle/>
          <a:p>
            <a:endParaRPr lang="en-US"/>
          </a:p>
        </p:txBody>
      </p:sp>
      <p:sp>
        <p:nvSpPr>
          <p:cNvPr id="15" name="Text 13"/>
          <p:cNvSpPr/>
          <p:nvPr/>
        </p:nvSpPr>
        <p:spPr>
          <a:xfrm>
            <a:off x="457200" y="2670048"/>
            <a:ext cx="1097280" cy="420624"/>
          </a:xfrm>
          <a:prstGeom prst="rect">
            <a:avLst/>
          </a:prstGeom>
          <a:noFill/>
          <a:ln/>
        </p:spPr>
        <p:txBody>
          <a:bodyPr wrap="square"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How many</a:t>
            </a:r>
            <a:endParaRPr lang="en-US" sz="1000" dirty="0"/>
          </a:p>
        </p:txBody>
      </p:sp>
      <p:sp>
        <p:nvSpPr>
          <p:cNvPr id="16" name="Text 14"/>
          <p:cNvSpPr/>
          <p:nvPr/>
        </p:nvSpPr>
        <p:spPr>
          <a:xfrm>
            <a:off x="1572768" y="2670048"/>
            <a:ext cx="2724912" cy="420624"/>
          </a:xfrm>
          <a:prstGeom prst="rect">
            <a:avLst/>
          </a:prstGeom>
          <a:noFill/>
          <a:ln/>
        </p:spPr>
        <p:txBody>
          <a:bodyPr wrap="square" rtlCol="0" anchor="t"/>
          <a:lstStyle/>
          <a:p>
            <a:pPr marL="0" indent="0">
              <a:buNone/>
            </a:pPr>
            <a:r>
              <a:rPr lang="en-US" sz="1000" dirty="0">
                <a:solidFill>
                  <a:srgbClr val="0A2540"/>
                </a:solidFill>
                <a:latin typeface="Calibri" pitchFamily="34" charset="0"/>
                <a:ea typeface="Calibri" pitchFamily="34" charset="-122"/>
                <a:cs typeface="Calibri" pitchFamily="34" charset="-120"/>
              </a:rPr>
              <a:t>One test per partition</a:t>
            </a:r>
            <a:endParaRPr lang="en-US" sz="1000" dirty="0"/>
          </a:p>
        </p:txBody>
      </p:sp>
      <p:sp>
        <p:nvSpPr>
          <p:cNvPr id="17" name="Shape 15"/>
          <p:cNvSpPr/>
          <p:nvPr/>
        </p:nvSpPr>
        <p:spPr>
          <a:xfrm>
            <a:off x="347472" y="3163824"/>
            <a:ext cx="4041648" cy="493776"/>
          </a:xfrm>
          <a:prstGeom prst="rect">
            <a:avLst/>
          </a:prstGeom>
          <a:solidFill>
            <a:srgbClr val="FFFFFF"/>
          </a:solidFill>
          <a:ln/>
        </p:spPr>
        <p:txBody>
          <a:bodyPr/>
          <a:lstStyle/>
          <a:p>
            <a:endParaRPr lang="en-US"/>
          </a:p>
        </p:txBody>
      </p:sp>
      <p:sp>
        <p:nvSpPr>
          <p:cNvPr id="18" name="Text 16"/>
          <p:cNvSpPr/>
          <p:nvPr/>
        </p:nvSpPr>
        <p:spPr>
          <a:xfrm>
            <a:off x="457200" y="3200400"/>
            <a:ext cx="1097280" cy="420624"/>
          </a:xfrm>
          <a:prstGeom prst="rect">
            <a:avLst/>
          </a:prstGeom>
          <a:noFill/>
          <a:ln/>
        </p:spPr>
        <p:txBody>
          <a:bodyPr wrap="square"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Catches</a:t>
            </a:r>
            <a:endParaRPr lang="en-US" sz="1000" dirty="0"/>
          </a:p>
        </p:txBody>
      </p:sp>
      <p:sp>
        <p:nvSpPr>
          <p:cNvPr id="19" name="Text 17"/>
          <p:cNvSpPr/>
          <p:nvPr/>
        </p:nvSpPr>
        <p:spPr>
          <a:xfrm>
            <a:off x="1572768" y="3200400"/>
            <a:ext cx="2724912" cy="420624"/>
          </a:xfrm>
          <a:prstGeom prst="rect">
            <a:avLst/>
          </a:prstGeom>
          <a:noFill/>
          <a:ln/>
        </p:spPr>
        <p:txBody>
          <a:bodyPr wrap="square" rtlCol="0" anchor="t"/>
          <a:lstStyle/>
          <a:p>
            <a:pPr marL="0" indent="0">
              <a:buNone/>
            </a:pPr>
            <a:r>
              <a:rPr lang="en-US" sz="1000" dirty="0">
                <a:solidFill>
                  <a:srgbClr val="0A2540"/>
                </a:solidFill>
                <a:latin typeface="Calibri" pitchFamily="34" charset="0"/>
                <a:ea typeface="Calibri" pitchFamily="34" charset="-122"/>
                <a:cs typeface="Calibri" pitchFamily="34" charset="-120"/>
              </a:rPr>
              <a:t>Wrong logic applied to whole groups</a:t>
            </a:r>
            <a:endParaRPr lang="en-US" sz="1000" dirty="0"/>
          </a:p>
          <a:p>
            <a:pPr marL="0" indent="0">
              <a:buNone/>
            </a:pPr>
            <a:r>
              <a:rPr lang="en-US" sz="1000" dirty="0">
                <a:solidFill>
                  <a:srgbClr val="0A2540"/>
                </a:solidFill>
                <a:latin typeface="Calibri" pitchFamily="34" charset="0"/>
                <a:ea typeface="Calibri" pitchFamily="34" charset="-122"/>
                <a:cs typeface="Calibri" pitchFamily="34" charset="-120"/>
              </a:rPr>
              <a:t>eg: adult rate applied to elderly</a:t>
            </a:r>
            <a:endParaRPr lang="en-US" sz="1000" dirty="0"/>
          </a:p>
        </p:txBody>
      </p:sp>
      <p:sp>
        <p:nvSpPr>
          <p:cNvPr id="20" name="Shape 18"/>
          <p:cNvSpPr/>
          <p:nvPr/>
        </p:nvSpPr>
        <p:spPr>
          <a:xfrm>
            <a:off x="347472" y="3694176"/>
            <a:ext cx="4041648" cy="493776"/>
          </a:xfrm>
          <a:prstGeom prst="rect">
            <a:avLst/>
          </a:prstGeom>
          <a:solidFill>
            <a:srgbClr val="EDF2F7"/>
          </a:solidFill>
          <a:ln/>
        </p:spPr>
        <p:txBody>
          <a:bodyPr/>
          <a:lstStyle/>
          <a:p>
            <a:endParaRPr lang="en-US"/>
          </a:p>
        </p:txBody>
      </p:sp>
      <p:sp>
        <p:nvSpPr>
          <p:cNvPr id="21" name="Text 19"/>
          <p:cNvSpPr/>
          <p:nvPr/>
        </p:nvSpPr>
        <p:spPr>
          <a:xfrm>
            <a:off x="457200" y="3730752"/>
            <a:ext cx="1097280" cy="420624"/>
          </a:xfrm>
          <a:prstGeom prst="rect">
            <a:avLst/>
          </a:prstGeom>
          <a:noFill/>
          <a:ln/>
        </p:spPr>
        <p:txBody>
          <a:bodyPr wrap="square"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Example</a:t>
            </a:r>
            <a:endParaRPr lang="en-US" sz="1000" dirty="0"/>
          </a:p>
        </p:txBody>
      </p:sp>
      <p:sp>
        <p:nvSpPr>
          <p:cNvPr id="22" name="Text 20"/>
          <p:cNvSpPr/>
          <p:nvPr/>
        </p:nvSpPr>
        <p:spPr>
          <a:xfrm>
            <a:off x="1572768" y="3730752"/>
            <a:ext cx="2724912" cy="420624"/>
          </a:xfrm>
          <a:prstGeom prst="rect">
            <a:avLst/>
          </a:prstGeom>
          <a:noFill/>
          <a:ln/>
        </p:spPr>
        <p:txBody>
          <a:bodyPr wrap="square" rtlCol="0" anchor="t"/>
          <a:lstStyle/>
          <a:p>
            <a:pPr marL="0" indent="0">
              <a:buNone/>
            </a:pPr>
            <a:r>
              <a:rPr lang="en-US" sz="1000" dirty="0">
                <a:solidFill>
                  <a:srgbClr val="0A2540"/>
                </a:solidFill>
                <a:latin typeface="Calibri" pitchFamily="34" charset="0"/>
                <a:ea typeface="Calibri" pitchFamily="34" charset="-122"/>
                <a:cs typeface="Calibri" pitchFamily="34" charset="-120"/>
              </a:rPr>
              <a:t>Age 18–64 = adult group</a:t>
            </a:r>
            <a:endParaRPr lang="en-US" sz="1000" dirty="0"/>
          </a:p>
          <a:p>
            <a:pPr marL="0" indent="0">
              <a:buNone/>
            </a:pPr>
            <a:r>
              <a:rPr lang="en-US" sz="1000" dirty="0">
                <a:solidFill>
                  <a:srgbClr val="0A2540"/>
                </a:solidFill>
                <a:latin typeface="Calibri" pitchFamily="34" charset="0"/>
                <a:ea typeface="Calibri" pitchFamily="34" charset="-122"/>
                <a:cs typeface="Calibri" pitchFamily="34" charset="-120"/>
              </a:rPr>
              <a:t>Test age 30 → covers all 47 adult ages</a:t>
            </a:r>
            <a:endParaRPr lang="en-US" sz="1000" dirty="0"/>
          </a:p>
        </p:txBody>
      </p:sp>
      <p:sp>
        <p:nvSpPr>
          <p:cNvPr id="23" name="Shape 21"/>
          <p:cNvSpPr/>
          <p:nvPr/>
        </p:nvSpPr>
        <p:spPr>
          <a:xfrm>
            <a:off x="347472" y="4224528"/>
            <a:ext cx="4041648" cy="493776"/>
          </a:xfrm>
          <a:prstGeom prst="rect">
            <a:avLst/>
          </a:prstGeom>
          <a:solidFill>
            <a:srgbClr val="FFFFFF"/>
          </a:solidFill>
          <a:ln/>
        </p:spPr>
        <p:txBody>
          <a:bodyPr/>
          <a:lstStyle/>
          <a:p>
            <a:endParaRPr lang="en-US"/>
          </a:p>
        </p:txBody>
      </p:sp>
      <p:sp>
        <p:nvSpPr>
          <p:cNvPr id="24" name="Text 22"/>
          <p:cNvSpPr/>
          <p:nvPr/>
        </p:nvSpPr>
        <p:spPr>
          <a:xfrm>
            <a:off x="457200" y="4261104"/>
            <a:ext cx="1097280" cy="420624"/>
          </a:xfrm>
          <a:prstGeom prst="rect">
            <a:avLst/>
          </a:prstGeom>
          <a:noFill/>
          <a:ln/>
        </p:spPr>
        <p:txBody>
          <a:bodyPr wrap="square"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Test count</a:t>
            </a:r>
            <a:endParaRPr lang="en-US" sz="1000" dirty="0"/>
          </a:p>
        </p:txBody>
      </p:sp>
      <p:sp>
        <p:nvSpPr>
          <p:cNvPr id="25" name="Text 23"/>
          <p:cNvSpPr/>
          <p:nvPr/>
        </p:nvSpPr>
        <p:spPr>
          <a:xfrm>
            <a:off x="1572768" y="4261104"/>
            <a:ext cx="2724912" cy="420624"/>
          </a:xfrm>
          <a:prstGeom prst="rect">
            <a:avLst/>
          </a:prstGeom>
          <a:noFill/>
          <a:ln/>
        </p:spPr>
        <p:txBody>
          <a:bodyPr wrap="square" rtlCol="0" anchor="t"/>
          <a:lstStyle/>
          <a:p>
            <a:pPr marL="0" indent="0">
              <a:buNone/>
            </a:pPr>
            <a:r>
              <a:rPr lang="en-US" sz="1000" dirty="0">
                <a:solidFill>
                  <a:srgbClr val="0A2540"/>
                </a:solidFill>
                <a:latin typeface="Calibri" pitchFamily="34" charset="0"/>
                <a:ea typeface="Calibri" pitchFamily="34" charset="-122"/>
                <a:cs typeface="Calibri" pitchFamily="34" charset="-120"/>
              </a:rPr>
              <a:t>5 partitions for calculateDosage(age)</a:t>
            </a:r>
            <a:endParaRPr lang="en-US" sz="1000" dirty="0"/>
          </a:p>
          <a:p>
            <a:pPr marL="0" indent="0">
              <a:buNone/>
            </a:pPr>
            <a:r>
              <a:rPr lang="en-US" sz="1000" dirty="0">
                <a:solidFill>
                  <a:srgbClr val="0A2540"/>
                </a:solidFill>
                <a:latin typeface="Calibri" pitchFamily="34" charset="0"/>
                <a:ea typeface="Calibri" pitchFamily="34" charset="-122"/>
                <a:cs typeface="Calibri" pitchFamily="34" charset="-120"/>
              </a:rPr>
              <a:t>= just 5 tests cover ALL possible ages</a:t>
            </a:r>
            <a:endParaRPr lang="en-US" sz="1000" dirty="0"/>
          </a:p>
        </p:txBody>
      </p:sp>
      <p:sp>
        <p:nvSpPr>
          <p:cNvPr id="26" name="Shape 24"/>
          <p:cNvSpPr/>
          <p:nvPr/>
        </p:nvSpPr>
        <p:spPr>
          <a:xfrm>
            <a:off x="4754880" y="1115568"/>
            <a:ext cx="4041648" cy="373075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7" name="Shape 25"/>
          <p:cNvSpPr/>
          <p:nvPr/>
        </p:nvSpPr>
        <p:spPr>
          <a:xfrm>
            <a:off x="4754880" y="1115568"/>
            <a:ext cx="4041648" cy="384048"/>
          </a:xfrm>
          <a:prstGeom prst="rect">
            <a:avLst/>
          </a:prstGeom>
          <a:solidFill>
            <a:srgbClr val="028090"/>
          </a:solidFill>
          <a:ln/>
        </p:spPr>
        <p:txBody>
          <a:bodyPr/>
          <a:lstStyle/>
          <a:p>
            <a:endParaRPr lang="en-US"/>
          </a:p>
        </p:txBody>
      </p:sp>
      <p:sp>
        <p:nvSpPr>
          <p:cNvPr id="28" name="Text 26"/>
          <p:cNvSpPr/>
          <p:nvPr/>
        </p:nvSpPr>
        <p:spPr>
          <a:xfrm>
            <a:off x="4864608" y="1115568"/>
            <a:ext cx="3840480" cy="384048"/>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BVA  —  Boundary Value Analysis</a:t>
            </a:r>
            <a:endParaRPr lang="en-US" sz="1300" dirty="0"/>
          </a:p>
        </p:txBody>
      </p:sp>
      <p:sp>
        <p:nvSpPr>
          <p:cNvPr id="29" name="Shape 27"/>
          <p:cNvSpPr/>
          <p:nvPr/>
        </p:nvSpPr>
        <p:spPr>
          <a:xfrm>
            <a:off x="4754880" y="1572768"/>
            <a:ext cx="4041648" cy="493776"/>
          </a:xfrm>
          <a:prstGeom prst="rect">
            <a:avLst/>
          </a:prstGeom>
          <a:solidFill>
            <a:srgbClr val="E1F5EE"/>
          </a:solidFill>
          <a:ln/>
        </p:spPr>
        <p:txBody>
          <a:bodyPr/>
          <a:lstStyle/>
          <a:p>
            <a:endParaRPr lang="en-US"/>
          </a:p>
        </p:txBody>
      </p:sp>
      <p:sp>
        <p:nvSpPr>
          <p:cNvPr id="30" name="Text 28"/>
          <p:cNvSpPr/>
          <p:nvPr/>
        </p:nvSpPr>
        <p:spPr>
          <a:xfrm>
            <a:off x="4864608" y="1609344"/>
            <a:ext cx="1097280" cy="420624"/>
          </a:xfrm>
          <a:prstGeom prst="rect">
            <a:avLst/>
          </a:prstGeom>
          <a:noFill/>
          <a:ln/>
        </p:spPr>
        <p:txBody>
          <a:bodyPr wrap="square"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Goal</a:t>
            </a:r>
            <a:endParaRPr lang="en-US" sz="1000" dirty="0"/>
          </a:p>
        </p:txBody>
      </p:sp>
      <p:sp>
        <p:nvSpPr>
          <p:cNvPr id="31" name="Text 29"/>
          <p:cNvSpPr/>
          <p:nvPr/>
        </p:nvSpPr>
        <p:spPr>
          <a:xfrm>
            <a:off x="5980176" y="1609344"/>
            <a:ext cx="2724912" cy="420624"/>
          </a:xfrm>
          <a:prstGeom prst="rect">
            <a:avLst/>
          </a:prstGeom>
          <a:noFill/>
          <a:ln/>
        </p:spPr>
        <p:txBody>
          <a:bodyPr wrap="square" rtlCol="0" anchor="t"/>
          <a:lstStyle/>
          <a:p>
            <a:pPr marL="0" indent="0">
              <a:buNone/>
            </a:pPr>
            <a:r>
              <a:rPr lang="en-US" sz="1000" dirty="0">
                <a:solidFill>
                  <a:srgbClr val="0A2540"/>
                </a:solidFill>
                <a:latin typeface="Calibri" pitchFamily="34" charset="0"/>
                <a:ea typeface="Calibri" pitchFamily="34" charset="-122"/>
                <a:cs typeface="Calibri" pitchFamily="34" charset="-120"/>
              </a:rPr>
              <a:t>Precision &gt; catch bugs that hide at EDGES of ranges</a:t>
            </a:r>
            <a:endParaRPr lang="en-US" sz="1000" dirty="0"/>
          </a:p>
        </p:txBody>
      </p:sp>
      <p:sp>
        <p:nvSpPr>
          <p:cNvPr id="32" name="Shape 30"/>
          <p:cNvSpPr/>
          <p:nvPr/>
        </p:nvSpPr>
        <p:spPr>
          <a:xfrm>
            <a:off x="4754880" y="2103120"/>
            <a:ext cx="4041648" cy="493776"/>
          </a:xfrm>
          <a:prstGeom prst="rect">
            <a:avLst/>
          </a:prstGeom>
          <a:solidFill>
            <a:srgbClr val="FFFFFF"/>
          </a:solidFill>
          <a:ln/>
        </p:spPr>
        <p:txBody>
          <a:bodyPr/>
          <a:lstStyle/>
          <a:p>
            <a:endParaRPr lang="en-US"/>
          </a:p>
        </p:txBody>
      </p:sp>
      <p:sp>
        <p:nvSpPr>
          <p:cNvPr id="33" name="Text 31"/>
          <p:cNvSpPr/>
          <p:nvPr/>
        </p:nvSpPr>
        <p:spPr>
          <a:xfrm>
            <a:off x="4864608" y="2139696"/>
            <a:ext cx="1097280" cy="420624"/>
          </a:xfrm>
          <a:prstGeom prst="rect">
            <a:avLst/>
          </a:prstGeom>
          <a:noFill/>
          <a:ln/>
        </p:spPr>
        <p:txBody>
          <a:bodyPr wrap="square"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How</a:t>
            </a:r>
            <a:endParaRPr lang="en-US" sz="1000" dirty="0"/>
          </a:p>
        </p:txBody>
      </p:sp>
      <p:sp>
        <p:nvSpPr>
          <p:cNvPr id="34" name="Text 32"/>
          <p:cNvSpPr/>
          <p:nvPr/>
        </p:nvSpPr>
        <p:spPr>
          <a:xfrm>
            <a:off x="5980176" y="2139696"/>
            <a:ext cx="2724912" cy="420624"/>
          </a:xfrm>
          <a:prstGeom prst="rect">
            <a:avLst/>
          </a:prstGeom>
          <a:noFill/>
          <a:ln/>
        </p:spPr>
        <p:txBody>
          <a:bodyPr wrap="square" rtlCol="0" anchor="t"/>
          <a:lstStyle/>
          <a:p>
            <a:pPr marL="0" indent="0">
              <a:buNone/>
            </a:pPr>
            <a:r>
              <a:rPr lang="en-US" sz="1000" dirty="0">
                <a:solidFill>
                  <a:srgbClr val="0A2540"/>
                </a:solidFill>
                <a:latin typeface="Calibri" pitchFamily="34" charset="0"/>
                <a:ea typeface="Calibri" pitchFamily="34" charset="-122"/>
                <a:cs typeface="Calibri" pitchFamily="34" charset="-120"/>
              </a:rPr>
              <a:t>Test just below, at, and just above</a:t>
            </a:r>
            <a:endParaRPr lang="en-US" sz="1000" dirty="0"/>
          </a:p>
          <a:p>
            <a:pPr marL="0" indent="0">
              <a:buNone/>
            </a:pPr>
            <a:r>
              <a:rPr lang="en-US" sz="1000" dirty="0">
                <a:solidFill>
                  <a:srgbClr val="0A2540"/>
                </a:solidFill>
                <a:latin typeface="Calibri" pitchFamily="34" charset="0"/>
                <a:ea typeface="Calibri" pitchFamily="34" charset="-122"/>
                <a:cs typeface="Calibri" pitchFamily="34" charset="-120"/>
              </a:rPr>
              <a:t>every boundary between partitions</a:t>
            </a:r>
            <a:endParaRPr lang="en-US" sz="1000" dirty="0"/>
          </a:p>
        </p:txBody>
      </p:sp>
      <p:sp>
        <p:nvSpPr>
          <p:cNvPr id="35" name="Shape 33"/>
          <p:cNvSpPr/>
          <p:nvPr/>
        </p:nvSpPr>
        <p:spPr>
          <a:xfrm>
            <a:off x="4754880" y="2633472"/>
            <a:ext cx="4041648" cy="493776"/>
          </a:xfrm>
          <a:prstGeom prst="rect">
            <a:avLst/>
          </a:prstGeom>
          <a:solidFill>
            <a:srgbClr val="E1F5EE"/>
          </a:solidFill>
          <a:ln/>
        </p:spPr>
        <p:txBody>
          <a:bodyPr/>
          <a:lstStyle/>
          <a:p>
            <a:endParaRPr lang="en-US"/>
          </a:p>
        </p:txBody>
      </p:sp>
      <p:sp>
        <p:nvSpPr>
          <p:cNvPr id="36" name="Text 34"/>
          <p:cNvSpPr/>
          <p:nvPr/>
        </p:nvSpPr>
        <p:spPr>
          <a:xfrm>
            <a:off x="4864608" y="2670048"/>
            <a:ext cx="1097280" cy="420624"/>
          </a:xfrm>
          <a:prstGeom prst="rect">
            <a:avLst/>
          </a:prstGeom>
          <a:noFill/>
          <a:ln/>
        </p:spPr>
        <p:txBody>
          <a:bodyPr wrap="square"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How many</a:t>
            </a:r>
            <a:endParaRPr lang="en-US" sz="1000" dirty="0"/>
          </a:p>
        </p:txBody>
      </p:sp>
      <p:sp>
        <p:nvSpPr>
          <p:cNvPr id="37" name="Text 35"/>
          <p:cNvSpPr/>
          <p:nvPr/>
        </p:nvSpPr>
        <p:spPr>
          <a:xfrm>
            <a:off x="5980176" y="2670048"/>
            <a:ext cx="2724912" cy="420624"/>
          </a:xfrm>
          <a:prstGeom prst="rect">
            <a:avLst/>
          </a:prstGeom>
          <a:noFill/>
          <a:ln/>
        </p:spPr>
        <p:txBody>
          <a:bodyPr wrap="square" rtlCol="0" anchor="t"/>
          <a:lstStyle/>
          <a:p>
            <a:pPr marL="0" indent="0">
              <a:buNone/>
            </a:pPr>
            <a:r>
              <a:rPr lang="en-US" sz="1000" dirty="0">
                <a:solidFill>
                  <a:srgbClr val="0A2540"/>
                </a:solidFill>
                <a:latin typeface="Calibri" pitchFamily="34" charset="0"/>
                <a:ea typeface="Calibri" pitchFamily="34" charset="-122"/>
                <a:cs typeface="Calibri" pitchFamily="34" charset="-120"/>
              </a:rPr>
              <a:t>2–3 tests per boundary</a:t>
            </a:r>
            <a:endParaRPr lang="en-US" sz="1000" dirty="0"/>
          </a:p>
        </p:txBody>
      </p:sp>
      <p:sp>
        <p:nvSpPr>
          <p:cNvPr id="38" name="Shape 36"/>
          <p:cNvSpPr/>
          <p:nvPr/>
        </p:nvSpPr>
        <p:spPr>
          <a:xfrm>
            <a:off x="4754880" y="3163824"/>
            <a:ext cx="4041648" cy="493776"/>
          </a:xfrm>
          <a:prstGeom prst="rect">
            <a:avLst/>
          </a:prstGeom>
          <a:solidFill>
            <a:srgbClr val="FFFFFF"/>
          </a:solidFill>
          <a:ln/>
        </p:spPr>
        <p:txBody>
          <a:bodyPr/>
          <a:lstStyle/>
          <a:p>
            <a:endParaRPr lang="en-US"/>
          </a:p>
        </p:txBody>
      </p:sp>
      <p:sp>
        <p:nvSpPr>
          <p:cNvPr id="39" name="Text 37"/>
          <p:cNvSpPr/>
          <p:nvPr/>
        </p:nvSpPr>
        <p:spPr>
          <a:xfrm>
            <a:off x="4864608" y="3200400"/>
            <a:ext cx="1097280" cy="420624"/>
          </a:xfrm>
          <a:prstGeom prst="rect">
            <a:avLst/>
          </a:prstGeom>
          <a:noFill/>
          <a:ln/>
        </p:spPr>
        <p:txBody>
          <a:bodyPr wrap="square"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Catches</a:t>
            </a:r>
            <a:endParaRPr lang="en-US" sz="1000" dirty="0"/>
          </a:p>
        </p:txBody>
      </p:sp>
      <p:sp>
        <p:nvSpPr>
          <p:cNvPr id="40" name="Text 38"/>
          <p:cNvSpPr/>
          <p:nvPr/>
        </p:nvSpPr>
        <p:spPr>
          <a:xfrm>
            <a:off x="5980176" y="3200400"/>
            <a:ext cx="2724912" cy="420624"/>
          </a:xfrm>
          <a:prstGeom prst="rect">
            <a:avLst/>
          </a:prstGeom>
          <a:noFill/>
          <a:ln/>
        </p:spPr>
        <p:txBody>
          <a:bodyPr wrap="square" rtlCol="0" anchor="t"/>
          <a:lstStyle/>
          <a:p>
            <a:pPr marL="0" indent="0">
              <a:buNone/>
            </a:pPr>
            <a:r>
              <a:rPr lang="en-US" sz="1000" dirty="0">
                <a:solidFill>
                  <a:srgbClr val="0A2540"/>
                </a:solidFill>
                <a:latin typeface="Calibri" pitchFamily="34" charset="0"/>
                <a:ea typeface="Calibri" pitchFamily="34" charset="-122"/>
                <a:cs typeface="Calibri" pitchFamily="34" charset="-120"/>
              </a:rPr>
              <a:t>Off-by-one errors in conditions</a:t>
            </a:r>
            <a:endParaRPr lang="en-US" sz="1000" dirty="0"/>
          </a:p>
          <a:p>
            <a:pPr marL="0" indent="0">
              <a:buNone/>
            </a:pPr>
            <a:r>
              <a:rPr lang="en-US" sz="1000" dirty="0">
                <a:solidFill>
                  <a:srgbClr val="0A2540"/>
                </a:solidFill>
                <a:latin typeface="Calibri" pitchFamily="34" charset="0"/>
                <a:ea typeface="Calibri" pitchFamily="34" charset="-122"/>
                <a:cs typeface="Calibri" pitchFamily="34" charset="-120"/>
              </a:rPr>
              <a:t>eg: &gt; vs &gt;= at the boundary value</a:t>
            </a:r>
            <a:endParaRPr lang="en-US" sz="1000" dirty="0"/>
          </a:p>
        </p:txBody>
      </p:sp>
      <p:sp>
        <p:nvSpPr>
          <p:cNvPr id="41" name="Shape 39"/>
          <p:cNvSpPr/>
          <p:nvPr/>
        </p:nvSpPr>
        <p:spPr>
          <a:xfrm>
            <a:off x="4754880" y="3694176"/>
            <a:ext cx="4041648" cy="493776"/>
          </a:xfrm>
          <a:prstGeom prst="rect">
            <a:avLst/>
          </a:prstGeom>
          <a:solidFill>
            <a:srgbClr val="E1F5EE"/>
          </a:solidFill>
          <a:ln/>
        </p:spPr>
        <p:txBody>
          <a:bodyPr/>
          <a:lstStyle/>
          <a:p>
            <a:endParaRPr lang="en-US"/>
          </a:p>
        </p:txBody>
      </p:sp>
      <p:sp>
        <p:nvSpPr>
          <p:cNvPr id="42" name="Text 40"/>
          <p:cNvSpPr/>
          <p:nvPr/>
        </p:nvSpPr>
        <p:spPr>
          <a:xfrm>
            <a:off x="4864608" y="3730752"/>
            <a:ext cx="1097280" cy="420624"/>
          </a:xfrm>
          <a:prstGeom prst="rect">
            <a:avLst/>
          </a:prstGeom>
          <a:noFill/>
          <a:ln/>
        </p:spPr>
        <p:txBody>
          <a:bodyPr wrap="square"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Example</a:t>
            </a:r>
            <a:endParaRPr lang="en-US" sz="1000" dirty="0"/>
          </a:p>
        </p:txBody>
      </p:sp>
      <p:sp>
        <p:nvSpPr>
          <p:cNvPr id="43" name="Text 41"/>
          <p:cNvSpPr/>
          <p:nvPr/>
        </p:nvSpPr>
        <p:spPr>
          <a:xfrm>
            <a:off x="5980176" y="3730752"/>
            <a:ext cx="2724912" cy="420624"/>
          </a:xfrm>
          <a:prstGeom prst="rect">
            <a:avLst/>
          </a:prstGeom>
          <a:noFill/>
          <a:ln/>
        </p:spPr>
        <p:txBody>
          <a:bodyPr wrap="square" rtlCol="0" anchor="t"/>
          <a:lstStyle/>
          <a:p>
            <a:pPr marL="0" indent="0">
              <a:buNone/>
            </a:pPr>
            <a:r>
              <a:rPr lang="en-US" sz="1000" dirty="0">
                <a:solidFill>
                  <a:srgbClr val="0A2540"/>
                </a:solidFill>
                <a:latin typeface="Calibri" pitchFamily="34" charset="0"/>
                <a:ea typeface="Calibri" pitchFamily="34" charset="-122"/>
                <a:cs typeface="Calibri" pitchFamily="34" charset="-120"/>
              </a:rPr>
              <a:t>Boundary at age 18:</a:t>
            </a:r>
            <a:endParaRPr lang="en-US" sz="1000" dirty="0"/>
          </a:p>
          <a:p>
            <a:pPr marL="0" indent="0">
              <a:buNone/>
            </a:pPr>
            <a:r>
              <a:rPr lang="en-US" sz="1000" dirty="0">
                <a:solidFill>
                  <a:srgbClr val="0A2540"/>
                </a:solidFill>
                <a:latin typeface="Calibri" pitchFamily="34" charset="0"/>
                <a:ea typeface="Calibri" pitchFamily="34" charset="-122"/>
                <a:cs typeface="Calibri" pitchFamily="34" charset="-120"/>
              </a:rPr>
              <a:t>Test 17 (pediatric) AND 18 (adult)</a:t>
            </a:r>
            <a:endParaRPr lang="en-US" sz="1000" dirty="0"/>
          </a:p>
        </p:txBody>
      </p:sp>
      <p:sp>
        <p:nvSpPr>
          <p:cNvPr id="44" name="Shape 42"/>
          <p:cNvSpPr/>
          <p:nvPr/>
        </p:nvSpPr>
        <p:spPr>
          <a:xfrm>
            <a:off x="4754880" y="4224528"/>
            <a:ext cx="4041648" cy="493776"/>
          </a:xfrm>
          <a:prstGeom prst="rect">
            <a:avLst/>
          </a:prstGeom>
          <a:solidFill>
            <a:srgbClr val="FFFFFF"/>
          </a:solidFill>
          <a:ln/>
        </p:spPr>
        <p:txBody>
          <a:bodyPr/>
          <a:lstStyle/>
          <a:p>
            <a:endParaRPr lang="en-US"/>
          </a:p>
        </p:txBody>
      </p:sp>
      <p:sp>
        <p:nvSpPr>
          <p:cNvPr id="45" name="Text 43"/>
          <p:cNvSpPr/>
          <p:nvPr/>
        </p:nvSpPr>
        <p:spPr>
          <a:xfrm>
            <a:off x="4864608" y="4261104"/>
            <a:ext cx="1097280" cy="420624"/>
          </a:xfrm>
          <a:prstGeom prst="rect">
            <a:avLst/>
          </a:prstGeom>
          <a:noFill/>
          <a:ln/>
        </p:spPr>
        <p:txBody>
          <a:bodyPr wrap="square" rtlCol="0" anchor="t"/>
          <a:lstStyle/>
          <a:p>
            <a:pPr marL="0" indent="0">
              <a:buNone/>
            </a:pPr>
            <a:r>
              <a:rPr lang="en-US" sz="1000" b="1" dirty="0">
                <a:solidFill>
                  <a:srgbClr val="64748B"/>
                </a:solidFill>
                <a:latin typeface="Calibri" pitchFamily="34" charset="0"/>
                <a:ea typeface="Calibri" pitchFamily="34" charset="-122"/>
                <a:cs typeface="Calibri" pitchFamily="34" charset="-120"/>
              </a:rPr>
              <a:t>Test count</a:t>
            </a:r>
            <a:endParaRPr lang="en-US" sz="1000" dirty="0"/>
          </a:p>
        </p:txBody>
      </p:sp>
      <p:sp>
        <p:nvSpPr>
          <p:cNvPr id="46" name="Text 44"/>
          <p:cNvSpPr/>
          <p:nvPr/>
        </p:nvSpPr>
        <p:spPr>
          <a:xfrm>
            <a:off x="5980176" y="4261104"/>
            <a:ext cx="2724912" cy="420624"/>
          </a:xfrm>
          <a:prstGeom prst="rect">
            <a:avLst/>
          </a:prstGeom>
          <a:noFill/>
          <a:ln/>
        </p:spPr>
        <p:txBody>
          <a:bodyPr wrap="square" rtlCol="0" anchor="t"/>
          <a:lstStyle/>
          <a:p>
            <a:pPr marL="0" indent="0">
              <a:buNone/>
            </a:pPr>
            <a:r>
              <a:rPr lang="en-US" sz="1000" dirty="0">
                <a:solidFill>
                  <a:srgbClr val="0A2540"/>
                </a:solidFill>
                <a:latin typeface="Calibri" pitchFamily="34" charset="0"/>
                <a:ea typeface="Calibri" pitchFamily="34" charset="-122"/>
                <a:cs typeface="Calibri" pitchFamily="34" charset="-120"/>
              </a:rPr>
              <a:t>8 boundary tests for calculateDosage(age)</a:t>
            </a:r>
            <a:endParaRPr lang="en-US" sz="1000" dirty="0"/>
          </a:p>
          <a:p>
            <a:pPr marL="0" indent="0">
              <a:buNone/>
            </a:pPr>
            <a:r>
              <a:rPr lang="en-US" sz="1000" dirty="0">
                <a:solidFill>
                  <a:srgbClr val="0A2540"/>
                </a:solidFill>
                <a:latin typeface="Calibri" pitchFamily="34" charset="0"/>
                <a:ea typeface="Calibri" pitchFamily="34" charset="-122"/>
                <a:cs typeface="Calibri" pitchFamily="34" charset="-120"/>
              </a:rPr>
              <a:t>(min, max + both sides of each boundary)</a:t>
            </a:r>
            <a:endParaRPr lang="en-US" sz="1000" dirty="0"/>
          </a:p>
        </p:txBody>
      </p:sp>
      <p:sp>
        <p:nvSpPr>
          <p:cNvPr id="47" name="Shape 45"/>
          <p:cNvSpPr/>
          <p:nvPr/>
        </p:nvSpPr>
        <p:spPr>
          <a:xfrm>
            <a:off x="347472" y="4846320"/>
            <a:ext cx="8449056" cy="256032"/>
          </a:xfrm>
          <a:prstGeom prst="rect">
            <a:avLst/>
          </a:prstGeom>
          <a:solidFill>
            <a:srgbClr val="0D2137"/>
          </a:solidFill>
          <a:ln/>
        </p:spPr>
        <p:txBody>
          <a:bodyPr/>
          <a:lstStyle/>
          <a:p>
            <a:endParaRPr lang="en-US"/>
          </a:p>
        </p:txBody>
      </p:sp>
      <p:sp>
        <p:nvSpPr>
          <p:cNvPr id="48" name="Text 46"/>
          <p:cNvSpPr/>
          <p:nvPr/>
        </p:nvSpPr>
        <p:spPr>
          <a:xfrm>
            <a:off x="457200" y="4846320"/>
            <a:ext cx="8321040" cy="256032"/>
          </a:xfrm>
          <a:prstGeom prst="rect">
            <a:avLst/>
          </a:prstGeom>
          <a:noFill/>
          <a:ln/>
        </p:spPr>
        <p:txBody>
          <a:bodyPr wrap="square" rtlCol="0" anchor="ctr"/>
          <a:lstStyle/>
          <a:p>
            <a:pPr marL="0" indent="0">
              <a:buNone/>
            </a:pPr>
            <a:r>
              <a:rPr lang="en-US" sz="900" b="1" dirty="0">
                <a:solidFill>
                  <a:srgbClr val="02C39A"/>
                </a:solidFill>
                <a:latin typeface="Calibri" pitchFamily="34" charset="0"/>
                <a:ea typeface="Calibri" pitchFamily="34" charset="-122"/>
                <a:cs typeface="Calibri" pitchFamily="34" charset="-120"/>
              </a:rPr>
              <a:t>Used together:  </a:t>
            </a:r>
            <a:r>
              <a:rPr lang="en-US" sz="900" dirty="0">
                <a:solidFill>
                  <a:srgbClr val="FFFFFF"/>
                </a:solidFill>
                <a:latin typeface="Calibri" pitchFamily="34" charset="0"/>
                <a:ea typeface="Calibri" pitchFamily="34" charset="-122"/>
                <a:cs typeface="Calibri" pitchFamily="34" charset="-120"/>
              </a:rPr>
              <a:t>EPC gives you </a:t>
            </a:r>
            <a:r>
              <a:rPr lang="en-US" sz="900" b="1" dirty="0">
                <a:solidFill>
                  <a:srgbClr val="1565C0"/>
                </a:solidFill>
                <a:latin typeface="Calibri" pitchFamily="34" charset="0"/>
                <a:ea typeface="Calibri" pitchFamily="34" charset="-122"/>
                <a:cs typeface="Calibri" pitchFamily="34" charset="-120"/>
              </a:rPr>
              <a:t>5 tests </a:t>
            </a:r>
            <a:r>
              <a:rPr lang="en-US" sz="900" dirty="0">
                <a:solidFill>
                  <a:srgbClr val="FFFFFF"/>
                </a:solidFill>
                <a:latin typeface="Calibri" pitchFamily="34" charset="0"/>
                <a:ea typeface="Calibri" pitchFamily="34" charset="-122"/>
                <a:cs typeface="Calibri" pitchFamily="34" charset="-120"/>
              </a:rPr>
              <a:t>covering all age groups. BVA adds </a:t>
            </a:r>
            <a:r>
              <a:rPr lang="en-US" sz="900" b="1" dirty="0">
                <a:solidFill>
                  <a:srgbClr val="028090"/>
                </a:solidFill>
                <a:latin typeface="Calibri" pitchFamily="34" charset="0"/>
                <a:ea typeface="Calibri" pitchFamily="34" charset="-122"/>
                <a:cs typeface="Calibri" pitchFamily="34" charset="-120"/>
              </a:rPr>
              <a:t>8 more tests </a:t>
            </a:r>
            <a:r>
              <a:rPr lang="en-US" sz="900" dirty="0">
                <a:solidFill>
                  <a:srgbClr val="FFFFFF"/>
                </a:solidFill>
                <a:latin typeface="Calibri" pitchFamily="34" charset="0"/>
                <a:ea typeface="Calibri" pitchFamily="34" charset="-122"/>
                <a:cs typeface="Calibri" pitchFamily="34" charset="-120"/>
              </a:rPr>
              <a:t>at every boundary. Together = </a:t>
            </a:r>
            <a:r>
              <a:rPr lang="en-US" sz="900" b="1" dirty="0">
                <a:solidFill>
                  <a:srgbClr val="02C39A"/>
                </a:solidFill>
                <a:latin typeface="Calibri" pitchFamily="34" charset="0"/>
                <a:ea typeface="Calibri" pitchFamily="34" charset="-122"/>
                <a:cs typeface="Calibri" pitchFamily="34" charset="-120"/>
              </a:rPr>
              <a:t>13 tests </a:t>
            </a:r>
            <a:r>
              <a:rPr lang="en-US" sz="900" dirty="0">
                <a:solidFill>
                  <a:srgbClr val="CBD5E1"/>
                </a:solidFill>
                <a:latin typeface="Calibri" pitchFamily="34" charset="0"/>
                <a:ea typeface="Calibri" pitchFamily="34" charset="-122"/>
                <a:cs typeface="Calibri" pitchFamily="34" charset="-120"/>
              </a:rPr>
              <a:t>that provide complete blackbox coverage of calculateDosage(age).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chemeClr val="tx1"/>
          </a:solidFill>
          <a:ln/>
        </p:spPr>
        <p:txBody>
          <a:bodyPr/>
          <a:lstStyle/>
          <a:p>
            <a:endParaRPr lang="en-US"/>
          </a:p>
        </p:txBody>
      </p:sp>
      <p:sp>
        <p:nvSpPr>
          <p:cNvPr id="3" name="Text 1"/>
          <p:cNvSpPr/>
          <p:nvPr/>
        </p:nvSpPr>
        <p:spPr>
          <a:xfrm>
            <a:off x="502920" y="0"/>
            <a:ext cx="8412480" cy="640080"/>
          </a:xfrm>
          <a:prstGeom prst="rect">
            <a:avLst/>
          </a:prstGeom>
          <a:noFill/>
          <a:ln/>
        </p:spPr>
        <p:txBody>
          <a:bodyPr wrap="square" rtlCol="0" anchor="b"/>
          <a:lstStyle/>
          <a:p>
            <a:pPr marL="0" indent="0">
              <a:buNone/>
            </a:pPr>
            <a:r>
              <a:rPr lang="en-US" sz="2800" b="1" dirty="0">
                <a:solidFill>
                  <a:srgbClr val="FFFFFF"/>
                </a:solidFill>
                <a:latin typeface="Georgia" pitchFamily="34" charset="0"/>
                <a:ea typeface="Georgia" pitchFamily="34" charset="-122"/>
                <a:cs typeface="Georgia" pitchFamily="34" charset="-120"/>
              </a:rPr>
              <a:t>Mutation Testing — PITest Results</a:t>
            </a:r>
            <a:endParaRPr lang="en-US" sz="2800" dirty="0"/>
          </a:p>
        </p:txBody>
      </p:sp>
      <p:sp>
        <p:nvSpPr>
          <p:cNvPr id="4" name="Text 2"/>
          <p:cNvSpPr/>
          <p:nvPr/>
        </p:nvSpPr>
        <p:spPr>
          <a:xfrm>
            <a:off x="502920" y="658368"/>
            <a:ext cx="8412480" cy="347472"/>
          </a:xfrm>
          <a:prstGeom prst="rect">
            <a:avLst/>
          </a:prstGeom>
          <a:noFill/>
          <a:ln/>
        </p:spPr>
        <p:txBody>
          <a:bodyPr wrap="square" rtlCol="0" anchor="t"/>
          <a:lstStyle/>
          <a:p>
            <a:pPr marL="0" indent="0">
              <a:buNone/>
            </a:pPr>
            <a:r>
              <a:rPr lang="en-US" sz="1200" dirty="0">
                <a:solidFill>
                  <a:srgbClr val="CBD5E1"/>
                </a:solidFill>
                <a:latin typeface="Calibri" pitchFamily="34" charset="0"/>
                <a:ea typeface="Calibri" pitchFamily="34" charset="-122"/>
                <a:cs typeface="Calibri" pitchFamily="34" charset="-120"/>
              </a:rPr>
              <a:t>Advanced testing: 81 mutations auto-introduced into code. 74 killed by tests. Score: 91%</a:t>
            </a:r>
            <a:endParaRPr lang="en-US" sz="1200" dirty="0"/>
          </a:p>
        </p:txBody>
      </p:sp>
      <p:sp>
        <p:nvSpPr>
          <p:cNvPr id="5" name="Shape 3"/>
          <p:cNvSpPr/>
          <p:nvPr/>
        </p:nvSpPr>
        <p:spPr>
          <a:xfrm>
            <a:off x="457200" y="1143000"/>
            <a:ext cx="2011680" cy="868680"/>
          </a:xfrm>
          <a:prstGeom prst="rect">
            <a:avLst/>
          </a:prstGeom>
          <a:solidFill>
            <a:srgbClr val="0A2540"/>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457200" y="1188720"/>
            <a:ext cx="2011680" cy="45720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81</a:t>
            </a:r>
            <a:endParaRPr lang="en-US" sz="2800" dirty="0"/>
          </a:p>
        </p:txBody>
      </p:sp>
      <p:sp>
        <p:nvSpPr>
          <p:cNvPr id="7" name="Text 5"/>
          <p:cNvSpPr/>
          <p:nvPr/>
        </p:nvSpPr>
        <p:spPr>
          <a:xfrm>
            <a:off x="457200" y="1664208"/>
            <a:ext cx="2011680" cy="27432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Mutations Created</a:t>
            </a:r>
            <a:endParaRPr lang="en-US" sz="900" dirty="0"/>
          </a:p>
        </p:txBody>
      </p:sp>
      <p:sp>
        <p:nvSpPr>
          <p:cNvPr id="8" name="Shape 6"/>
          <p:cNvSpPr/>
          <p:nvPr/>
        </p:nvSpPr>
        <p:spPr>
          <a:xfrm>
            <a:off x="2606040" y="1143000"/>
            <a:ext cx="2011680" cy="868680"/>
          </a:xfrm>
          <a:prstGeom prst="rect">
            <a:avLst/>
          </a:prstGeom>
          <a:solidFill>
            <a:srgbClr val="27AE60"/>
          </a:solidFill>
          <a:ln/>
          <a:effectLst>
            <a:outerShdw blurRad="101600" dist="38100" dir="8100000" algn="bl" rotWithShape="0">
              <a:srgbClr val="000000">
                <a:alpha val="12000"/>
              </a:srgbClr>
            </a:outerShdw>
          </a:effectLst>
        </p:spPr>
        <p:txBody>
          <a:bodyPr/>
          <a:lstStyle/>
          <a:p>
            <a:endParaRPr lang="en-US"/>
          </a:p>
        </p:txBody>
      </p:sp>
      <p:sp>
        <p:nvSpPr>
          <p:cNvPr id="9" name="Text 7"/>
          <p:cNvSpPr/>
          <p:nvPr/>
        </p:nvSpPr>
        <p:spPr>
          <a:xfrm>
            <a:off x="2606040" y="1188720"/>
            <a:ext cx="2011680" cy="45720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77</a:t>
            </a:r>
            <a:endParaRPr lang="en-US" sz="2800" dirty="0"/>
          </a:p>
        </p:txBody>
      </p:sp>
      <p:sp>
        <p:nvSpPr>
          <p:cNvPr id="10" name="Text 8"/>
          <p:cNvSpPr/>
          <p:nvPr/>
        </p:nvSpPr>
        <p:spPr>
          <a:xfrm>
            <a:off x="2606040" y="1664208"/>
            <a:ext cx="2011680" cy="27432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Killed (tests caught)</a:t>
            </a:r>
            <a:endParaRPr lang="en-US" sz="900" dirty="0"/>
          </a:p>
        </p:txBody>
      </p:sp>
      <p:sp>
        <p:nvSpPr>
          <p:cNvPr id="11" name="Shape 9"/>
          <p:cNvSpPr/>
          <p:nvPr/>
        </p:nvSpPr>
        <p:spPr>
          <a:xfrm>
            <a:off x="4754880" y="1143000"/>
            <a:ext cx="2011680" cy="868680"/>
          </a:xfrm>
          <a:prstGeom prst="rect">
            <a:avLst/>
          </a:prstGeom>
          <a:solidFill>
            <a:srgbClr val="C0392B"/>
          </a:solidFill>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4754880" y="1188720"/>
            <a:ext cx="2011680" cy="45720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rPr>
              <a:t>4</a:t>
            </a:r>
            <a:endParaRPr lang="en-US" sz="2800" dirty="0"/>
          </a:p>
        </p:txBody>
      </p:sp>
      <p:sp>
        <p:nvSpPr>
          <p:cNvPr id="13" name="Text 11"/>
          <p:cNvSpPr/>
          <p:nvPr/>
        </p:nvSpPr>
        <p:spPr>
          <a:xfrm>
            <a:off x="4754880" y="1664208"/>
            <a:ext cx="2011680" cy="27432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Survived (missed)</a:t>
            </a:r>
            <a:endParaRPr lang="en-US" sz="900" dirty="0"/>
          </a:p>
        </p:txBody>
      </p:sp>
      <p:sp>
        <p:nvSpPr>
          <p:cNvPr id="14" name="Shape 12"/>
          <p:cNvSpPr/>
          <p:nvPr/>
        </p:nvSpPr>
        <p:spPr>
          <a:xfrm>
            <a:off x="6903720" y="1143000"/>
            <a:ext cx="2011680" cy="868680"/>
          </a:xfrm>
          <a:prstGeom prst="rect">
            <a:avLst/>
          </a:prstGeom>
          <a:solidFill>
            <a:srgbClr val="E67E22"/>
          </a:solidFill>
          <a:ln/>
          <a:effectLst>
            <a:outerShdw blurRad="101600" dist="38100" dir="8100000" algn="bl" rotWithShape="0">
              <a:srgbClr val="000000">
                <a:alpha val="12000"/>
              </a:srgbClr>
            </a:outerShdw>
          </a:effectLst>
        </p:spPr>
        <p:txBody>
          <a:bodyPr/>
          <a:lstStyle/>
          <a:p>
            <a:endParaRPr lang="en-US"/>
          </a:p>
        </p:txBody>
      </p:sp>
      <p:sp>
        <p:nvSpPr>
          <p:cNvPr id="15" name="Text 13"/>
          <p:cNvSpPr/>
          <p:nvPr/>
        </p:nvSpPr>
        <p:spPr>
          <a:xfrm>
            <a:off x="6903720" y="1188720"/>
            <a:ext cx="2011680" cy="45720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95%</a:t>
            </a:r>
            <a:endParaRPr lang="en-US" sz="2800" dirty="0"/>
          </a:p>
        </p:txBody>
      </p:sp>
      <p:sp>
        <p:nvSpPr>
          <p:cNvPr id="16" name="Text 14"/>
          <p:cNvSpPr/>
          <p:nvPr/>
        </p:nvSpPr>
        <p:spPr>
          <a:xfrm>
            <a:off x="6903720" y="1664208"/>
            <a:ext cx="2011680" cy="27432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Mutation Score</a:t>
            </a:r>
            <a:endParaRPr lang="en-US" sz="900" dirty="0"/>
          </a:p>
        </p:txBody>
      </p:sp>
      <p:sp>
        <p:nvSpPr>
          <p:cNvPr id="17" name="Shape 15"/>
          <p:cNvSpPr/>
          <p:nvPr/>
        </p:nvSpPr>
        <p:spPr>
          <a:xfrm>
            <a:off x="457200" y="2121408"/>
            <a:ext cx="2926080" cy="2724912"/>
          </a:xfrm>
          <a:prstGeom prst="rect">
            <a:avLst/>
          </a:prstGeom>
          <a:solidFill>
            <a:srgbClr val="0A2540"/>
          </a:solidFill>
          <a:ln/>
          <a:effectLst>
            <a:outerShdw blurRad="101600" dist="38100" dir="8100000" algn="bl" rotWithShape="0">
              <a:srgbClr val="000000">
                <a:alpha val="12000"/>
              </a:srgbClr>
            </a:outerShdw>
          </a:effectLst>
        </p:spPr>
        <p:txBody>
          <a:bodyPr/>
          <a:lstStyle/>
          <a:p>
            <a:endParaRPr lang="en-US"/>
          </a:p>
        </p:txBody>
      </p:sp>
      <p:sp>
        <p:nvSpPr>
          <p:cNvPr id="18" name="Text 16"/>
          <p:cNvSpPr/>
          <p:nvPr/>
        </p:nvSpPr>
        <p:spPr>
          <a:xfrm>
            <a:off x="594360" y="2194560"/>
            <a:ext cx="2651760" cy="201168"/>
          </a:xfrm>
          <a:prstGeom prst="rect">
            <a:avLst/>
          </a:prstGeom>
          <a:noFill/>
          <a:ln/>
        </p:spPr>
        <p:txBody>
          <a:bodyPr wrap="square" rtlCol="0" anchor="ctr"/>
          <a:lstStyle/>
          <a:p>
            <a:pPr marL="0" indent="0">
              <a:buNone/>
            </a:pPr>
            <a:r>
              <a:rPr lang="en-US" sz="800" b="1" kern="0" spc="200" dirty="0">
                <a:solidFill>
                  <a:srgbClr val="02C39A"/>
                </a:solidFill>
                <a:latin typeface="Calibri" pitchFamily="34" charset="0"/>
                <a:ea typeface="Calibri" pitchFamily="34" charset="-122"/>
                <a:cs typeface="Calibri" pitchFamily="34" charset="-120"/>
              </a:rPr>
              <a:t>WHAT IS MUTATION TESTING?</a:t>
            </a:r>
            <a:endParaRPr lang="en-US" sz="800" dirty="0"/>
          </a:p>
        </p:txBody>
      </p:sp>
      <p:sp>
        <p:nvSpPr>
          <p:cNvPr id="19" name="Text 17"/>
          <p:cNvSpPr/>
          <p:nvPr/>
        </p:nvSpPr>
        <p:spPr>
          <a:xfrm>
            <a:off x="594360" y="2450592"/>
            <a:ext cx="2651760" cy="2304288"/>
          </a:xfrm>
          <a:prstGeom prst="rect">
            <a:avLst/>
          </a:prstGeom>
          <a:noFill/>
          <a:ln/>
        </p:spPr>
        <p:txBody>
          <a:bodyPr wrap="square" rtlCol="0" anchor="t"/>
          <a:lstStyle/>
          <a:p>
            <a:pPr marL="0" indent="0">
              <a:buNone/>
            </a:pPr>
            <a:r>
              <a:rPr lang="en-US" sz="1000" dirty="0">
                <a:solidFill>
                  <a:srgbClr val="CBD5E1"/>
                </a:solidFill>
                <a:latin typeface="Calibri" pitchFamily="34" charset="0"/>
                <a:ea typeface="Calibri" pitchFamily="34" charset="-122"/>
                <a:cs typeface="Calibri" pitchFamily="34" charset="-120"/>
              </a:rPr>
              <a:t>PITest automatically breaks your code in small ways, then checks if your existing tests catch the break.
</a:t>
            </a:r>
            <a:endParaRPr lang="en-US" sz="1000" dirty="0"/>
          </a:p>
          <a:p>
            <a:pPr marL="0" indent="0">
              <a:buNone/>
            </a:pPr>
            <a:r>
              <a:rPr lang="en-US" sz="1100" b="1" dirty="0">
                <a:solidFill>
                  <a:srgbClr val="27AE60"/>
                </a:solidFill>
                <a:latin typeface="Calibri" pitchFamily="34" charset="0"/>
                <a:ea typeface="Calibri" pitchFamily="34" charset="-122"/>
                <a:cs typeface="Calibri" pitchFamily="34" charset="-120"/>
              </a:rPr>
              <a:t>KILLED  </a:t>
            </a:r>
            <a:r>
              <a:rPr lang="en-US" sz="1000" dirty="0">
                <a:solidFill>
                  <a:srgbClr val="FFFFFF"/>
                </a:solidFill>
                <a:latin typeface="Calibri" pitchFamily="34" charset="0"/>
                <a:ea typeface="Calibri" pitchFamily="34" charset="-122"/>
                <a:cs typeface="Calibri" pitchFamily="34" charset="-120"/>
              </a:rPr>
              <a:t>= your test caught it
</a:t>
            </a:r>
            <a:endParaRPr lang="en-US" sz="1000" dirty="0"/>
          </a:p>
          <a:p>
            <a:pPr marL="0" indent="0">
              <a:buNone/>
            </a:pPr>
            <a:r>
              <a:rPr lang="en-US" sz="1100" b="1" dirty="0">
                <a:solidFill>
                  <a:srgbClr val="C0392B"/>
                </a:solidFill>
                <a:latin typeface="Calibri" pitchFamily="34" charset="0"/>
                <a:ea typeface="Calibri" pitchFamily="34" charset="-122"/>
                <a:cs typeface="Calibri" pitchFamily="34" charset="-120"/>
              </a:rPr>
              <a:t>SURVIVED </a:t>
            </a:r>
            <a:r>
              <a:rPr lang="en-US" sz="1000" dirty="0">
                <a:solidFill>
                  <a:srgbClr val="FFFFFF"/>
                </a:solidFill>
                <a:latin typeface="Calibri" pitchFamily="34" charset="0"/>
                <a:ea typeface="Calibri" pitchFamily="34" charset="-122"/>
                <a:cs typeface="Calibri" pitchFamily="34" charset="-120"/>
              </a:rPr>
              <a:t>= test missed the bug
</a:t>
            </a:r>
            <a:endParaRPr lang="en-US" sz="1000" dirty="0"/>
          </a:p>
          <a:p>
            <a:pPr marL="0" indent="0">
              <a:buNone/>
            </a:pPr>
            <a:r>
              <a:rPr lang="en-US" sz="1000" b="1" dirty="0">
                <a:solidFill>
                  <a:srgbClr val="02C39A"/>
                </a:solidFill>
                <a:latin typeface="Calibri" pitchFamily="34" charset="0"/>
                <a:ea typeface="Calibri" pitchFamily="34" charset="-122"/>
                <a:cs typeface="Calibri" pitchFamily="34" charset="-120"/>
              </a:rPr>
              <a:t>Score formula:
</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77 killed ÷ 81 total × 100</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95% — above 80% industry standard </a:t>
            </a:r>
          </a:p>
        </p:txBody>
      </p:sp>
      <p:sp>
        <p:nvSpPr>
          <p:cNvPr id="20" name="Shape 18"/>
          <p:cNvSpPr/>
          <p:nvPr/>
        </p:nvSpPr>
        <p:spPr>
          <a:xfrm>
            <a:off x="3566160" y="2121408"/>
            <a:ext cx="5120640" cy="272491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3566160" y="2121408"/>
            <a:ext cx="5120640" cy="347472"/>
          </a:xfrm>
          <a:prstGeom prst="rect">
            <a:avLst/>
          </a:prstGeom>
          <a:solidFill>
            <a:srgbClr val="E67E22"/>
          </a:solidFill>
          <a:ln/>
        </p:spPr>
        <p:txBody>
          <a:bodyPr/>
          <a:lstStyle/>
          <a:p>
            <a:endParaRPr lang="en-US"/>
          </a:p>
        </p:txBody>
      </p:sp>
      <p:sp>
        <p:nvSpPr>
          <p:cNvPr id="22" name="Text 20"/>
          <p:cNvSpPr/>
          <p:nvPr/>
        </p:nvSpPr>
        <p:spPr>
          <a:xfrm>
            <a:off x="3703320" y="2121408"/>
            <a:ext cx="493776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MUTATION TYPES USED (with examples)</a:t>
            </a:r>
            <a:endParaRPr lang="en-US" sz="1100" dirty="0"/>
          </a:p>
        </p:txBody>
      </p:sp>
      <p:sp>
        <p:nvSpPr>
          <p:cNvPr id="23" name="Shape 21"/>
          <p:cNvSpPr/>
          <p:nvPr/>
        </p:nvSpPr>
        <p:spPr>
          <a:xfrm>
            <a:off x="3566160" y="2523744"/>
            <a:ext cx="5120640" cy="429768"/>
          </a:xfrm>
          <a:prstGeom prst="rect">
            <a:avLst/>
          </a:prstGeom>
          <a:solidFill>
            <a:srgbClr val="EDF2F7"/>
          </a:solidFill>
          <a:ln/>
        </p:spPr>
        <p:txBody>
          <a:bodyPr/>
          <a:lstStyle/>
          <a:p>
            <a:endParaRPr lang="en-US"/>
          </a:p>
        </p:txBody>
      </p:sp>
      <p:sp>
        <p:nvSpPr>
          <p:cNvPr id="24" name="Text 22"/>
          <p:cNvSpPr/>
          <p:nvPr/>
        </p:nvSpPr>
        <p:spPr>
          <a:xfrm>
            <a:off x="3694176" y="2551176"/>
            <a:ext cx="4937760" cy="182880"/>
          </a:xfrm>
          <a:prstGeom prst="rect">
            <a:avLst/>
          </a:prstGeom>
          <a:noFill/>
          <a:ln/>
        </p:spPr>
        <p:txBody>
          <a:bodyPr wrap="square"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CONDITIONALS_BOUNDARY</a:t>
            </a:r>
            <a:endParaRPr lang="en-US" sz="1000" dirty="0"/>
          </a:p>
        </p:txBody>
      </p:sp>
      <p:sp>
        <p:nvSpPr>
          <p:cNvPr id="25" name="Text 23"/>
          <p:cNvSpPr/>
          <p:nvPr/>
        </p:nvSpPr>
        <p:spPr>
          <a:xfrm>
            <a:off x="3694176" y="2743200"/>
            <a:ext cx="4937760" cy="18288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Changes &lt; to &lt;=, &gt; to &gt;=  →  age &lt; 0 → age &lt;= 0  (now age=0 incorrectly passes)</a:t>
            </a:r>
            <a:endParaRPr lang="en-US" sz="850" dirty="0"/>
          </a:p>
        </p:txBody>
      </p:sp>
      <p:sp>
        <p:nvSpPr>
          <p:cNvPr id="26" name="Shape 24"/>
          <p:cNvSpPr/>
          <p:nvPr/>
        </p:nvSpPr>
        <p:spPr>
          <a:xfrm>
            <a:off x="3566160" y="2980944"/>
            <a:ext cx="5120640" cy="429768"/>
          </a:xfrm>
          <a:prstGeom prst="rect">
            <a:avLst/>
          </a:prstGeom>
          <a:solidFill>
            <a:srgbClr val="FFFFFF"/>
          </a:solidFill>
          <a:ln/>
        </p:spPr>
        <p:txBody>
          <a:bodyPr/>
          <a:lstStyle/>
          <a:p>
            <a:endParaRPr lang="en-US"/>
          </a:p>
        </p:txBody>
      </p:sp>
      <p:sp>
        <p:nvSpPr>
          <p:cNvPr id="27" name="Text 25"/>
          <p:cNvSpPr/>
          <p:nvPr/>
        </p:nvSpPr>
        <p:spPr>
          <a:xfrm>
            <a:off x="3694176" y="3008376"/>
            <a:ext cx="4937760" cy="182880"/>
          </a:xfrm>
          <a:prstGeom prst="rect">
            <a:avLst/>
          </a:prstGeom>
          <a:noFill/>
          <a:ln/>
        </p:spPr>
        <p:txBody>
          <a:bodyPr wrap="square"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NEGATE_CONDITIONALS</a:t>
            </a:r>
            <a:endParaRPr lang="en-US" sz="1000" dirty="0"/>
          </a:p>
        </p:txBody>
      </p:sp>
      <p:sp>
        <p:nvSpPr>
          <p:cNvPr id="28" name="Text 26"/>
          <p:cNvSpPr/>
          <p:nvPr/>
        </p:nvSpPr>
        <p:spPr>
          <a:xfrm>
            <a:off x="3694176" y="3200400"/>
            <a:ext cx="4937760" cy="18288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Flips entire condition  →  age &lt; 0 → age &gt;= 0  (logic completely reversed)</a:t>
            </a:r>
            <a:endParaRPr lang="en-US" sz="850" dirty="0"/>
          </a:p>
        </p:txBody>
      </p:sp>
      <p:sp>
        <p:nvSpPr>
          <p:cNvPr id="29" name="Shape 27"/>
          <p:cNvSpPr/>
          <p:nvPr/>
        </p:nvSpPr>
        <p:spPr>
          <a:xfrm>
            <a:off x="3566160" y="3438144"/>
            <a:ext cx="5120640" cy="429768"/>
          </a:xfrm>
          <a:prstGeom prst="rect">
            <a:avLst/>
          </a:prstGeom>
          <a:solidFill>
            <a:srgbClr val="EDF2F7"/>
          </a:solidFill>
          <a:ln/>
        </p:spPr>
        <p:txBody>
          <a:bodyPr/>
          <a:lstStyle/>
          <a:p>
            <a:endParaRPr lang="en-US"/>
          </a:p>
        </p:txBody>
      </p:sp>
      <p:sp>
        <p:nvSpPr>
          <p:cNvPr id="30" name="Text 28"/>
          <p:cNvSpPr/>
          <p:nvPr/>
        </p:nvSpPr>
        <p:spPr>
          <a:xfrm>
            <a:off x="3694176" y="3465576"/>
            <a:ext cx="4937760" cy="182880"/>
          </a:xfrm>
          <a:prstGeom prst="rect">
            <a:avLst/>
          </a:prstGeom>
          <a:noFill/>
          <a:ln/>
        </p:spPr>
        <p:txBody>
          <a:bodyPr wrap="square"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MATH</a:t>
            </a:r>
            <a:endParaRPr lang="en-US" sz="1000" dirty="0"/>
          </a:p>
        </p:txBody>
      </p:sp>
      <p:sp>
        <p:nvSpPr>
          <p:cNvPr id="31" name="Text 29"/>
          <p:cNvSpPr/>
          <p:nvPr/>
        </p:nvSpPr>
        <p:spPr>
          <a:xfrm>
            <a:off x="3694176" y="3657600"/>
            <a:ext cx="4937760" cy="18288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Changes arithmetic operators  →  5.0 × weight → 0.0 × weight  (dosage becomes zero)</a:t>
            </a:r>
            <a:endParaRPr lang="en-US" sz="850" dirty="0"/>
          </a:p>
        </p:txBody>
      </p:sp>
      <p:sp>
        <p:nvSpPr>
          <p:cNvPr id="32" name="Shape 30"/>
          <p:cNvSpPr/>
          <p:nvPr/>
        </p:nvSpPr>
        <p:spPr>
          <a:xfrm>
            <a:off x="3566160" y="3895344"/>
            <a:ext cx="5120640" cy="429768"/>
          </a:xfrm>
          <a:prstGeom prst="rect">
            <a:avLst/>
          </a:prstGeom>
          <a:solidFill>
            <a:srgbClr val="FFFFFF"/>
          </a:solidFill>
          <a:ln/>
        </p:spPr>
        <p:txBody>
          <a:bodyPr/>
          <a:lstStyle/>
          <a:p>
            <a:endParaRPr lang="en-US"/>
          </a:p>
        </p:txBody>
      </p:sp>
      <p:sp>
        <p:nvSpPr>
          <p:cNvPr id="33" name="Text 31"/>
          <p:cNvSpPr/>
          <p:nvPr/>
        </p:nvSpPr>
        <p:spPr>
          <a:xfrm>
            <a:off x="3694176" y="3922776"/>
            <a:ext cx="4937760" cy="182880"/>
          </a:xfrm>
          <a:prstGeom prst="rect">
            <a:avLst/>
          </a:prstGeom>
          <a:noFill/>
          <a:ln/>
        </p:spPr>
        <p:txBody>
          <a:bodyPr wrap="square"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TRUE_RETURNS</a:t>
            </a:r>
            <a:endParaRPr lang="en-US" sz="1000" dirty="0"/>
          </a:p>
        </p:txBody>
      </p:sp>
      <p:sp>
        <p:nvSpPr>
          <p:cNvPr id="34" name="Text 32"/>
          <p:cNvSpPr/>
          <p:nvPr/>
        </p:nvSpPr>
        <p:spPr>
          <a:xfrm>
            <a:off x="3694176" y="4114800"/>
            <a:ext cx="4937760" cy="18288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Forces return true  →  validatePrescription → always true (no checks)</a:t>
            </a:r>
            <a:endParaRPr lang="en-US" sz="850" dirty="0"/>
          </a:p>
        </p:txBody>
      </p:sp>
      <p:sp>
        <p:nvSpPr>
          <p:cNvPr id="35" name="Shape 33"/>
          <p:cNvSpPr/>
          <p:nvPr/>
        </p:nvSpPr>
        <p:spPr>
          <a:xfrm>
            <a:off x="3566160" y="4352544"/>
            <a:ext cx="5120640" cy="429768"/>
          </a:xfrm>
          <a:prstGeom prst="rect">
            <a:avLst/>
          </a:prstGeom>
          <a:solidFill>
            <a:srgbClr val="EDF2F7"/>
          </a:solidFill>
          <a:ln/>
        </p:spPr>
        <p:txBody>
          <a:bodyPr/>
          <a:lstStyle/>
          <a:p>
            <a:endParaRPr lang="en-US"/>
          </a:p>
        </p:txBody>
      </p:sp>
      <p:sp>
        <p:nvSpPr>
          <p:cNvPr id="36" name="Text 34"/>
          <p:cNvSpPr/>
          <p:nvPr/>
        </p:nvSpPr>
        <p:spPr>
          <a:xfrm>
            <a:off x="3694176" y="4379976"/>
            <a:ext cx="4937760" cy="182880"/>
          </a:xfrm>
          <a:prstGeom prst="rect">
            <a:avLst/>
          </a:prstGeom>
          <a:noFill/>
          <a:ln/>
        </p:spPr>
        <p:txBody>
          <a:bodyPr wrap="square" rtlCol="0" anchor="ctr"/>
          <a:lstStyle/>
          <a:p>
            <a:pPr marL="0" indent="0">
              <a:buNone/>
            </a:pPr>
            <a:r>
              <a:rPr lang="en-US" sz="1000" b="1" dirty="0">
                <a:solidFill>
                  <a:srgbClr val="0A2540"/>
                </a:solidFill>
                <a:latin typeface="Calibri" pitchFamily="34" charset="0"/>
                <a:ea typeface="Calibri" pitchFamily="34" charset="-122"/>
                <a:cs typeface="Calibri" pitchFamily="34" charset="-120"/>
              </a:rPr>
              <a:t>FALSE_RETURNS</a:t>
            </a:r>
            <a:endParaRPr lang="en-US" sz="1000" dirty="0"/>
          </a:p>
        </p:txBody>
      </p:sp>
      <p:sp>
        <p:nvSpPr>
          <p:cNvPr id="37" name="Text 35"/>
          <p:cNvSpPr/>
          <p:nvPr/>
        </p:nvSpPr>
        <p:spPr>
          <a:xfrm>
            <a:off x="3694176" y="4572000"/>
            <a:ext cx="4937760" cy="18288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Forces return false  →  validatePrescription → always false (never dispenses)</a:t>
            </a:r>
            <a:endParaRPr lang="en-US" sz="850" dirty="0"/>
          </a:p>
        </p:txBody>
      </p:sp>
      <p:sp>
        <p:nvSpPr>
          <p:cNvPr id="38" name="Shape 36"/>
          <p:cNvSpPr/>
          <p:nvPr/>
        </p:nvSpPr>
        <p:spPr>
          <a:xfrm>
            <a:off x="457200" y="4873752"/>
            <a:ext cx="8229600" cy="237744"/>
          </a:xfrm>
          <a:prstGeom prst="rect">
            <a:avLst/>
          </a:prstGeom>
          <a:solidFill>
            <a:srgbClr val="0D2137"/>
          </a:solidFill>
          <a:ln/>
        </p:spPr>
        <p:txBody>
          <a:bodyPr/>
          <a:lstStyle/>
          <a:p>
            <a:endParaRPr lang="en-US"/>
          </a:p>
        </p:txBody>
      </p:sp>
      <p:sp>
        <p:nvSpPr>
          <p:cNvPr id="39" name="Text 37"/>
          <p:cNvSpPr/>
          <p:nvPr/>
        </p:nvSpPr>
        <p:spPr>
          <a:xfrm>
            <a:off x="594360" y="4873752"/>
            <a:ext cx="8046720" cy="237744"/>
          </a:xfrm>
          <a:prstGeom prst="rect">
            <a:avLst/>
          </a:prstGeom>
          <a:noFill/>
          <a:ln/>
        </p:spPr>
        <p:txBody>
          <a:bodyPr wrap="square" rtlCol="0" anchor="ctr"/>
          <a:lstStyle/>
          <a:p>
            <a:pPr marL="0" indent="0">
              <a:buNone/>
            </a:pPr>
            <a:r>
              <a:rPr lang="en-US" sz="900" dirty="0">
                <a:solidFill>
                  <a:srgbClr val="02C39A"/>
                </a:solidFill>
                <a:latin typeface="Calibri" pitchFamily="34" charset="0"/>
                <a:ea typeface="Calibri" pitchFamily="34" charset="-122"/>
                <a:cs typeface="Calibri" pitchFamily="34" charset="-120"/>
              </a:rPr>
              <a:t>mvn test-compile org.pitest:pitest-maven:mutationCoverage  →  open target/pit-reports/index.html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chemeClr val="tx1"/>
          </a:solidFill>
          <a:ln/>
        </p:spPr>
        <p:txBody>
          <a:bodyPr/>
          <a:lstStyle/>
          <a:p>
            <a:endParaRPr lang="en-US"/>
          </a:p>
        </p:txBody>
      </p:sp>
      <p:sp>
        <p:nvSpPr>
          <p:cNvPr id="3" name="Text 1"/>
          <p:cNvSpPr/>
          <p:nvPr/>
        </p:nvSpPr>
        <p:spPr>
          <a:xfrm>
            <a:off x="502920" y="0"/>
            <a:ext cx="8412480" cy="640080"/>
          </a:xfrm>
          <a:prstGeom prst="rect">
            <a:avLst/>
          </a:prstGeom>
          <a:noFill/>
          <a:ln/>
        </p:spPr>
        <p:txBody>
          <a:bodyPr wrap="square" rtlCol="0" anchor="b"/>
          <a:lstStyle/>
          <a:p>
            <a:pPr marL="0" indent="0">
              <a:buNone/>
            </a:pPr>
            <a:r>
              <a:rPr lang="en-US" sz="2800" b="1" dirty="0">
                <a:solidFill>
                  <a:srgbClr val="FFFFFF"/>
                </a:solidFill>
                <a:latin typeface="Georgia" pitchFamily="34" charset="0"/>
                <a:ea typeface="Georgia" pitchFamily="34" charset="-122"/>
                <a:cs typeface="Georgia" pitchFamily="34" charset="-120"/>
              </a:rPr>
              <a:t>Integration Testing — Top-Down MockMvc</a:t>
            </a:r>
            <a:endParaRPr lang="en-US" sz="2800" dirty="0"/>
          </a:p>
        </p:txBody>
      </p:sp>
      <p:sp>
        <p:nvSpPr>
          <p:cNvPr id="4" name="Text 2"/>
          <p:cNvSpPr/>
          <p:nvPr/>
        </p:nvSpPr>
        <p:spPr>
          <a:xfrm>
            <a:off x="502920" y="658368"/>
            <a:ext cx="8412480" cy="347472"/>
          </a:xfrm>
          <a:prstGeom prst="rect">
            <a:avLst/>
          </a:prstGeom>
          <a:noFill/>
          <a:ln/>
        </p:spPr>
        <p:txBody>
          <a:bodyPr wrap="square" rtlCol="0" anchor="t"/>
          <a:lstStyle/>
          <a:p>
            <a:pPr marL="0" indent="0">
              <a:buNone/>
            </a:pPr>
            <a:r>
              <a:rPr lang="en-US" sz="1200" dirty="0">
                <a:solidFill>
                  <a:srgbClr val="CBD5E1"/>
                </a:solidFill>
                <a:latin typeface="Calibri" pitchFamily="34" charset="0"/>
                <a:ea typeface="Calibri" pitchFamily="34" charset="-122"/>
                <a:cs typeface="Calibri" pitchFamily="34" charset="-120"/>
              </a:rPr>
              <a:t>PharmacyControllerTest.java — 16 tests — tests full web request through all layers</a:t>
            </a:r>
            <a:endParaRPr lang="en-US" sz="1200" dirty="0"/>
          </a:p>
        </p:txBody>
      </p:sp>
      <p:sp>
        <p:nvSpPr>
          <p:cNvPr id="5" name="Shape 3"/>
          <p:cNvSpPr/>
          <p:nvPr/>
        </p:nvSpPr>
        <p:spPr>
          <a:xfrm>
            <a:off x="457200" y="1143000"/>
            <a:ext cx="2286000" cy="3657600"/>
          </a:xfrm>
          <a:prstGeom prst="rect">
            <a:avLst/>
          </a:prstGeom>
          <a:solidFill>
            <a:srgbClr val="0A2540"/>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594360" y="1234440"/>
            <a:ext cx="2011680" cy="411480"/>
          </a:xfrm>
          <a:prstGeom prst="rect">
            <a:avLst/>
          </a:prstGeom>
          <a:noFill/>
          <a:ln/>
        </p:spPr>
        <p:txBody>
          <a:bodyPr wrap="square" rtlCol="0" anchor="ctr"/>
          <a:lstStyle/>
          <a:p>
            <a:pPr marL="0" indent="0">
              <a:buNone/>
            </a:pPr>
            <a:r>
              <a:rPr lang="en-US" sz="900" b="1" kern="0" spc="200" dirty="0">
                <a:solidFill>
                  <a:srgbClr val="02C39A"/>
                </a:solidFill>
                <a:latin typeface="Calibri" pitchFamily="34" charset="0"/>
                <a:ea typeface="Calibri" pitchFamily="34" charset="-122"/>
                <a:cs typeface="Calibri" pitchFamily="34" charset="-120"/>
              </a:rPr>
              <a:t>TOP-DOWN</a:t>
            </a:r>
            <a:endParaRPr lang="en-US" sz="900" dirty="0"/>
          </a:p>
          <a:p>
            <a:pPr marL="0" indent="0">
              <a:buNone/>
            </a:pPr>
            <a:r>
              <a:rPr lang="en-US" sz="900" b="1" kern="0" spc="200" dirty="0">
                <a:solidFill>
                  <a:srgbClr val="02C39A"/>
                </a:solidFill>
                <a:latin typeface="Calibri" pitchFamily="34" charset="0"/>
                <a:ea typeface="Calibri" pitchFamily="34" charset="-122"/>
                <a:cs typeface="Calibri" pitchFamily="34" charset="-120"/>
              </a:rPr>
              <a:t>APPROACH</a:t>
            </a:r>
            <a:endParaRPr lang="en-US" sz="900" dirty="0"/>
          </a:p>
        </p:txBody>
      </p:sp>
      <p:sp>
        <p:nvSpPr>
          <p:cNvPr id="7" name="Shape 5"/>
          <p:cNvSpPr/>
          <p:nvPr/>
        </p:nvSpPr>
        <p:spPr>
          <a:xfrm>
            <a:off x="594360" y="1719072"/>
            <a:ext cx="2011680" cy="685800"/>
          </a:xfrm>
          <a:prstGeom prst="rect">
            <a:avLst/>
          </a:prstGeom>
          <a:solidFill>
            <a:srgbClr val="028090"/>
          </a:solidFill>
          <a:ln/>
        </p:spPr>
        <p:txBody>
          <a:bodyPr/>
          <a:lstStyle/>
          <a:p>
            <a:endParaRPr lang="en-US"/>
          </a:p>
        </p:txBody>
      </p:sp>
      <p:sp>
        <p:nvSpPr>
          <p:cNvPr id="8" name="Text 6"/>
          <p:cNvSpPr/>
          <p:nvPr/>
        </p:nvSpPr>
        <p:spPr>
          <a:xfrm>
            <a:off x="594360" y="1764792"/>
            <a:ext cx="201168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CONTROLLER</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(Top Layer)</a:t>
            </a:r>
            <a:endParaRPr lang="en-US" sz="1000" dirty="0"/>
          </a:p>
        </p:txBody>
      </p:sp>
      <p:sp>
        <p:nvSpPr>
          <p:cNvPr id="9" name="Text 7"/>
          <p:cNvSpPr/>
          <p:nvPr/>
        </p:nvSpPr>
        <p:spPr>
          <a:xfrm>
            <a:off x="594360" y="2084832"/>
            <a:ext cx="2011680" cy="27432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MockMvc tests</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start here →</a:t>
            </a:r>
            <a:endParaRPr lang="en-US" sz="800" dirty="0"/>
          </a:p>
        </p:txBody>
      </p:sp>
      <p:sp>
        <p:nvSpPr>
          <p:cNvPr id="10" name="Shape 8"/>
          <p:cNvSpPr/>
          <p:nvPr/>
        </p:nvSpPr>
        <p:spPr>
          <a:xfrm>
            <a:off x="1298448" y="2404872"/>
            <a:ext cx="0" cy="274320"/>
          </a:xfrm>
          <a:prstGeom prst="line">
            <a:avLst/>
          </a:prstGeom>
          <a:noFill/>
          <a:ln w="12700">
            <a:solidFill>
              <a:srgbClr val="CBD5E1"/>
            </a:solidFill>
            <a:prstDash val="solid"/>
          </a:ln>
        </p:spPr>
        <p:txBody>
          <a:bodyPr/>
          <a:lstStyle/>
          <a:p>
            <a:endParaRPr lang="en-US"/>
          </a:p>
        </p:txBody>
      </p:sp>
      <p:sp>
        <p:nvSpPr>
          <p:cNvPr id="11" name="Shape 9"/>
          <p:cNvSpPr/>
          <p:nvPr/>
        </p:nvSpPr>
        <p:spPr>
          <a:xfrm>
            <a:off x="594360" y="2679192"/>
            <a:ext cx="2011680" cy="685800"/>
          </a:xfrm>
          <a:prstGeom prst="rect">
            <a:avLst/>
          </a:prstGeom>
          <a:solidFill>
            <a:srgbClr val="1565C0"/>
          </a:solidFill>
          <a:ln/>
        </p:spPr>
        <p:txBody>
          <a:bodyPr/>
          <a:lstStyle/>
          <a:p>
            <a:endParaRPr lang="en-US"/>
          </a:p>
        </p:txBody>
      </p:sp>
      <p:sp>
        <p:nvSpPr>
          <p:cNvPr id="12" name="Text 10"/>
          <p:cNvSpPr/>
          <p:nvPr/>
        </p:nvSpPr>
        <p:spPr>
          <a:xfrm>
            <a:off x="594360" y="2724912"/>
            <a:ext cx="201168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PHARMACY</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SYSTEM</a:t>
            </a:r>
            <a:endParaRPr lang="en-US" sz="1000" dirty="0"/>
          </a:p>
        </p:txBody>
      </p:sp>
      <p:sp>
        <p:nvSpPr>
          <p:cNvPr id="13" name="Text 11"/>
          <p:cNvSpPr/>
          <p:nvPr/>
        </p:nvSpPr>
        <p:spPr>
          <a:xfrm>
            <a:off x="594360" y="3044952"/>
            <a:ext cx="2011680" cy="27432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Business logic</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called by controller</a:t>
            </a:r>
            <a:endParaRPr lang="en-US" sz="800" dirty="0"/>
          </a:p>
        </p:txBody>
      </p:sp>
      <p:sp>
        <p:nvSpPr>
          <p:cNvPr id="14" name="Shape 12"/>
          <p:cNvSpPr/>
          <p:nvPr/>
        </p:nvSpPr>
        <p:spPr>
          <a:xfrm>
            <a:off x="1298448" y="3364992"/>
            <a:ext cx="0" cy="274320"/>
          </a:xfrm>
          <a:prstGeom prst="line">
            <a:avLst/>
          </a:prstGeom>
          <a:noFill/>
          <a:ln w="12700">
            <a:solidFill>
              <a:srgbClr val="CBD5E1"/>
            </a:solidFill>
            <a:prstDash val="solid"/>
          </a:ln>
        </p:spPr>
        <p:txBody>
          <a:bodyPr/>
          <a:lstStyle/>
          <a:p>
            <a:endParaRPr lang="en-US"/>
          </a:p>
        </p:txBody>
      </p:sp>
      <p:sp>
        <p:nvSpPr>
          <p:cNvPr id="15" name="Shape 13"/>
          <p:cNvSpPr/>
          <p:nvPr/>
        </p:nvSpPr>
        <p:spPr>
          <a:xfrm>
            <a:off x="594360" y="3639312"/>
            <a:ext cx="2011680" cy="685800"/>
          </a:xfrm>
          <a:prstGeom prst="rect">
            <a:avLst/>
          </a:prstGeom>
          <a:solidFill>
            <a:srgbClr val="27AE60"/>
          </a:solidFill>
          <a:ln/>
        </p:spPr>
        <p:txBody>
          <a:bodyPr/>
          <a:lstStyle/>
          <a:p>
            <a:endParaRPr lang="en-US"/>
          </a:p>
        </p:txBody>
      </p:sp>
      <p:sp>
        <p:nvSpPr>
          <p:cNvPr id="16" name="Text 14"/>
          <p:cNvSpPr/>
          <p:nvPr/>
        </p:nvSpPr>
        <p:spPr>
          <a:xfrm>
            <a:off x="594360" y="3685032"/>
            <a:ext cx="201168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PRESCRIPTION</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(Data Model)</a:t>
            </a:r>
            <a:endParaRPr lang="en-US" sz="1000" dirty="0"/>
          </a:p>
        </p:txBody>
      </p:sp>
      <p:sp>
        <p:nvSpPr>
          <p:cNvPr id="17" name="Text 15"/>
          <p:cNvSpPr/>
          <p:nvPr/>
        </p:nvSpPr>
        <p:spPr>
          <a:xfrm>
            <a:off x="594360" y="4005072"/>
            <a:ext cx="2011680" cy="27432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Entity used</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by system</a:t>
            </a:r>
            <a:endParaRPr lang="en-US" sz="800" dirty="0"/>
          </a:p>
        </p:txBody>
      </p:sp>
      <p:sp>
        <p:nvSpPr>
          <p:cNvPr id="18" name="Shape 16"/>
          <p:cNvSpPr/>
          <p:nvPr/>
        </p:nvSpPr>
        <p:spPr>
          <a:xfrm>
            <a:off x="457200" y="4617720"/>
            <a:ext cx="2286000" cy="182880"/>
          </a:xfrm>
          <a:prstGeom prst="rect">
            <a:avLst/>
          </a:prstGeom>
          <a:solidFill>
            <a:srgbClr val="028090"/>
          </a:solidFill>
          <a:ln/>
        </p:spPr>
        <p:txBody>
          <a:bodyPr/>
          <a:lstStyle/>
          <a:p>
            <a:endParaRPr lang="en-US"/>
          </a:p>
        </p:txBody>
      </p:sp>
      <p:sp>
        <p:nvSpPr>
          <p:cNvPr id="19" name="Text 17"/>
          <p:cNvSpPr/>
          <p:nvPr/>
        </p:nvSpPr>
        <p:spPr>
          <a:xfrm>
            <a:off x="457200" y="4617720"/>
            <a:ext cx="2286000"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Top → Down flow</a:t>
            </a:r>
            <a:endParaRPr lang="en-US" sz="800" dirty="0"/>
          </a:p>
        </p:txBody>
      </p:sp>
      <p:sp>
        <p:nvSpPr>
          <p:cNvPr id="20" name="Shape 18"/>
          <p:cNvSpPr/>
          <p:nvPr/>
        </p:nvSpPr>
        <p:spPr>
          <a:xfrm>
            <a:off x="2926080" y="1143000"/>
            <a:ext cx="5760720" cy="320040"/>
          </a:xfrm>
          <a:prstGeom prst="rect">
            <a:avLst/>
          </a:prstGeom>
          <a:solidFill>
            <a:srgbClr val="028090"/>
          </a:solidFill>
          <a:ln/>
        </p:spPr>
        <p:txBody>
          <a:bodyPr/>
          <a:lstStyle/>
          <a:p>
            <a:endParaRPr lang="en-US"/>
          </a:p>
        </p:txBody>
      </p:sp>
      <p:sp>
        <p:nvSpPr>
          <p:cNvPr id="21" name="Text 19"/>
          <p:cNvSpPr/>
          <p:nvPr/>
        </p:nvSpPr>
        <p:spPr>
          <a:xfrm>
            <a:off x="3017520" y="1143000"/>
            <a:ext cx="1097280"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Endpoint</a:t>
            </a:r>
            <a:endParaRPr lang="en-US" sz="1000" dirty="0"/>
          </a:p>
        </p:txBody>
      </p:sp>
      <p:sp>
        <p:nvSpPr>
          <p:cNvPr id="22" name="Text 20"/>
          <p:cNvSpPr/>
          <p:nvPr/>
        </p:nvSpPr>
        <p:spPr>
          <a:xfrm>
            <a:off x="4114800" y="1143000"/>
            <a:ext cx="2743200"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Test Scenario</a:t>
            </a:r>
            <a:endParaRPr lang="en-US" sz="1000" dirty="0"/>
          </a:p>
        </p:txBody>
      </p:sp>
      <p:sp>
        <p:nvSpPr>
          <p:cNvPr id="23" name="Text 21"/>
          <p:cNvSpPr/>
          <p:nvPr/>
        </p:nvSpPr>
        <p:spPr>
          <a:xfrm>
            <a:off x="6858000" y="1143000"/>
            <a:ext cx="1234440"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Expected</a:t>
            </a:r>
            <a:endParaRPr lang="en-US" sz="1000" dirty="0"/>
          </a:p>
        </p:txBody>
      </p:sp>
      <p:sp>
        <p:nvSpPr>
          <p:cNvPr id="24" name="Text 22"/>
          <p:cNvSpPr/>
          <p:nvPr/>
        </p:nvSpPr>
        <p:spPr>
          <a:xfrm>
            <a:off x="8092440" y="1143000"/>
            <a:ext cx="640080"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p>
        </p:txBody>
      </p:sp>
      <p:sp>
        <p:nvSpPr>
          <p:cNvPr id="25" name="Shape 23"/>
          <p:cNvSpPr/>
          <p:nvPr/>
        </p:nvSpPr>
        <p:spPr>
          <a:xfrm>
            <a:off x="2926080" y="1499616"/>
            <a:ext cx="1097280" cy="310896"/>
          </a:xfrm>
          <a:prstGeom prst="rect">
            <a:avLst/>
          </a:prstGeom>
          <a:solidFill>
            <a:srgbClr val="EDF2F7"/>
          </a:solidFill>
          <a:ln/>
        </p:spPr>
        <p:txBody>
          <a:bodyPr/>
          <a:lstStyle/>
          <a:p>
            <a:endParaRPr lang="en-US"/>
          </a:p>
        </p:txBody>
      </p:sp>
      <p:sp>
        <p:nvSpPr>
          <p:cNvPr id="26" name="Text 24"/>
          <p:cNvSpPr/>
          <p:nvPr/>
        </p:nvSpPr>
        <p:spPr>
          <a:xfrm>
            <a:off x="2980944" y="1499616"/>
            <a:ext cx="1024128" cy="310896"/>
          </a:xfrm>
          <a:prstGeom prst="rect">
            <a:avLst/>
          </a:prstGeom>
          <a:noFill/>
          <a:ln/>
        </p:spPr>
        <p:txBody>
          <a:bodyPr wrap="square" rtlCol="0" anchor="ctr"/>
          <a:lstStyle/>
          <a:p>
            <a:pPr marL="0" indent="0" algn="l">
              <a:buNone/>
            </a:pPr>
            <a:r>
              <a:rPr lang="en-US" sz="900" dirty="0">
                <a:solidFill>
                  <a:srgbClr val="028090"/>
                </a:solidFill>
                <a:latin typeface="Calibri" pitchFamily="34" charset="0"/>
                <a:ea typeface="Calibri" pitchFamily="34" charset="-122"/>
                <a:cs typeface="Calibri" pitchFamily="34" charset="-120"/>
              </a:rPr>
              <a:t>GET /</a:t>
            </a:r>
            <a:endParaRPr lang="en-US" sz="900" dirty="0"/>
          </a:p>
        </p:txBody>
      </p:sp>
      <p:sp>
        <p:nvSpPr>
          <p:cNvPr id="27" name="Shape 25"/>
          <p:cNvSpPr/>
          <p:nvPr/>
        </p:nvSpPr>
        <p:spPr>
          <a:xfrm>
            <a:off x="4023360" y="1499616"/>
            <a:ext cx="2743200" cy="310896"/>
          </a:xfrm>
          <a:prstGeom prst="rect">
            <a:avLst/>
          </a:prstGeom>
          <a:solidFill>
            <a:srgbClr val="EDF2F7"/>
          </a:solidFill>
          <a:ln/>
        </p:spPr>
        <p:txBody>
          <a:bodyPr/>
          <a:lstStyle/>
          <a:p>
            <a:endParaRPr lang="en-US"/>
          </a:p>
        </p:txBody>
      </p:sp>
      <p:sp>
        <p:nvSpPr>
          <p:cNvPr id="28" name="Text 26"/>
          <p:cNvSpPr/>
          <p:nvPr/>
        </p:nvSpPr>
        <p:spPr>
          <a:xfrm>
            <a:off x="4078224" y="1499616"/>
            <a:ext cx="267004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Home page loads correctly</a:t>
            </a:r>
            <a:endParaRPr lang="en-US" sz="900" dirty="0"/>
          </a:p>
        </p:txBody>
      </p:sp>
      <p:sp>
        <p:nvSpPr>
          <p:cNvPr id="29" name="Shape 27"/>
          <p:cNvSpPr/>
          <p:nvPr/>
        </p:nvSpPr>
        <p:spPr>
          <a:xfrm>
            <a:off x="6766560" y="1499616"/>
            <a:ext cx="1234440" cy="310896"/>
          </a:xfrm>
          <a:prstGeom prst="rect">
            <a:avLst/>
          </a:prstGeom>
          <a:solidFill>
            <a:srgbClr val="EDF2F7"/>
          </a:solidFill>
          <a:ln/>
        </p:spPr>
        <p:txBody>
          <a:bodyPr/>
          <a:lstStyle/>
          <a:p>
            <a:endParaRPr lang="en-US"/>
          </a:p>
        </p:txBody>
      </p:sp>
      <p:sp>
        <p:nvSpPr>
          <p:cNvPr id="30" name="Text 28"/>
          <p:cNvSpPr/>
          <p:nvPr/>
        </p:nvSpPr>
        <p:spPr>
          <a:xfrm>
            <a:off x="6821424" y="1499616"/>
            <a:ext cx="116128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view = index</a:t>
            </a:r>
            <a:endParaRPr lang="en-US" sz="900" dirty="0"/>
          </a:p>
        </p:txBody>
      </p:sp>
      <p:sp>
        <p:nvSpPr>
          <p:cNvPr id="31" name="Shape 29"/>
          <p:cNvSpPr/>
          <p:nvPr/>
        </p:nvSpPr>
        <p:spPr>
          <a:xfrm>
            <a:off x="8001000" y="1499616"/>
            <a:ext cx="640080" cy="310896"/>
          </a:xfrm>
          <a:prstGeom prst="rect">
            <a:avLst/>
          </a:prstGeom>
          <a:solidFill>
            <a:srgbClr val="EDF2F7"/>
          </a:solidFill>
          <a:ln/>
        </p:spPr>
        <p:txBody>
          <a:bodyPr/>
          <a:lstStyle/>
          <a:p>
            <a:endParaRPr lang="en-US"/>
          </a:p>
        </p:txBody>
      </p:sp>
      <p:sp>
        <p:nvSpPr>
          <p:cNvPr id="32" name="Text 30"/>
          <p:cNvSpPr/>
          <p:nvPr/>
        </p:nvSpPr>
        <p:spPr>
          <a:xfrm>
            <a:off x="8055864" y="1499616"/>
            <a:ext cx="566928" cy="310896"/>
          </a:xfrm>
          <a:prstGeom prst="rect">
            <a:avLst/>
          </a:prstGeom>
          <a:noFill/>
          <a:ln/>
        </p:spPr>
        <p:txBody>
          <a:bodyPr wrap="square" rtlCol="0" anchor="ctr"/>
          <a:lstStyle/>
          <a:p>
            <a:pPr marL="0" indent="0" algn="ctr">
              <a:buNone/>
            </a:pPr>
            <a:r>
              <a:rPr lang="en-US" sz="1200" b="1" dirty="0">
                <a:solidFill>
                  <a:srgbClr val="27AE60"/>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2926080" y="1828800"/>
            <a:ext cx="1097280" cy="310896"/>
          </a:xfrm>
          <a:prstGeom prst="rect">
            <a:avLst/>
          </a:prstGeom>
          <a:solidFill>
            <a:srgbClr val="FFFFFF"/>
          </a:solidFill>
          <a:ln/>
        </p:spPr>
        <p:txBody>
          <a:bodyPr/>
          <a:lstStyle/>
          <a:p>
            <a:endParaRPr lang="en-US"/>
          </a:p>
        </p:txBody>
      </p:sp>
      <p:sp>
        <p:nvSpPr>
          <p:cNvPr id="34" name="Text 32"/>
          <p:cNvSpPr/>
          <p:nvPr/>
        </p:nvSpPr>
        <p:spPr>
          <a:xfrm>
            <a:off x="2980944" y="1828800"/>
            <a:ext cx="1024128" cy="310896"/>
          </a:xfrm>
          <a:prstGeom prst="rect">
            <a:avLst/>
          </a:prstGeom>
          <a:noFill/>
          <a:ln/>
        </p:spPr>
        <p:txBody>
          <a:bodyPr wrap="square" rtlCol="0" anchor="ctr"/>
          <a:lstStyle/>
          <a:p>
            <a:pPr marL="0" indent="0" algn="l">
              <a:buNone/>
            </a:pPr>
            <a:r>
              <a:rPr lang="en-US" sz="900" dirty="0">
                <a:solidFill>
                  <a:srgbClr val="028090"/>
                </a:solidFill>
                <a:latin typeface="Calibri" pitchFamily="34" charset="0"/>
                <a:ea typeface="Calibri" pitchFamily="34" charset="-122"/>
                <a:cs typeface="Calibri" pitchFamily="34" charset="-120"/>
              </a:rPr>
              <a:t>POST /register</a:t>
            </a:r>
            <a:endParaRPr lang="en-US" sz="900" dirty="0"/>
          </a:p>
        </p:txBody>
      </p:sp>
      <p:sp>
        <p:nvSpPr>
          <p:cNvPr id="35" name="Shape 33"/>
          <p:cNvSpPr/>
          <p:nvPr/>
        </p:nvSpPr>
        <p:spPr>
          <a:xfrm>
            <a:off x="4023360" y="1828800"/>
            <a:ext cx="2743200" cy="310896"/>
          </a:xfrm>
          <a:prstGeom prst="rect">
            <a:avLst/>
          </a:prstGeom>
          <a:solidFill>
            <a:srgbClr val="FFFFFF"/>
          </a:solidFill>
          <a:ln/>
        </p:spPr>
        <p:txBody>
          <a:bodyPr/>
          <a:lstStyle/>
          <a:p>
            <a:endParaRPr lang="en-US"/>
          </a:p>
        </p:txBody>
      </p:sp>
      <p:sp>
        <p:nvSpPr>
          <p:cNvPr id="36" name="Text 34"/>
          <p:cNvSpPr/>
          <p:nvPr/>
        </p:nvSpPr>
        <p:spPr>
          <a:xfrm>
            <a:off x="4078224" y="1828800"/>
            <a:ext cx="267004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Valid prescription — all fields</a:t>
            </a:r>
            <a:endParaRPr lang="en-US" sz="900" dirty="0"/>
          </a:p>
        </p:txBody>
      </p:sp>
      <p:sp>
        <p:nvSpPr>
          <p:cNvPr id="37" name="Shape 35"/>
          <p:cNvSpPr/>
          <p:nvPr/>
        </p:nvSpPr>
        <p:spPr>
          <a:xfrm>
            <a:off x="6766560" y="1828800"/>
            <a:ext cx="1234440" cy="310896"/>
          </a:xfrm>
          <a:prstGeom prst="rect">
            <a:avLst/>
          </a:prstGeom>
          <a:solidFill>
            <a:srgbClr val="FFFFFF"/>
          </a:solidFill>
          <a:ln/>
        </p:spPr>
        <p:txBody>
          <a:bodyPr/>
          <a:lstStyle/>
          <a:p>
            <a:endParaRPr lang="en-US"/>
          </a:p>
        </p:txBody>
      </p:sp>
      <p:sp>
        <p:nvSpPr>
          <p:cNvPr id="38" name="Text 36"/>
          <p:cNvSpPr/>
          <p:nvPr/>
        </p:nvSpPr>
        <p:spPr>
          <a:xfrm>
            <a:off x="6821424" y="1828800"/>
            <a:ext cx="116128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success = true</a:t>
            </a:r>
            <a:endParaRPr lang="en-US" sz="900" dirty="0"/>
          </a:p>
        </p:txBody>
      </p:sp>
      <p:sp>
        <p:nvSpPr>
          <p:cNvPr id="39" name="Shape 37"/>
          <p:cNvSpPr/>
          <p:nvPr/>
        </p:nvSpPr>
        <p:spPr>
          <a:xfrm>
            <a:off x="8001000" y="1828800"/>
            <a:ext cx="640080" cy="310896"/>
          </a:xfrm>
          <a:prstGeom prst="rect">
            <a:avLst/>
          </a:prstGeom>
          <a:solidFill>
            <a:srgbClr val="FFFFFF"/>
          </a:solidFill>
          <a:ln/>
        </p:spPr>
        <p:txBody>
          <a:bodyPr/>
          <a:lstStyle/>
          <a:p>
            <a:endParaRPr lang="en-US"/>
          </a:p>
        </p:txBody>
      </p:sp>
      <p:sp>
        <p:nvSpPr>
          <p:cNvPr id="40" name="Text 38"/>
          <p:cNvSpPr/>
          <p:nvPr/>
        </p:nvSpPr>
        <p:spPr>
          <a:xfrm>
            <a:off x="8055864" y="1828800"/>
            <a:ext cx="566928" cy="310896"/>
          </a:xfrm>
          <a:prstGeom prst="rect">
            <a:avLst/>
          </a:prstGeom>
          <a:noFill/>
          <a:ln/>
        </p:spPr>
        <p:txBody>
          <a:bodyPr wrap="square" rtlCol="0" anchor="ctr"/>
          <a:lstStyle/>
          <a:p>
            <a:pPr marL="0" indent="0" algn="ctr">
              <a:buNone/>
            </a:pPr>
            <a:r>
              <a:rPr lang="en-US" sz="1200" b="1" dirty="0">
                <a:solidFill>
                  <a:srgbClr val="27AE60"/>
                </a:solidFill>
                <a:latin typeface="Calibri" pitchFamily="34" charset="0"/>
                <a:ea typeface="Calibri" pitchFamily="34" charset="-122"/>
                <a:cs typeface="Calibri" pitchFamily="34" charset="-120"/>
              </a:rPr>
              <a:t>✓</a:t>
            </a:r>
            <a:endParaRPr lang="en-US" sz="1200" dirty="0"/>
          </a:p>
        </p:txBody>
      </p:sp>
      <p:sp>
        <p:nvSpPr>
          <p:cNvPr id="41" name="Shape 39"/>
          <p:cNvSpPr/>
          <p:nvPr/>
        </p:nvSpPr>
        <p:spPr>
          <a:xfrm>
            <a:off x="2926080" y="2157984"/>
            <a:ext cx="1097280" cy="310896"/>
          </a:xfrm>
          <a:prstGeom prst="rect">
            <a:avLst/>
          </a:prstGeom>
          <a:solidFill>
            <a:srgbClr val="EDF2F7"/>
          </a:solidFill>
          <a:ln/>
        </p:spPr>
        <p:txBody>
          <a:bodyPr/>
          <a:lstStyle/>
          <a:p>
            <a:endParaRPr lang="en-US"/>
          </a:p>
        </p:txBody>
      </p:sp>
      <p:sp>
        <p:nvSpPr>
          <p:cNvPr id="42" name="Text 40"/>
          <p:cNvSpPr/>
          <p:nvPr/>
        </p:nvSpPr>
        <p:spPr>
          <a:xfrm>
            <a:off x="2980944" y="2157984"/>
            <a:ext cx="1024128" cy="310896"/>
          </a:xfrm>
          <a:prstGeom prst="rect">
            <a:avLst/>
          </a:prstGeom>
          <a:noFill/>
          <a:ln/>
        </p:spPr>
        <p:txBody>
          <a:bodyPr wrap="square" rtlCol="0" anchor="ctr"/>
          <a:lstStyle/>
          <a:p>
            <a:pPr marL="0" indent="0" algn="l">
              <a:buNone/>
            </a:pPr>
            <a:r>
              <a:rPr lang="en-US" sz="900" dirty="0">
                <a:solidFill>
                  <a:srgbClr val="028090"/>
                </a:solidFill>
                <a:latin typeface="Calibri" pitchFamily="34" charset="0"/>
                <a:ea typeface="Calibri" pitchFamily="34" charset="-122"/>
                <a:cs typeface="Calibri" pitchFamily="34" charset="-120"/>
              </a:rPr>
              <a:t>POST /register</a:t>
            </a:r>
            <a:endParaRPr lang="en-US" sz="900" dirty="0"/>
          </a:p>
        </p:txBody>
      </p:sp>
      <p:sp>
        <p:nvSpPr>
          <p:cNvPr id="43" name="Shape 41"/>
          <p:cNvSpPr/>
          <p:nvPr/>
        </p:nvSpPr>
        <p:spPr>
          <a:xfrm>
            <a:off x="4023360" y="2157984"/>
            <a:ext cx="2743200" cy="310896"/>
          </a:xfrm>
          <a:prstGeom prst="rect">
            <a:avLst/>
          </a:prstGeom>
          <a:solidFill>
            <a:srgbClr val="EDF2F7"/>
          </a:solidFill>
          <a:ln/>
        </p:spPr>
        <p:txBody>
          <a:bodyPr/>
          <a:lstStyle/>
          <a:p>
            <a:endParaRPr lang="en-US"/>
          </a:p>
        </p:txBody>
      </p:sp>
      <p:sp>
        <p:nvSpPr>
          <p:cNvPr id="44" name="Text 42"/>
          <p:cNvSpPr/>
          <p:nvPr/>
        </p:nvSpPr>
        <p:spPr>
          <a:xfrm>
            <a:off x="4078224" y="2157984"/>
            <a:ext cx="267004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Empty ID → error</a:t>
            </a:r>
            <a:endParaRPr lang="en-US" sz="900" dirty="0"/>
          </a:p>
        </p:txBody>
      </p:sp>
      <p:sp>
        <p:nvSpPr>
          <p:cNvPr id="45" name="Shape 43"/>
          <p:cNvSpPr/>
          <p:nvPr/>
        </p:nvSpPr>
        <p:spPr>
          <a:xfrm>
            <a:off x="6766560" y="2157984"/>
            <a:ext cx="1234440" cy="310896"/>
          </a:xfrm>
          <a:prstGeom prst="rect">
            <a:avLst/>
          </a:prstGeom>
          <a:solidFill>
            <a:srgbClr val="EDF2F7"/>
          </a:solidFill>
          <a:ln/>
        </p:spPr>
        <p:txBody>
          <a:bodyPr/>
          <a:lstStyle/>
          <a:p>
            <a:endParaRPr lang="en-US"/>
          </a:p>
        </p:txBody>
      </p:sp>
      <p:sp>
        <p:nvSpPr>
          <p:cNvPr id="46" name="Text 44"/>
          <p:cNvSpPr/>
          <p:nvPr/>
        </p:nvSpPr>
        <p:spPr>
          <a:xfrm>
            <a:off x="6821424" y="2157984"/>
            <a:ext cx="116128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success = false</a:t>
            </a:r>
            <a:endParaRPr lang="en-US" sz="900" dirty="0"/>
          </a:p>
        </p:txBody>
      </p:sp>
      <p:sp>
        <p:nvSpPr>
          <p:cNvPr id="47" name="Shape 45"/>
          <p:cNvSpPr/>
          <p:nvPr/>
        </p:nvSpPr>
        <p:spPr>
          <a:xfrm>
            <a:off x="8001000" y="2157984"/>
            <a:ext cx="640080" cy="310896"/>
          </a:xfrm>
          <a:prstGeom prst="rect">
            <a:avLst/>
          </a:prstGeom>
          <a:solidFill>
            <a:srgbClr val="EDF2F7"/>
          </a:solidFill>
          <a:ln/>
        </p:spPr>
        <p:txBody>
          <a:bodyPr/>
          <a:lstStyle/>
          <a:p>
            <a:endParaRPr lang="en-US"/>
          </a:p>
        </p:txBody>
      </p:sp>
      <p:sp>
        <p:nvSpPr>
          <p:cNvPr id="48" name="Text 46"/>
          <p:cNvSpPr/>
          <p:nvPr/>
        </p:nvSpPr>
        <p:spPr>
          <a:xfrm>
            <a:off x="8055864" y="2157984"/>
            <a:ext cx="566928" cy="310896"/>
          </a:xfrm>
          <a:prstGeom prst="rect">
            <a:avLst/>
          </a:prstGeom>
          <a:noFill/>
          <a:ln/>
        </p:spPr>
        <p:txBody>
          <a:bodyPr wrap="square" rtlCol="0" anchor="ctr"/>
          <a:lstStyle/>
          <a:p>
            <a:pPr marL="0" indent="0" algn="ctr">
              <a:buNone/>
            </a:pPr>
            <a:r>
              <a:rPr lang="en-US" sz="1200" b="1" dirty="0">
                <a:solidFill>
                  <a:srgbClr val="27AE60"/>
                </a:solidFill>
                <a:latin typeface="Calibri" pitchFamily="34" charset="0"/>
                <a:ea typeface="Calibri" pitchFamily="34" charset="-122"/>
                <a:cs typeface="Calibri" pitchFamily="34" charset="-120"/>
              </a:rPr>
              <a:t>✓</a:t>
            </a:r>
            <a:endParaRPr lang="en-US" sz="1200" dirty="0"/>
          </a:p>
        </p:txBody>
      </p:sp>
      <p:sp>
        <p:nvSpPr>
          <p:cNvPr id="49" name="Shape 47"/>
          <p:cNvSpPr/>
          <p:nvPr/>
        </p:nvSpPr>
        <p:spPr>
          <a:xfrm>
            <a:off x="2926080" y="2487168"/>
            <a:ext cx="1097280" cy="310896"/>
          </a:xfrm>
          <a:prstGeom prst="rect">
            <a:avLst/>
          </a:prstGeom>
          <a:solidFill>
            <a:srgbClr val="FFFFFF"/>
          </a:solidFill>
          <a:ln/>
        </p:spPr>
        <p:txBody>
          <a:bodyPr/>
          <a:lstStyle/>
          <a:p>
            <a:endParaRPr lang="en-US"/>
          </a:p>
        </p:txBody>
      </p:sp>
      <p:sp>
        <p:nvSpPr>
          <p:cNvPr id="50" name="Text 48"/>
          <p:cNvSpPr/>
          <p:nvPr/>
        </p:nvSpPr>
        <p:spPr>
          <a:xfrm>
            <a:off x="2980944" y="2487168"/>
            <a:ext cx="1024128" cy="310896"/>
          </a:xfrm>
          <a:prstGeom prst="rect">
            <a:avLst/>
          </a:prstGeom>
          <a:noFill/>
          <a:ln/>
        </p:spPr>
        <p:txBody>
          <a:bodyPr wrap="square" rtlCol="0" anchor="ctr"/>
          <a:lstStyle/>
          <a:p>
            <a:pPr marL="0" indent="0" algn="l">
              <a:buNone/>
            </a:pPr>
            <a:r>
              <a:rPr lang="en-US" sz="900" dirty="0">
                <a:solidFill>
                  <a:srgbClr val="028090"/>
                </a:solidFill>
                <a:latin typeface="Calibri" pitchFamily="34" charset="0"/>
                <a:ea typeface="Calibri" pitchFamily="34" charset="-122"/>
                <a:cs typeface="Calibri" pitchFamily="34" charset="-120"/>
              </a:rPr>
              <a:t>POST /dosage</a:t>
            </a:r>
            <a:endParaRPr lang="en-US" sz="900" dirty="0"/>
          </a:p>
        </p:txBody>
      </p:sp>
      <p:sp>
        <p:nvSpPr>
          <p:cNvPr id="51" name="Shape 49"/>
          <p:cNvSpPr/>
          <p:nvPr/>
        </p:nvSpPr>
        <p:spPr>
          <a:xfrm>
            <a:off x="4023360" y="2487168"/>
            <a:ext cx="2743200" cy="310896"/>
          </a:xfrm>
          <a:prstGeom prst="rect">
            <a:avLst/>
          </a:prstGeom>
          <a:solidFill>
            <a:srgbClr val="FFFFFF"/>
          </a:solidFill>
          <a:ln/>
        </p:spPr>
        <p:txBody>
          <a:bodyPr/>
          <a:lstStyle/>
          <a:p>
            <a:endParaRPr lang="en-US"/>
          </a:p>
        </p:txBody>
      </p:sp>
      <p:sp>
        <p:nvSpPr>
          <p:cNvPr id="52" name="Text 50"/>
          <p:cNvSpPr/>
          <p:nvPr/>
        </p:nvSpPr>
        <p:spPr>
          <a:xfrm>
            <a:off x="4078224" y="2487168"/>
            <a:ext cx="267004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Adult age 30, weight 60 → 300mg</a:t>
            </a:r>
            <a:endParaRPr lang="en-US" sz="900" dirty="0"/>
          </a:p>
        </p:txBody>
      </p:sp>
      <p:sp>
        <p:nvSpPr>
          <p:cNvPr id="53" name="Shape 51"/>
          <p:cNvSpPr/>
          <p:nvPr/>
        </p:nvSpPr>
        <p:spPr>
          <a:xfrm>
            <a:off x="6766560" y="2487168"/>
            <a:ext cx="1234440" cy="310896"/>
          </a:xfrm>
          <a:prstGeom prst="rect">
            <a:avLst/>
          </a:prstGeom>
          <a:solidFill>
            <a:srgbClr val="FFFFFF"/>
          </a:solidFill>
          <a:ln/>
        </p:spPr>
        <p:txBody>
          <a:bodyPr/>
          <a:lstStyle/>
          <a:p>
            <a:endParaRPr lang="en-US"/>
          </a:p>
        </p:txBody>
      </p:sp>
      <p:sp>
        <p:nvSpPr>
          <p:cNvPr id="54" name="Text 52"/>
          <p:cNvSpPr/>
          <p:nvPr/>
        </p:nvSpPr>
        <p:spPr>
          <a:xfrm>
            <a:off x="6821424" y="2487168"/>
            <a:ext cx="116128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success = true</a:t>
            </a:r>
            <a:endParaRPr lang="en-US" sz="900" dirty="0"/>
          </a:p>
        </p:txBody>
      </p:sp>
      <p:sp>
        <p:nvSpPr>
          <p:cNvPr id="55" name="Shape 53"/>
          <p:cNvSpPr/>
          <p:nvPr/>
        </p:nvSpPr>
        <p:spPr>
          <a:xfrm>
            <a:off x="8001000" y="2487168"/>
            <a:ext cx="640080" cy="310896"/>
          </a:xfrm>
          <a:prstGeom prst="rect">
            <a:avLst/>
          </a:prstGeom>
          <a:solidFill>
            <a:srgbClr val="FFFFFF"/>
          </a:solidFill>
          <a:ln/>
        </p:spPr>
        <p:txBody>
          <a:bodyPr/>
          <a:lstStyle/>
          <a:p>
            <a:endParaRPr lang="en-US"/>
          </a:p>
        </p:txBody>
      </p:sp>
      <p:sp>
        <p:nvSpPr>
          <p:cNvPr id="56" name="Text 54"/>
          <p:cNvSpPr/>
          <p:nvPr/>
        </p:nvSpPr>
        <p:spPr>
          <a:xfrm>
            <a:off x="8055864" y="2487168"/>
            <a:ext cx="566928" cy="310896"/>
          </a:xfrm>
          <a:prstGeom prst="rect">
            <a:avLst/>
          </a:prstGeom>
          <a:noFill/>
          <a:ln/>
        </p:spPr>
        <p:txBody>
          <a:bodyPr wrap="square" rtlCol="0" anchor="ctr"/>
          <a:lstStyle/>
          <a:p>
            <a:pPr marL="0" indent="0" algn="ctr">
              <a:buNone/>
            </a:pPr>
            <a:r>
              <a:rPr lang="en-US" sz="1200" b="1" dirty="0">
                <a:solidFill>
                  <a:srgbClr val="27AE60"/>
                </a:solidFill>
                <a:latin typeface="Calibri" pitchFamily="34" charset="0"/>
                <a:ea typeface="Calibri" pitchFamily="34" charset="-122"/>
                <a:cs typeface="Calibri" pitchFamily="34" charset="-120"/>
              </a:rPr>
              <a:t>✓</a:t>
            </a:r>
            <a:endParaRPr lang="en-US" sz="1200" dirty="0"/>
          </a:p>
        </p:txBody>
      </p:sp>
      <p:sp>
        <p:nvSpPr>
          <p:cNvPr id="57" name="Shape 55"/>
          <p:cNvSpPr/>
          <p:nvPr/>
        </p:nvSpPr>
        <p:spPr>
          <a:xfrm>
            <a:off x="2926080" y="2816352"/>
            <a:ext cx="1097280" cy="310896"/>
          </a:xfrm>
          <a:prstGeom prst="rect">
            <a:avLst/>
          </a:prstGeom>
          <a:solidFill>
            <a:srgbClr val="EDF2F7"/>
          </a:solidFill>
          <a:ln/>
        </p:spPr>
        <p:txBody>
          <a:bodyPr/>
          <a:lstStyle/>
          <a:p>
            <a:endParaRPr lang="en-US"/>
          </a:p>
        </p:txBody>
      </p:sp>
      <p:sp>
        <p:nvSpPr>
          <p:cNvPr id="58" name="Text 56"/>
          <p:cNvSpPr/>
          <p:nvPr/>
        </p:nvSpPr>
        <p:spPr>
          <a:xfrm>
            <a:off x="2980944" y="2816352"/>
            <a:ext cx="1024128" cy="310896"/>
          </a:xfrm>
          <a:prstGeom prst="rect">
            <a:avLst/>
          </a:prstGeom>
          <a:noFill/>
          <a:ln/>
        </p:spPr>
        <p:txBody>
          <a:bodyPr wrap="square" rtlCol="0" anchor="ctr"/>
          <a:lstStyle/>
          <a:p>
            <a:pPr marL="0" indent="0" algn="l">
              <a:buNone/>
            </a:pPr>
            <a:r>
              <a:rPr lang="en-US" sz="900" dirty="0">
                <a:solidFill>
                  <a:srgbClr val="028090"/>
                </a:solidFill>
                <a:latin typeface="Calibri" pitchFamily="34" charset="0"/>
                <a:ea typeface="Calibri" pitchFamily="34" charset="-122"/>
                <a:cs typeface="Calibri" pitchFamily="34" charset="-120"/>
              </a:rPr>
              <a:t>POST /dosage</a:t>
            </a:r>
            <a:endParaRPr lang="en-US" sz="900" dirty="0"/>
          </a:p>
        </p:txBody>
      </p:sp>
      <p:sp>
        <p:nvSpPr>
          <p:cNvPr id="59" name="Shape 57"/>
          <p:cNvSpPr/>
          <p:nvPr/>
        </p:nvSpPr>
        <p:spPr>
          <a:xfrm>
            <a:off x="4023360" y="2816352"/>
            <a:ext cx="2743200" cy="310896"/>
          </a:xfrm>
          <a:prstGeom prst="rect">
            <a:avLst/>
          </a:prstGeom>
          <a:solidFill>
            <a:srgbClr val="EDF2F7"/>
          </a:solidFill>
          <a:ln/>
        </p:spPr>
        <p:txBody>
          <a:bodyPr/>
          <a:lstStyle/>
          <a:p>
            <a:endParaRPr lang="en-US"/>
          </a:p>
        </p:txBody>
      </p:sp>
      <p:sp>
        <p:nvSpPr>
          <p:cNvPr id="60" name="Text 58"/>
          <p:cNvSpPr/>
          <p:nvPr/>
        </p:nvSpPr>
        <p:spPr>
          <a:xfrm>
            <a:off x="4078224" y="2816352"/>
            <a:ext cx="267004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Invalid age -1 → error</a:t>
            </a:r>
            <a:endParaRPr lang="en-US" sz="900" dirty="0"/>
          </a:p>
        </p:txBody>
      </p:sp>
      <p:sp>
        <p:nvSpPr>
          <p:cNvPr id="61" name="Shape 59"/>
          <p:cNvSpPr/>
          <p:nvPr/>
        </p:nvSpPr>
        <p:spPr>
          <a:xfrm>
            <a:off x="6766560" y="2816352"/>
            <a:ext cx="1234440" cy="310896"/>
          </a:xfrm>
          <a:prstGeom prst="rect">
            <a:avLst/>
          </a:prstGeom>
          <a:solidFill>
            <a:srgbClr val="EDF2F7"/>
          </a:solidFill>
          <a:ln/>
        </p:spPr>
        <p:txBody>
          <a:bodyPr/>
          <a:lstStyle/>
          <a:p>
            <a:endParaRPr lang="en-US"/>
          </a:p>
        </p:txBody>
      </p:sp>
      <p:sp>
        <p:nvSpPr>
          <p:cNvPr id="62" name="Text 60"/>
          <p:cNvSpPr/>
          <p:nvPr/>
        </p:nvSpPr>
        <p:spPr>
          <a:xfrm>
            <a:off x="6821424" y="2816352"/>
            <a:ext cx="116128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success = false</a:t>
            </a:r>
            <a:endParaRPr lang="en-US" sz="900" dirty="0"/>
          </a:p>
        </p:txBody>
      </p:sp>
      <p:sp>
        <p:nvSpPr>
          <p:cNvPr id="63" name="Shape 61"/>
          <p:cNvSpPr/>
          <p:nvPr/>
        </p:nvSpPr>
        <p:spPr>
          <a:xfrm>
            <a:off x="8001000" y="2816352"/>
            <a:ext cx="640080" cy="310896"/>
          </a:xfrm>
          <a:prstGeom prst="rect">
            <a:avLst/>
          </a:prstGeom>
          <a:solidFill>
            <a:srgbClr val="EDF2F7"/>
          </a:solidFill>
          <a:ln/>
        </p:spPr>
        <p:txBody>
          <a:bodyPr/>
          <a:lstStyle/>
          <a:p>
            <a:endParaRPr lang="en-US"/>
          </a:p>
        </p:txBody>
      </p:sp>
      <p:sp>
        <p:nvSpPr>
          <p:cNvPr id="64" name="Text 62"/>
          <p:cNvSpPr/>
          <p:nvPr/>
        </p:nvSpPr>
        <p:spPr>
          <a:xfrm>
            <a:off x="8055864" y="2816352"/>
            <a:ext cx="566928" cy="310896"/>
          </a:xfrm>
          <a:prstGeom prst="rect">
            <a:avLst/>
          </a:prstGeom>
          <a:noFill/>
          <a:ln/>
        </p:spPr>
        <p:txBody>
          <a:bodyPr wrap="square" rtlCol="0" anchor="ctr"/>
          <a:lstStyle/>
          <a:p>
            <a:pPr marL="0" indent="0" algn="ctr">
              <a:buNone/>
            </a:pPr>
            <a:r>
              <a:rPr lang="en-US" sz="1200" b="1" dirty="0">
                <a:solidFill>
                  <a:srgbClr val="27AE60"/>
                </a:solidFill>
                <a:latin typeface="Calibri" pitchFamily="34" charset="0"/>
                <a:ea typeface="Calibri" pitchFamily="34" charset="-122"/>
                <a:cs typeface="Calibri" pitchFamily="34" charset="-120"/>
              </a:rPr>
              <a:t>✓</a:t>
            </a:r>
            <a:endParaRPr lang="en-US" sz="1200" dirty="0"/>
          </a:p>
        </p:txBody>
      </p:sp>
      <p:sp>
        <p:nvSpPr>
          <p:cNvPr id="65" name="Shape 63"/>
          <p:cNvSpPr/>
          <p:nvPr/>
        </p:nvSpPr>
        <p:spPr>
          <a:xfrm>
            <a:off x="2926080" y="3145536"/>
            <a:ext cx="1097280" cy="310896"/>
          </a:xfrm>
          <a:prstGeom prst="rect">
            <a:avLst/>
          </a:prstGeom>
          <a:solidFill>
            <a:srgbClr val="FFFFFF"/>
          </a:solidFill>
          <a:ln/>
        </p:spPr>
        <p:txBody>
          <a:bodyPr/>
          <a:lstStyle/>
          <a:p>
            <a:endParaRPr lang="en-US"/>
          </a:p>
        </p:txBody>
      </p:sp>
      <p:sp>
        <p:nvSpPr>
          <p:cNvPr id="66" name="Text 64"/>
          <p:cNvSpPr/>
          <p:nvPr/>
        </p:nvSpPr>
        <p:spPr>
          <a:xfrm>
            <a:off x="2980944" y="3145536"/>
            <a:ext cx="1024128" cy="310896"/>
          </a:xfrm>
          <a:prstGeom prst="rect">
            <a:avLst/>
          </a:prstGeom>
          <a:noFill/>
          <a:ln/>
        </p:spPr>
        <p:txBody>
          <a:bodyPr wrap="square" rtlCol="0" anchor="ctr"/>
          <a:lstStyle/>
          <a:p>
            <a:pPr marL="0" indent="0" algn="l">
              <a:buNone/>
            </a:pPr>
            <a:r>
              <a:rPr lang="en-US" sz="900" dirty="0">
                <a:solidFill>
                  <a:srgbClr val="028090"/>
                </a:solidFill>
                <a:latin typeface="Calibri" pitchFamily="34" charset="0"/>
                <a:ea typeface="Calibri" pitchFamily="34" charset="-122"/>
                <a:cs typeface="Calibri" pitchFamily="34" charset="-120"/>
              </a:rPr>
              <a:t>POST /dispense</a:t>
            </a:r>
            <a:endParaRPr lang="en-US" sz="900" dirty="0"/>
          </a:p>
        </p:txBody>
      </p:sp>
      <p:sp>
        <p:nvSpPr>
          <p:cNvPr id="67" name="Shape 65"/>
          <p:cNvSpPr/>
          <p:nvPr/>
        </p:nvSpPr>
        <p:spPr>
          <a:xfrm>
            <a:off x="4023360" y="3145536"/>
            <a:ext cx="2743200" cy="310896"/>
          </a:xfrm>
          <a:prstGeom prst="rect">
            <a:avLst/>
          </a:prstGeom>
          <a:solidFill>
            <a:srgbClr val="FFFFFF"/>
          </a:solidFill>
          <a:ln/>
        </p:spPr>
        <p:txBody>
          <a:bodyPr/>
          <a:lstStyle/>
          <a:p>
            <a:endParaRPr lang="en-US"/>
          </a:p>
        </p:txBody>
      </p:sp>
      <p:sp>
        <p:nvSpPr>
          <p:cNvPr id="68" name="Text 66"/>
          <p:cNvSpPr/>
          <p:nvPr/>
        </p:nvSpPr>
        <p:spPr>
          <a:xfrm>
            <a:off x="4078224" y="3145536"/>
            <a:ext cx="267004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Valid RX → dispenses, refills-1</a:t>
            </a:r>
            <a:endParaRPr lang="en-US" sz="900" dirty="0"/>
          </a:p>
        </p:txBody>
      </p:sp>
      <p:sp>
        <p:nvSpPr>
          <p:cNvPr id="69" name="Shape 67"/>
          <p:cNvSpPr/>
          <p:nvPr/>
        </p:nvSpPr>
        <p:spPr>
          <a:xfrm>
            <a:off x="6766560" y="3145536"/>
            <a:ext cx="1234440" cy="310896"/>
          </a:xfrm>
          <a:prstGeom prst="rect">
            <a:avLst/>
          </a:prstGeom>
          <a:solidFill>
            <a:srgbClr val="FFFFFF"/>
          </a:solidFill>
          <a:ln/>
        </p:spPr>
        <p:txBody>
          <a:bodyPr/>
          <a:lstStyle/>
          <a:p>
            <a:endParaRPr lang="en-US"/>
          </a:p>
        </p:txBody>
      </p:sp>
      <p:sp>
        <p:nvSpPr>
          <p:cNvPr id="70" name="Text 68"/>
          <p:cNvSpPr/>
          <p:nvPr/>
        </p:nvSpPr>
        <p:spPr>
          <a:xfrm>
            <a:off x="6821424" y="3145536"/>
            <a:ext cx="116128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success = true</a:t>
            </a:r>
            <a:endParaRPr lang="en-US" sz="900" dirty="0"/>
          </a:p>
        </p:txBody>
      </p:sp>
      <p:sp>
        <p:nvSpPr>
          <p:cNvPr id="71" name="Shape 69"/>
          <p:cNvSpPr/>
          <p:nvPr/>
        </p:nvSpPr>
        <p:spPr>
          <a:xfrm>
            <a:off x="8001000" y="3145536"/>
            <a:ext cx="640080" cy="310896"/>
          </a:xfrm>
          <a:prstGeom prst="rect">
            <a:avLst/>
          </a:prstGeom>
          <a:solidFill>
            <a:srgbClr val="FFFFFF"/>
          </a:solidFill>
          <a:ln/>
        </p:spPr>
        <p:txBody>
          <a:bodyPr/>
          <a:lstStyle/>
          <a:p>
            <a:endParaRPr lang="en-US"/>
          </a:p>
        </p:txBody>
      </p:sp>
      <p:sp>
        <p:nvSpPr>
          <p:cNvPr id="72" name="Text 70"/>
          <p:cNvSpPr/>
          <p:nvPr/>
        </p:nvSpPr>
        <p:spPr>
          <a:xfrm>
            <a:off x="8055864" y="3145536"/>
            <a:ext cx="566928" cy="310896"/>
          </a:xfrm>
          <a:prstGeom prst="rect">
            <a:avLst/>
          </a:prstGeom>
          <a:noFill/>
          <a:ln/>
        </p:spPr>
        <p:txBody>
          <a:bodyPr wrap="square" rtlCol="0" anchor="ctr"/>
          <a:lstStyle/>
          <a:p>
            <a:pPr marL="0" indent="0" algn="ctr">
              <a:buNone/>
            </a:pPr>
            <a:r>
              <a:rPr lang="en-US" sz="1200" b="1" dirty="0">
                <a:solidFill>
                  <a:srgbClr val="27AE60"/>
                </a:solidFill>
                <a:latin typeface="Calibri" pitchFamily="34" charset="0"/>
                <a:ea typeface="Calibri" pitchFamily="34" charset="-122"/>
                <a:cs typeface="Calibri" pitchFamily="34" charset="-120"/>
              </a:rPr>
              <a:t>✓</a:t>
            </a:r>
            <a:endParaRPr lang="en-US" sz="1200" dirty="0"/>
          </a:p>
        </p:txBody>
      </p:sp>
      <p:sp>
        <p:nvSpPr>
          <p:cNvPr id="73" name="Shape 71"/>
          <p:cNvSpPr/>
          <p:nvPr/>
        </p:nvSpPr>
        <p:spPr>
          <a:xfrm>
            <a:off x="2926080" y="3474720"/>
            <a:ext cx="1097280" cy="310896"/>
          </a:xfrm>
          <a:prstGeom prst="rect">
            <a:avLst/>
          </a:prstGeom>
          <a:solidFill>
            <a:srgbClr val="EDF2F7"/>
          </a:solidFill>
          <a:ln/>
        </p:spPr>
        <p:txBody>
          <a:bodyPr/>
          <a:lstStyle/>
          <a:p>
            <a:endParaRPr lang="en-US"/>
          </a:p>
        </p:txBody>
      </p:sp>
      <p:sp>
        <p:nvSpPr>
          <p:cNvPr id="74" name="Text 72"/>
          <p:cNvSpPr/>
          <p:nvPr/>
        </p:nvSpPr>
        <p:spPr>
          <a:xfrm>
            <a:off x="2980944" y="3474720"/>
            <a:ext cx="1024128" cy="310896"/>
          </a:xfrm>
          <a:prstGeom prst="rect">
            <a:avLst/>
          </a:prstGeom>
          <a:noFill/>
          <a:ln/>
        </p:spPr>
        <p:txBody>
          <a:bodyPr wrap="square" rtlCol="0" anchor="ctr"/>
          <a:lstStyle/>
          <a:p>
            <a:pPr marL="0" indent="0" algn="l">
              <a:buNone/>
            </a:pPr>
            <a:r>
              <a:rPr lang="en-US" sz="900" dirty="0">
                <a:solidFill>
                  <a:srgbClr val="028090"/>
                </a:solidFill>
                <a:latin typeface="Calibri" pitchFamily="34" charset="0"/>
                <a:ea typeface="Calibri" pitchFamily="34" charset="-122"/>
                <a:cs typeface="Calibri" pitchFamily="34" charset="-120"/>
              </a:rPr>
              <a:t>POST /dispense</a:t>
            </a:r>
            <a:endParaRPr lang="en-US" sz="900" dirty="0"/>
          </a:p>
        </p:txBody>
      </p:sp>
      <p:sp>
        <p:nvSpPr>
          <p:cNvPr id="75" name="Shape 73"/>
          <p:cNvSpPr/>
          <p:nvPr/>
        </p:nvSpPr>
        <p:spPr>
          <a:xfrm>
            <a:off x="4023360" y="3474720"/>
            <a:ext cx="2743200" cy="310896"/>
          </a:xfrm>
          <a:prstGeom prst="rect">
            <a:avLst/>
          </a:prstGeom>
          <a:solidFill>
            <a:srgbClr val="EDF2F7"/>
          </a:solidFill>
          <a:ln/>
        </p:spPr>
        <p:txBody>
          <a:bodyPr/>
          <a:lstStyle/>
          <a:p>
            <a:endParaRPr lang="en-US"/>
          </a:p>
        </p:txBody>
      </p:sp>
      <p:sp>
        <p:nvSpPr>
          <p:cNvPr id="76" name="Text 74"/>
          <p:cNvSpPr/>
          <p:nvPr/>
        </p:nvSpPr>
        <p:spPr>
          <a:xfrm>
            <a:off x="4078224" y="3474720"/>
            <a:ext cx="267004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Unknown ID → error</a:t>
            </a:r>
            <a:endParaRPr lang="en-US" sz="900" dirty="0"/>
          </a:p>
        </p:txBody>
      </p:sp>
      <p:sp>
        <p:nvSpPr>
          <p:cNvPr id="77" name="Shape 75"/>
          <p:cNvSpPr/>
          <p:nvPr/>
        </p:nvSpPr>
        <p:spPr>
          <a:xfrm>
            <a:off x="6766560" y="3474720"/>
            <a:ext cx="1234440" cy="310896"/>
          </a:xfrm>
          <a:prstGeom prst="rect">
            <a:avLst/>
          </a:prstGeom>
          <a:solidFill>
            <a:srgbClr val="EDF2F7"/>
          </a:solidFill>
          <a:ln/>
        </p:spPr>
        <p:txBody>
          <a:bodyPr/>
          <a:lstStyle/>
          <a:p>
            <a:endParaRPr lang="en-US"/>
          </a:p>
        </p:txBody>
      </p:sp>
      <p:sp>
        <p:nvSpPr>
          <p:cNvPr id="78" name="Text 76"/>
          <p:cNvSpPr/>
          <p:nvPr/>
        </p:nvSpPr>
        <p:spPr>
          <a:xfrm>
            <a:off x="6821424" y="3474720"/>
            <a:ext cx="116128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success = false</a:t>
            </a:r>
            <a:endParaRPr lang="en-US" sz="900" dirty="0"/>
          </a:p>
        </p:txBody>
      </p:sp>
      <p:sp>
        <p:nvSpPr>
          <p:cNvPr id="79" name="Shape 77"/>
          <p:cNvSpPr/>
          <p:nvPr/>
        </p:nvSpPr>
        <p:spPr>
          <a:xfrm>
            <a:off x="8001000" y="3474720"/>
            <a:ext cx="640080" cy="310896"/>
          </a:xfrm>
          <a:prstGeom prst="rect">
            <a:avLst/>
          </a:prstGeom>
          <a:solidFill>
            <a:srgbClr val="EDF2F7"/>
          </a:solidFill>
          <a:ln/>
        </p:spPr>
        <p:txBody>
          <a:bodyPr/>
          <a:lstStyle/>
          <a:p>
            <a:endParaRPr lang="en-US"/>
          </a:p>
        </p:txBody>
      </p:sp>
      <p:sp>
        <p:nvSpPr>
          <p:cNvPr id="80" name="Text 78"/>
          <p:cNvSpPr/>
          <p:nvPr/>
        </p:nvSpPr>
        <p:spPr>
          <a:xfrm>
            <a:off x="8055864" y="3474720"/>
            <a:ext cx="566928" cy="310896"/>
          </a:xfrm>
          <a:prstGeom prst="rect">
            <a:avLst/>
          </a:prstGeom>
          <a:noFill/>
          <a:ln/>
        </p:spPr>
        <p:txBody>
          <a:bodyPr wrap="square" rtlCol="0" anchor="ctr"/>
          <a:lstStyle/>
          <a:p>
            <a:pPr marL="0" indent="0" algn="ctr">
              <a:buNone/>
            </a:pPr>
            <a:r>
              <a:rPr lang="en-US" sz="1200" b="1" dirty="0">
                <a:solidFill>
                  <a:srgbClr val="27AE60"/>
                </a:solidFill>
                <a:latin typeface="Calibri" pitchFamily="34" charset="0"/>
                <a:ea typeface="Calibri" pitchFamily="34" charset="-122"/>
                <a:cs typeface="Calibri" pitchFamily="34" charset="-120"/>
              </a:rPr>
              <a:t>✓</a:t>
            </a:r>
            <a:endParaRPr lang="en-US" sz="1200" dirty="0"/>
          </a:p>
        </p:txBody>
      </p:sp>
      <p:sp>
        <p:nvSpPr>
          <p:cNvPr id="81" name="Shape 79"/>
          <p:cNvSpPr/>
          <p:nvPr/>
        </p:nvSpPr>
        <p:spPr>
          <a:xfrm>
            <a:off x="2926080" y="3803904"/>
            <a:ext cx="1097280" cy="310896"/>
          </a:xfrm>
          <a:prstGeom prst="rect">
            <a:avLst/>
          </a:prstGeom>
          <a:solidFill>
            <a:srgbClr val="FFFFFF"/>
          </a:solidFill>
          <a:ln/>
        </p:spPr>
        <p:txBody>
          <a:bodyPr/>
          <a:lstStyle/>
          <a:p>
            <a:endParaRPr lang="en-US"/>
          </a:p>
        </p:txBody>
      </p:sp>
      <p:sp>
        <p:nvSpPr>
          <p:cNvPr id="82" name="Text 80"/>
          <p:cNvSpPr/>
          <p:nvPr/>
        </p:nvSpPr>
        <p:spPr>
          <a:xfrm>
            <a:off x="2980944" y="3803904"/>
            <a:ext cx="1024128" cy="310896"/>
          </a:xfrm>
          <a:prstGeom prst="rect">
            <a:avLst/>
          </a:prstGeom>
          <a:noFill/>
          <a:ln/>
        </p:spPr>
        <p:txBody>
          <a:bodyPr wrap="square" rtlCol="0" anchor="ctr"/>
          <a:lstStyle/>
          <a:p>
            <a:pPr marL="0" indent="0" algn="l">
              <a:buNone/>
            </a:pPr>
            <a:r>
              <a:rPr lang="en-US" sz="900" dirty="0">
                <a:solidFill>
                  <a:srgbClr val="028090"/>
                </a:solidFill>
                <a:latin typeface="Calibri" pitchFamily="34" charset="0"/>
                <a:ea typeface="Calibri" pitchFamily="34" charset="-122"/>
                <a:cs typeface="Calibri" pitchFamily="34" charset="-120"/>
              </a:rPr>
              <a:t>POST /cost</a:t>
            </a:r>
            <a:endParaRPr lang="en-US" sz="900" dirty="0"/>
          </a:p>
        </p:txBody>
      </p:sp>
      <p:sp>
        <p:nvSpPr>
          <p:cNvPr id="83" name="Shape 81"/>
          <p:cNvSpPr/>
          <p:nvPr/>
        </p:nvSpPr>
        <p:spPr>
          <a:xfrm>
            <a:off x="4023360" y="3803904"/>
            <a:ext cx="2743200" cy="310896"/>
          </a:xfrm>
          <a:prstGeom prst="rect">
            <a:avLst/>
          </a:prstGeom>
          <a:solidFill>
            <a:srgbClr val="FFFFFF"/>
          </a:solidFill>
          <a:ln/>
        </p:spPr>
        <p:txBody>
          <a:bodyPr/>
          <a:lstStyle/>
          <a:p>
            <a:endParaRPr lang="en-US"/>
          </a:p>
        </p:txBody>
      </p:sp>
      <p:sp>
        <p:nvSpPr>
          <p:cNvPr id="84" name="Text 82"/>
          <p:cNvSpPr/>
          <p:nvPr/>
        </p:nvSpPr>
        <p:spPr>
          <a:xfrm>
            <a:off x="4078224" y="3803904"/>
            <a:ext cx="267004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Adult 100mg → $70.00</a:t>
            </a:r>
            <a:endParaRPr lang="en-US" sz="900" dirty="0"/>
          </a:p>
        </p:txBody>
      </p:sp>
      <p:sp>
        <p:nvSpPr>
          <p:cNvPr id="85" name="Shape 83"/>
          <p:cNvSpPr/>
          <p:nvPr/>
        </p:nvSpPr>
        <p:spPr>
          <a:xfrm>
            <a:off x="6766560" y="3803904"/>
            <a:ext cx="1234440" cy="310896"/>
          </a:xfrm>
          <a:prstGeom prst="rect">
            <a:avLst/>
          </a:prstGeom>
          <a:solidFill>
            <a:srgbClr val="FFFFFF"/>
          </a:solidFill>
          <a:ln/>
        </p:spPr>
        <p:txBody>
          <a:bodyPr/>
          <a:lstStyle/>
          <a:p>
            <a:endParaRPr lang="en-US"/>
          </a:p>
        </p:txBody>
      </p:sp>
      <p:sp>
        <p:nvSpPr>
          <p:cNvPr id="86" name="Text 84"/>
          <p:cNvSpPr/>
          <p:nvPr/>
        </p:nvSpPr>
        <p:spPr>
          <a:xfrm>
            <a:off x="6821424" y="3803904"/>
            <a:ext cx="116128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success = true</a:t>
            </a:r>
            <a:endParaRPr lang="en-US" sz="900" dirty="0"/>
          </a:p>
        </p:txBody>
      </p:sp>
      <p:sp>
        <p:nvSpPr>
          <p:cNvPr id="87" name="Shape 85"/>
          <p:cNvSpPr/>
          <p:nvPr/>
        </p:nvSpPr>
        <p:spPr>
          <a:xfrm>
            <a:off x="8001000" y="3803904"/>
            <a:ext cx="640080" cy="310896"/>
          </a:xfrm>
          <a:prstGeom prst="rect">
            <a:avLst/>
          </a:prstGeom>
          <a:solidFill>
            <a:srgbClr val="FFFFFF"/>
          </a:solidFill>
          <a:ln/>
        </p:spPr>
        <p:txBody>
          <a:bodyPr/>
          <a:lstStyle/>
          <a:p>
            <a:endParaRPr lang="en-US"/>
          </a:p>
        </p:txBody>
      </p:sp>
      <p:sp>
        <p:nvSpPr>
          <p:cNvPr id="88" name="Text 86"/>
          <p:cNvSpPr/>
          <p:nvPr/>
        </p:nvSpPr>
        <p:spPr>
          <a:xfrm>
            <a:off x="8055864" y="3803904"/>
            <a:ext cx="566928" cy="310896"/>
          </a:xfrm>
          <a:prstGeom prst="rect">
            <a:avLst/>
          </a:prstGeom>
          <a:noFill/>
          <a:ln/>
        </p:spPr>
        <p:txBody>
          <a:bodyPr wrap="square" rtlCol="0" anchor="ctr"/>
          <a:lstStyle/>
          <a:p>
            <a:pPr marL="0" indent="0" algn="ctr">
              <a:buNone/>
            </a:pPr>
            <a:r>
              <a:rPr lang="en-US" sz="1200" b="1" dirty="0">
                <a:solidFill>
                  <a:srgbClr val="27AE60"/>
                </a:solidFill>
                <a:latin typeface="Calibri" pitchFamily="34" charset="0"/>
                <a:ea typeface="Calibri" pitchFamily="34" charset="-122"/>
                <a:cs typeface="Calibri" pitchFamily="34" charset="-120"/>
              </a:rPr>
              <a:t>✓</a:t>
            </a:r>
            <a:endParaRPr lang="en-US" sz="1200" dirty="0"/>
          </a:p>
        </p:txBody>
      </p:sp>
      <p:sp>
        <p:nvSpPr>
          <p:cNvPr id="89" name="Shape 87"/>
          <p:cNvSpPr/>
          <p:nvPr/>
        </p:nvSpPr>
        <p:spPr>
          <a:xfrm>
            <a:off x="2926080" y="4133088"/>
            <a:ext cx="1097280" cy="310896"/>
          </a:xfrm>
          <a:prstGeom prst="rect">
            <a:avLst/>
          </a:prstGeom>
          <a:solidFill>
            <a:srgbClr val="EDF2F7"/>
          </a:solidFill>
          <a:ln/>
        </p:spPr>
        <p:txBody>
          <a:bodyPr/>
          <a:lstStyle/>
          <a:p>
            <a:endParaRPr lang="en-US"/>
          </a:p>
        </p:txBody>
      </p:sp>
      <p:sp>
        <p:nvSpPr>
          <p:cNvPr id="90" name="Text 88"/>
          <p:cNvSpPr/>
          <p:nvPr/>
        </p:nvSpPr>
        <p:spPr>
          <a:xfrm>
            <a:off x="2980944" y="4133088"/>
            <a:ext cx="1024128" cy="310896"/>
          </a:xfrm>
          <a:prstGeom prst="rect">
            <a:avLst/>
          </a:prstGeom>
          <a:noFill/>
          <a:ln/>
        </p:spPr>
        <p:txBody>
          <a:bodyPr wrap="square" rtlCol="0" anchor="ctr"/>
          <a:lstStyle/>
          <a:p>
            <a:pPr marL="0" indent="0" algn="l">
              <a:buNone/>
            </a:pPr>
            <a:r>
              <a:rPr lang="en-US" sz="900" dirty="0">
                <a:solidFill>
                  <a:srgbClr val="028090"/>
                </a:solidFill>
                <a:latin typeface="Calibri" pitchFamily="34" charset="0"/>
                <a:ea typeface="Calibri" pitchFamily="34" charset="-122"/>
                <a:cs typeface="Calibri" pitchFamily="34" charset="-120"/>
              </a:rPr>
              <a:t>POST /validate</a:t>
            </a:r>
            <a:endParaRPr lang="en-US" sz="900" dirty="0"/>
          </a:p>
        </p:txBody>
      </p:sp>
      <p:sp>
        <p:nvSpPr>
          <p:cNvPr id="91" name="Shape 89"/>
          <p:cNvSpPr/>
          <p:nvPr/>
        </p:nvSpPr>
        <p:spPr>
          <a:xfrm>
            <a:off x="4023360" y="4133088"/>
            <a:ext cx="2743200" cy="310896"/>
          </a:xfrm>
          <a:prstGeom prst="rect">
            <a:avLst/>
          </a:prstGeom>
          <a:solidFill>
            <a:srgbClr val="EDF2F7"/>
          </a:solidFill>
          <a:ln/>
        </p:spPr>
        <p:txBody>
          <a:bodyPr/>
          <a:lstStyle/>
          <a:p>
            <a:endParaRPr lang="en-US"/>
          </a:p>
        </p:txBody>
      </p:sp>
      <p:sp>
        <p:nvSpPr>
          <p:cNvPr id="92" name="Text 90"/>
          <p:cNvSpPr/>
          <p:nvPr/>
        </p:nvSpPr>
        <p:spPr>
          <a:xfrm>
            <a:off x="4078224" y="4133088"/>
            <a:ext cx="267004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Valid prescription → true</a:t>
            </a:r>
            <a:endParaRPr lang="en-US" sz="900" dirty="0"/>
          </a:p>
        </p:txBody>
      </p:sp>
      <p:sp>
        <p:nvSpPr>
          <p:cNvPr id="93" name="Shape 91"/>
          <p:cNvSpPr/>
          <p:nvPr/>
        </p:nvSpPr>
        <p:spPr>
          <a:xfrm>
            <a:off x="6766560" y="4133088"/>
            <a:ext cx="1234440" cy="310896"/>
          </a:xfrm>
          <a:prstGeom prst="rect">
            <a:avLst/>
          </a:prstGeom>
          <a:solidFill>
            <a:srgbClr val="EDF2F7"/>
          </a:solidFill>
          <a:ln/>
        </p:spPr>
        <p:txBody>
          <a:bodyPr/>
          <a:lstStyle/>
          <a:p>
            <a:endParaRPr lang="en-US"/>
          </a:p>
        </p:txBody>
      </p:sp>
      <p:sp>
        <p:nvSpPr>
          <p:cNvPr id="94" name="Text 92"/>
          <p:cNvSpPr/>
          <p:nvPr/>
        </p:nvSpPr>
        <p:spPr>
          <a:xfrm>
            <a:off x="6821424" y="4133088"/>
            <a:ext cx="116128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success = true</a:t>
            </a:r>
            <a:endParaRPr lang="en-US" sz="900" dirty="0"/>
          </a:p>
        </p:txBody>
      </p:sp>
      <p:sp>
        <p:nvSpPr>
          <p:cNvPr id="95" name="Shape 93"/>
          <p:cNvSpPr/>
          <p:nvPr/>
        </p:nvSpPr>
        <p:spPr>
          <a:xfrm>
            <a:off x="8001000" y="4133088"/>
            <a:ext cx="640080" cy="310896"/>
          </a:xfrm>
          <a:prstGeom prst="rect">
            <a:avLst/>
          </a:prstGeom>
          <a:solidFill>
            <a:srgbClr val="EDF2F7"/>
          </a:solidFill>
          <a:ln/>
        </p:spPr>
        <p:txBody>
          <a:bodyPr/>
          <a:lstStyle/>
          <a:p>
            <a:endParaRPr lang="en-US"/>
          </a:p>
        </p:txBody>
      </p:sp>
      <p:sp>
        <p:nvSpPr>
          <p:cNvPr id="96" name="Text 94"/>
          <p:cNvSpPr/>
          <p:nvPr/>
        </p:nvSpPr>
        <p:spPr>
          <a:xfrm>
            <a:off x="8055864" y="4133088"/>
            <a:ext cx="566928" cy="310896"/>
          </a:xfrm>
          <a:prstGeom prst="rect">
            <a:avLst/>
          </a:prstGeom>
          <a:noFill/>
          <a:ln/>
        </p:spPr>
        <p:txBody>
          <a:bodyPr wrap="square" rtlCol="0" anchor="ctr"/>
          <a:lstStyle/>
          <a:p>
            <a:pPr marL="0" indent="0" algn="ctr">
              <a:buNone/>
            </a:pPr>
            <a:r>
              <a:rPr lang="en-US" sz="1200" b="1" dirty="0">
                <a:solidFill>
                  <a:srgbClr val="27AE60"/>
                </a:solidFill>
                <a:latin typeface="Calibri" pitchFamily="34" charset="0"/>
                <a:ea typeface="Calibri" pitchFamily="34" charset="-122"/>
                <a:cs typeface="Calibri" pitchFamily="34" charset="-120"/>
              </a:rPr>
              <a:t>✓</a:t>
            </a:r>
            <a:endParaRPr lang="en-US" sz="1200" dirty="0"/>
          </a:p>
        </p:txBody>
      </p:sp>
      <p:sp>
        <p:nvSpPr>
          <p:cNvPr id="97" name="Shape 95"/>
          <p:cNvSpPr/>
          <p:nvPr/>
        </p:nvSpPr>
        <p:spPr>
          <a:xfrm>
            <a:off x="2926080" y="4462272"/>
            <a:ext cx="1097280" cy="310896"/>
          </a:xfrm>
          <a:prstGeom prst="rect">
            <a:avLst/>
          </a:prstGeom>
          <a:solidFill>
            <a:srgbClr val="FFFFFF"/>
          </a:solidFill>
          <a:ln/>
        </p:spPr>
        <p:txBody>
          <a:bodyPr/>
          <a:lstStyle/>
          <a:p>
            <a:endParaRPr lang="en-US"/>
          </a:p>
        </p:txBody>
      </p:sp>
      <p:sp>
        <p:nvSpPr>
          <p:cNvPr id="98" name="Text 96"/>
          <p:cNvSpPr/>
          <p:nvPr/>
        </p:nvSpPr>
        <p:spPr>
          <a:xfrm>
            <a:off x="2980944" y="4462272"/>
            <a:ext cx="1024128" cy="310896"/>
          </a:xfrm>
          <a:prstGeom prst="rect">
            <a:avLst/>
          </a:prstGeom>
          <a:noFill/>
          <a:ln/>
        </p:spPr>
        <p:txBody>
          <a:bodyPr wrap="square" rtlCol="0" anchor="ctr"/>
          <a:lstStyle/>
          <a:p>
            <a:pPr marL="0" indent="0" algn="l">
              <a:buNone/>
            </a:pPr>
            <a:r>
              <a:rPr lang="en-US" sz="900" dirty="0">
                <a:solidFill>
                  <a:srgbClr val="028090"/>
                </a:solidFill>
                <a:latin typeface="Calibri" pitchFamily="34" charset="0"/>
                <a:ea typeface="Calibri" pitchFamily="34" charset="-122"/>
                <a:cs typeface="Calibri" pitchFamily="34" charset="-120"/>
              </a:rPr>
              <a:t>POST /validate</a:t>
            </a:r>
            <a:endParaRPr lang="en-US" sz="900" dirty="0"/>
          </a:p>
        </p:txBody>
      </p:sp>
      <p:sp>
        <p:nvSpPr>
          <p:cNvPr id="99" name="Shape 97"/>
          <p:cNvSpPr/>
          <p:nvPr/>
        </p:nvSpPr>
        <p:spPr>
          <a:xfrm>
            <a:off x="4023360" y="4462272"/>
            <a:ext cx="2743200" cy="310896"/>
          </a:xfrm>
          <a:prstGeom prst="rect">
            <a:avLst/>
          </a:prstGeom>
          <a:solidFill>
            <a:srgbClr val="FFFFFF"/>
          </a:solidFill>
          <a:ln/>
        </p:spPr>
        <p:txBody>
          <a:bodyPr/>
          <a:lstStyle/>
          <a:p>
            <a:endParaRPr lang="en-US"/>
          </a:p>
        </p:txBody>
      </p:sp>
      <p:sp>
        <p:nvSpPr>
          <p:cNvPr id="100" name="Text 98"/>
          <p:cNvSpPr/>
          <p:nvPr/>
        </p:nvSpPr>
        <p:spPr>
          <a:xfrm>
            <a:off x="4078224" y="4462272"/>
            <a:ext cx="267004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Zero refills → false</a:t>
            </a:r>
            <a:endParaRPr lang="en-US" sz="900" dirty="0"/>
          </a:p>
        </p:txBody>
      </p:sp>
      <p:sp>
        <p:nvSpPr>
          <p:cNvPr id="101" name="Shape 99"/>
          <p:cNvSpPr/>
          <p:nvPr/>
        </p:nvSpPr>
        <p:spPr>
          <a:xfrm>
            <a:off x="6766560" y="4462272"/>
            <a:ext cx="1234440" cy="310896"/>
          </a:xfrm>
          <a:prstGeom prst="rect">
            <a:avLst/>
          </a:prstGeom>
          <a:solidFill>
            <a:srgbClr val="FFFFFF"/>
          </a:solidFill>
          <a:ln/>
        </p:spPr>
        <p:txBody>
          <a:bodyPr/>
          <a:lstStyle/>
          <a:p>
            <a:endParaRPr lang="en-US"/>
          </a:p>
        </p:txBody>
      </p:sp>
      <p:sp>
        <p:nvSpPr>
          <p:cNvPr id="102" name="Text 100"/>
          <p:cNvSpPr/>
          <p:nvPr/>
        </p:nvSpPr>
        <p:spPr>
          <a:xfrm>
            <a:off x="6821424" y="4462272"/>
            <a:ext cx="1161288" cy="310896"/>
          </a:xfrm>
          <a:prstGeom prst="rect">
            <a:avLst/>
          </a:prstGeom>
          <a:noFill/>
          <a:ln/>
        </p:spPr>
        <p:txBody>
          <a:bodyPr wrap="square" rtlCol="0" anchor="ctr"/>
          <a:lstStyle/>
          <a:p>
            <a:pPr marL="0" indent="0" algn="l">
              <a:buNone/>
            </a:pPr>
            <a:r>
              <a:rPr lang="en-US" sz="900" dirty="0">
                <a:solidFill>
                  <a:srgbClr val="0A2540"/>
                </a:solidFill>
                <a:latin typeface="Calibri" pitchFamily="34" charset="0"/>
                <a:ea typeface="Calibri" pitchFamily="34" charset="-122"/>
                <a:cs typeface="Calibri" pitchFamily="34" charset="-120"/>
              </a:rPr>
              <a:t>success = false</a:t>
            </a:r>
            <a:endParaRPr lang="en-US" sz="900" dirty="0"/>
          </a:p>
        </p:txBody>
      </p:sp>
      <p:sp>
        <p:nvSpPr>
          <p:cNvPr id="103" name="Shape 101"/>
          <p:cNvSpPr/>
          <p:nvPr/>
        </p:nvSpPr>
        <p:spPr>
          <a:xfrm>
            <a:off x="8001000" y="4462272"/>
            <a:ext cx="640080" cy="310896"/>
          </a:xfrm>
          <a:prstGeom prst="rect">
            <a:avLst/>
          </a:prstGeom>
          <a:solidFill>
            <a:srgbClr val="FFFFFF"/>
          </a:solidFill>
          <a:ln/>
        </p:spPr>
        <p:txBody>
          <a:bodyPr/>
          <a:lstStyle/>
          <a:p>
            <a:endParaRPr lang="en-US"/>
          </a:p>
        </p:txBody>
      </p:sp>
      <p:sp>
        <p:nvSpPr>
          <p:cNvPr id="104" name="Text 102"/>
          <p:cNvSpPr/>
          <p:nvPr/>
        </p:nvSpPr>
        <p:spPr>
          <a:xfrm>
            <a:off x="8055864" y="4462272"/>
            <a:ext cx="566928" cy="310896"/>
          </a:xfrm>
          <a:prstGeom prst="rect">
            <a:avLst/>
          </a:prstGeom>
          <a:noFill/>
          <a:ln/>
        </p:spPr>
        <p:txBody>
          <a:bodyPr wrap="square" rtlCol="0" anchor="ctr"/>
          <a:lstStyle/>
          <a:p>
            <a:pPr marL="0" indent="0" algn="ctr">
              <a:buNone/>
            </a:pPr>
            <a:r>
              <a:rPr lang="en-US" sz="1200" b="1" dirty="0">
                <a:solidFill>
                  <a:srgbClr val="27AE60"/>
                </a:solidFill>
                <a:latin typeface="Calibri" pitchFamily="34" charset="0"/>
                <a:ea typeface="Calibri" pitchFamily="34" charset="-122"/>
                <a:cs typeface="Calibri" pitchFamily="34" charset="-120"/>
              </a:rPr>
              <a:t>✓</a:t>
            </a:r>
            <a:endParaRPr lang="en-US" sz="1200" dirty="0"/>
          </a:p>
        </p:txBody>
      </p:sp>
      <p:sp>
        <p:nvSpPr>
          <p:cNvPr id="105" name="Shape 103"/>
          <p:cNvSpPr/>
          <p:nvPr/>
        </p:nvSpPr>
        <p:spPr>
          <a:xfrm>
            <a:off x="2926080" y="4846320"/>
            <a:ext cx="5760720" cy="219456"/>
          </a:xfrm>
          <a:prstGeom prst="rect">
            <a:avLst/>
          </a:prstGeom>
          <a:solidFill>
            <a:srgbClr val="EAF3DE"/>
          </a:solidFill>
          <a:ln/>
        </p:spPr>
        <p:txBody>
          <a:bodyPr/>
          <a:lstStyle/>
          <a:p>
            <a:endParaRPr lang="en-US"/>
          </a:p>
        </p:txBody>
      </p:sp>
      <p:sp>
        <p:nvSpPr>
          <p:cNvPr id="106" name="Text 104"/>
          <p:cNvSpPr/>
          <p:nvPr/>
        </p:nvSpPr>
        <p:spPr>
          <a:xfrm>
            <a:off x="3063240" y="4846320"/>
            <a:ext cx="5577840" cy="219456"/>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All 16 integration tests PASS — 0 failures — BUILD SUCCESS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txBody>
          <a:bodyPr/>
          <a:lstStyle/>
          <a:p>
            <a:endParaRPr lang="en-US"/>
          </a:p>
        </p:txBody>
      </p:sp>
      <p:sp>
        <p:nvSpPr>
          <p:cNvPr id="3" name="Text 1"/>
          <p:cNvSpPr/>
          <p:nvPr/>
        </p:nvSpPr>
        <p:spPr>
          <a:xfrm>
            <a:off x="365760" y="201168"/>
            <a:ext cx="8412480" cy="50292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CI/CD Pipeline — GitHub Actions</a:t>
            </a:r>
            <a:endParaRPr lang="en-US" sz="3000" dirty="0"/>
          </a:p>
        </p:txBody>
      </p:sp>
      <p:sp>
        <p:nvSpPr>
          <p:cNvPr id="4" name="Text 2"/>
          <p:cNvSpPr/>
          <p:nvPr/>
        </p:nvSpPr>
        <p:spPr>
          <a:xfrm>
            <a:off x="365760" y="713232"/>
            <a:ext cx="8412480" cy="256032"/>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Every git push automatically compiles, tests, generates coverage, and deploys to Railway cloud</a:t>
            </a:r>
            <a:endParaRPr lang="en-US" sz="1200" dirty="0"/>
          </a:p>
        </p:txBody>
      </p:sp>
      <p:sp>
        <p:nvSpPr>
          <p:cNvPr id="5" name="Shape 3"/>
          <p:cNvSpPr/>
          <p:nvPr/>
        </p:nvSpPr>
        <p:spPr>
          <a:xfrm>
            <a:off x="320040" y="1078992"/>
            <a:ext cx="1024128" cy="777240"/>
          </a:xfrm>
          <a:prstGeom prst="rect">
            <a:avLst/>
          </a:prstGeom>
          <a:solidFill>
            <a:srgbClr val="028090"/>
          </a:solidFill>
          <a:ln/>
        </p:spPr>
        <p:txBody>
          <a:bodyPr/>
          <a:lstStyle/>
          <a:p>
            <a:endParaRPr lang="en-US"/>
          </a:p>
        </p:txBody>
      </p:sp>
      <p:sp>
        <p:nvSpPr>
          <p:cNvPr id="6" name="Text 4"/>
          <p:cNvSpPr/>
          <p:nvPr/>
        </p:nvSpPr>
        <p:spPr>
          <a:xfrm>
            <a:off x="320040" y="1115568"/>
            <a:ext cx="1024128" cy="5486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git push</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origin main</a:t>
            </a:r>
            <a:endParaRPr lang="en-US" sz="900" dirty="0"/>
          </a:p>
        </p:txBody>
      </p:sp>
      <p:sp>
        <p:nvSpPr>
          <p:cNvPr id="7" name="Shape 5"/>
          <p:cNvSpPr/>
          <p:nvPr/>
        </p:nvSpPr>
        <p:spPr>
          <a:xfrm>
            <a:off x="320040" y="1856232"/>
            <a:ext cx="1024128" cy="201168"/>
          </a:xfrm>
          <a:prstGeom prst="rect">
            <a:avLst/>
          </a:prstGeom>
          <a:solidFill>
            <a:srgbClr val="061524"/>
          </a:solidFill>
          <a:ln/>
        </p:spPr>
        <p:txBody>
          <a:bodyPr/>
          <a:lstStyle/>
          <a:p>
            <a:endParaRPr lang="en-US"/>
          </a:p>
        </p:txBody>
      </p:sp>
      <p:sp>
        <p:nvSpPr>
          <p:cNvPr id="8" name="Text 6"/>
          <p:cNvSpPr/>
          <p:nvPr/>
        </p:nvSpPr>
        <p:spPr>
          <a:xfrm>
            <a:off x="320040" y="1856232"/>
            <a:ext cx="1024128" cy="201168"/>
          </a:xfrm>
          <a:prstGeom prst="rect">
            <a:avLst/>
          </a:prstGeom>
          <a:noFill/>
          <a:ln/>
        </p:spPr>
        <p:txBody>
          <a:bodyPr wrap="square" lIns="0" tIns="0" rIns="0" bIns="0" rtlCol="0" anchor="ctr"/>
          <a:lstStyle/>
          <a:p>
            <a:pPr marL="0" indent="0" algn="ctr">
              <a:buNone/>
            </a:pPr>
            <a:r>
              <a:rPr lang="en-US" sz="750" dirty="0">
                <a:solidFill>
                  <a:srgbClr val="02C39A"/>
                </a:solidFill>
                <a:latin typeface="Calibri" pitchFamily="34" charset="0"/>
                <a:ea typeface="Calibri" pitchFamily="34" charset="-122"/>
                <a:cs typeface="Calibri" pitchFamily="34" charset="-120"/>
              </a:rPr>
              <a:t>You</a:t>
            </a:r>
            <a:endParaRPr lang="en-US" sz="750" dirty="0"/>
          </a:p>
        </p:txBody>
      </p:sp>
      <p:sp>
        <p:nvSpPr>
          <p:cNvPr id="9" name="Shape 7"/>
          <p:cNvSpPr/>
          <p:nvPr/>
        </p:nvSpPr>
        <p:spPr>
          <a:xfrm>
            <a:off x="1344168" y="1463040"/>
            <a:ext cx="91440" cy="0"/>
          </a:xfrm>
          <a:prstGeom prst="line">
            <a:avLst/>
          </a:prstGeom>
          <a:noFill/>
          <a:ln w="19050">
            <a:solidFill>
              <a:srgbClr val="CBD5E1"/>
            </a:solidFill>
            <a:prstDash val="solid"/>
          </a:ln>
        </p:spPr>
        <p:txBody>
          <a:bodyPr/>
          <a:lstStyle/>
          <a:p>
            <a:endParaRPr lang="en-US"/>
          </a:p>
        </p:txBody>
      </p:sp>
      <p:sp>
        <p:nvSpPr>
          <p:cNvPr id="10" name="Shape 8"/>
          <p:cNvSpPr/>
          <p:nvPr/>
        </p:nvSpPr>
        <p:spPr>
          <a:xfrm>
            <a:off x="1435608" y="1078992"/>
            <a:ext cx="1024128" cy="777240"/>
          </a:xfrm>
          <a:prstGeom prst="rect">
            <a:avLst/>
          </a:prstGeom>
          <a:solidFill>
            <a:srgbClr val="0D2137"/>
          </a:solidFill>
          <a:ln/>
        </p:spPr>
        <p:txBody>
          <a:bodyPr/>
          <a:lstStyle/>
          <a:p>
            <a:endParaRPr lang="en-US"/>
          </a:p>
        </p:txBody>
      </p:sp>
      <p:sp>
        <p:nvSpPr>
          <p:cNvPr id="11" name="Text 9"/>
          <p:cNvSpPr/>
          <p:nvPr/>
        </p:nvSpPr>
        <p:spPr>
          <a:xfrm>
            <a:off x="1435608" y="1115568"/>
            <a:ext cx="1024128" cy="5486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GitHub</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detects push</a:t>
            </a:r>
            <a:endParaRPr lang="en-US" sz="900" dirty="0"/>
          </a:p>
        </p:txBody>
      </p:sp>
      <p:sp>
        <p:nvSpPr>
          <p:cNvPr id="12" name="Shape 10"/>
          <p:cNvSpPr/>
          <p:nvPr/>
        </p:nvSpPr>
        <p:spPr>
          <a:xfrm>
            <a:off x="1435608" y="1856232"/>
            <a:ext cx="1024128" cy="201168"/>
          </a:xfrm>
          <a:prstGeom prst="rect">
            <a:avLst/>
          </a:prstGeom>
          <a:solidFill>
            <a:srgbClr val="061524"/>
          </a:solidFill>
          <a:ln/>
        </p:spPr>
        <p:txBody>
          <a:bodyPr/>
          <a:lstStyle/>
          <a:p>
            <a:endParaRPr lang="en-US"/>
          </a:p>
        </p:txBody>
      </p:sp>
      <p:sp>
        <p:nvSpPr>
          <p:cNvPr id="13" name="Text 11"/>
          <p:cNvSpPr/>
          <p:nvPr/>
        </p:nvSpPr>
        <p:spPr>
          <a:xfrm>
            <a:off x="1435608" y="1856232"/>
            <a:ext cx="1024128" cy="201168"/>
          </a:xfrm>
          <a:prstGeom prst="rect">
            <a:avLst/>
          </a:prstGeom>
          <a:noFill/>
          <a:ln/>
        </p:spPr>
        <p:txBody>
          <a:bodyPr wrap="square" lIns="0" tIns="0" rIns="0" bIns="0" rtlCol="0" anchor="ctr"/>
          <a:lstStyle/>
          <a:p>
            <a:pPr marL="0" indent="0" algn="ctr">
              <a:buNone/>
            </a:pPr>
            <a:r>
              <a:rPr lang="en-US" sz="750" dirty="0">
                <a:solidFill>
                  <a:srgbClr val="02C39A"/>
                </a:solidFill>
                <a:latin typeface="Calibri" pitchFamily="34" charset="0"/>
                <a:ea typeface="Calibri" pitchFamily="34" charset="-122"/>
                <a:cs typeface="Calibri" pitchFamily="34" charset="-120"/>
              </a:rPr>
              <a:t>Trigger</a:t>
            </a:r>
            <a:endParaRPr lang="en-US" sz="750" dirty="0"/>
          </a:p>
        </p:txBody>
      </p:sp>
      <p:sp>
        <p:nvSpPr>
          <p:cNvPr id="14" name="Shape 12"/>
          <p:cNvSpPr/>
          <p:nvPr/>
        </p:nvSpPr>
        <p:spPr>
          <a:xfrm>
            <a:off x="2459736" y="1463040"/>
            <a:ext cx="91440" cy="0"/>
          </a:xfrm>
          <a:prstGeom prst="line">
            <a:avLst/>
          </a:prstGeom>
          <a:noFill/>
          <a:ln w="19050">
            <a:solidFill>
              <a:srgbClr val="CBD5E1"/>
            </a:solidFill>
            <a:prstDash val="solid"/>
          </a:ln>
        </p:spPr>
        <p:txBody>
          <a:bodyPr/>
          <a:lstStyle/>
          <a:p>
            <a:endParaRPr lang="en-US"/>
          </a:p>
        </p:txBody>
      </p:sp>
      <p:sp>
        <p:nvSpPr>
          <p:cNvPr id="15" name="Shape 13"/>
          <p:cNvSpPr/>
          <p:nvPr/>
        </p:nvSpPr>
        <p:spPr>
          <a:xfrm>
            <a:off x="2551176" y="1078992"/>
            <a:ext cx="1024128" cy="777240"/>
          </a:xfrm>
          <a:prstGeom prst="rect">
            <a:avLst/>
          </a:prstGeom>
          <a:solidFill>
            <a:srgbClr val="0D2137"/>
          </a:solidFill>
          <a:ln/>
        </p:spPr>
        <p:txBody>
          <a:bodyPr/>
          <a:lstStyle/>
          <a:p>
            <a:endParaRPr lang="en-US"/>
          </a:p>
        </p:txBody>
      </p:sp>
      <p:sp>
        <p:nvSpPr>
          <p:cNvPr id="16" name="Text 14"/>
          <p:cNvSpPr/>
          <p:nvPr/>
        </p:nvSpPr>
        <p:spPr>
          <a:xfrm>
            <a:off x="2551176" y="1115568"/>
            <a:ext cx="1024128" cy="5486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Fresh Ubuntu</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server spun up</a:t>
            </a:r>
            <a:endParaRPr lang="en-US" sz="900" dirty="0"/>
          </a:p>
        </p:txBody>
      </p:sp>
      <p:sp>
        <p:nvSpPr>
          <p:cNvPr id="17" name="Shape 15"/>
          <p:cNvSpPr/>
          <p:nvPr/>
        </p:nvSpPr>
        <p:spPr>
          <a:xfrm>
            <a:off x="2551176" y="1856232"/>
            <a:ext cx="1024128" cy="201168"/>
          </a:xfrm>
          <a:prstGeom prst="rect">
            <a:avLst/>
          </a:prstGeom>
          <a:solidFill>
            <a:srgbClr val="061524"/>
          </a:solidFill>
          <a:ln/>
        </p:spPr>
        <p:txBody>
          <a:bodyPr/>
          <a:lstStyle/>
          <a:p>
            <a:endParaRPr lang="en-US"/>
          </a:p>
        </p:txBody>
      </p:sp>
      <p:sp>
        <p:nvSpPr>
          <p:cNvPr id="18" name="Text 16"/>
          <p:cNvSpPr/>
          <p:nvPr/>
        </p:nvSpPr>
        <p:spPr>
          <a:xfrm>
            <a:off x="2551176" y="1856232"/>
            <a:ext cx="1024128" cy="201168"/>
          </a:xfrm>
          <a:prstGeom prst="rect">
            <a:avLst/>
          </a:prstGeom>
          <a:noFill/>
          <a:ln/>
        </p:spPr>
        <p:txBody>
          <a:bodyPr wrap="square" lIns="0" tIns="0" rIns="0" bIns="0" rtlCol="0" anchor="ctr"/>
          <a:lstStyle/>
          <a:p>
            <a:pPr marL="0" indent="0" algn="ctr">
              <a:buNone/>
            </a:pPr>
            <a:r>
              <a:rPr lang="en-US" sz="750" dirty="0">
                <a:solidFill>
                  <a:srgbClr val="02C39A"/>
                </a:solidFill>
                <a:latin typeface="Calibri" pitchFamily="34" charset="0"/>
                <a:ea typeface="Calibri" pitchFamily="34" charset="-122"/>
                <a:cs typeface="Calibri" pitchFamily="34" charset="-120"/>
              </a:rPr>
              <a:t>Step 1</a:t>
            </a:r>
            <a:endParaRPr lang="en-US" sz="750" dirty="0"/>
          </a:p>
        </p:txBody>
      </p:sp>
      <p:sp>
        <p:nvSpPr>
          <p:cNvPr id="19" name="Shape 17"/>
          <p:cNvSpPr/>
          <p:nvPr/>
        </p:nvSpPr>
        <p:spPr>
          <a:xfrm>
            <a:off x="3575304" y="1463040"/>
            <a:ext cx="91440" cy="0"/>
          </a:xfrm>
          <a:prstGeom prst="line">
            <a:avLst/>
          </a:prstGeom>
          <a:noFill/>
          <a:ln w="19050">
            <a:solidFill>
              <a:srgbClr val="CBD5E1"/>
            </a:solidFill>
            <a:prstDash val="solid"/>
          </a:ln>
        </p:spPr>
        <p:txBody>
          <a:bodyPr/>
          <a:lstStyle/>
          <a:p>
            <a:endParaRPr lang="en-US"/>
          </a:p>
        </p:txBody>
      </p:sp>
      <p:sp>
        <p:nvSpPr>
          <p:cNvPr id="20" name="Shape 18"/>
          <p:cNvSpPr/>
          <p:nvPr/>
        </p:nvSpPr>
        <p:spPr>
          <a:xfrm>
            <a:off x="3666744" y="1078992"/>
            <a:ext cx="1024128" cy="777240"/>
          </a:xfrm>
          <a:prstGeom prst="rect">
            <a:avLst/>
          </a:prstGeom>
          <a:solidFill>
            <a:srgbClr val="0D2137"/>
          </a:solidFill>
          <a:ln/>
        </p:spPr>
        <p:txBody>
          <a:bodyPr/>
          <a:lstStyle/>
          <a:p>
            <a:endParaRPr lang="en-US"/>
          </a:p>
        </p:txBody>
      </p:sp>
      <p:sp>
        <p:nvSpPr>
          <p:cNvPr id="21" name="Text 19"/>
          <p:cNvSpPr/>
          <p:nvPr/>
        </p:nvSpPr>
        <p:spPr>
          <a:xfrm>
            <a:off x="3666744" y="1115568"/>
            <a:ext cx="1024128" cy="5486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Java 21</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installed</a:t>
            </a:r>
            <a:endParaRPr lang="en-US" sz="900" dirty="0"/>
          </a:p>
        </p:txBody>
      </p:sp>
      <p:sp>
        <p:nvSpPr>
          <p:cNvPr id="22" name="Shape 20"/>
          <p:cNvSpPr/>
          <p:nvPr/>
        </p:nvSpPr>
        <p:spPr>
          <a:xfrm>
            <a:off x="3666744" y="1856232"/>
            <a:ext cx="1024128" cy="201168"/>
          </a:xfrm>
          <a:prstGeom prst="rect">
            <a:avLst/>
          </a:prstGeom>
          <a:solidFill>
            <a:srgbClr val="061524"/>
          </a:solidFill>
          <a:ln/>
        </p:spPr>
        <p:txBody>
          <a:bodyPr/>
          <a:lstStyle/>
          <a:p>
            <a:endParaRPr lang="en-US"/>
          </a:p>
        </p:txBody>
      </p:sp>
      <p:sp>
        <p:nvSpPr>
          <p:cNvPr id="23" name="Text 21"/>
          <p:cNvSpPr/>
          <p:nvPr/>
        </p:nvSpPr>
        <p:spPr>
          <a:xfrm>
            <a:off x="3666744" y="1856232"/>
            <a:ext cx="1024128" cy="201168"/>
          </a:xfrm>
          <a:prstGeom prst="rect">
            <a:avLst/>
          </a:prstGeom>
          <a:noFill/>
          <a:ln/>
        </p:spPr>
        <p:txBody>
          <a:bodyPr wrap="square" lIns="0" tIns="0" rIns="0" bIns="0" rtlCol="0" anchor="ctr"/>
          <a:lstStyle/>
          <a:p>
            <a:pPr marL="0" indent="0" algn="ctr">
              <a:buNone/>
            </a:pPr>
            <a:r>
              <a:rPr lang="en-US" sz="750" dirty="0">
                <a:solidFill>
                  <a:srgbClr val="02C39A"/>
                </a:solidFill>
                <a:latin typeface="Calibri" pitchFamily="34" charset="0"/>
                <a:ea typeface="Calibri" pitchFamily="34" charset="-122"/>
                <a:cs typeface="Calibri" pitchFamily="34" charset="-120"/>
              </a:rPr>
              <a:t>Step 2</a:t>
            </a:r>
            <a:endParaRPr lang="en-US" sz="750" dirty="0"/>
          </a:p>
        </p:txBody>
      </p:sp>
      <p:sp>
        <p:nvSpPr>
          <p:cNvPr id="24" name="Shape 22"/>
          <p:cNvSpPr/>
          <p:nvPr/>
        </p:nvSpPr>
        <p:spPr>
          <a:xfrm>
            <a:off x="4690872" y="1463040"/>
            <a:ext cx="91440" cy="0"/>
          </a:xfrm>
          <a:prstGeom prst="line">
            <a:avLst/>
          </a:prstGeom>
          <a:noFill/>
          <a:ln w="19050">
            <a:solidFill>
              <a:srgbClr val="CBD5E1"/>
            </a:solidFill>
            <a:prstDash val="solid"/>
          </a:ln>
        </p:spPr>
        <p:txBody>
          <a:bodyPr/>
          <a:lstStyle/>
          <a:p>
            <a:endParaRPr lang="en-US"/>
          </a:p>
        </p:txBody>
      </p:sp>
      <p:sp>
        <p:nvSpPr>
          <p:cNvPr id="25" name="Shape 23"/>
          <p:cNvSpPr/>
          <p:nvPr/>
        </p:nvSpPr>
        <p:spPr>
          <a:xfrm>
            <a:off x="4782312" y="1078992"/>
            <a:ext cx="1024128" cy="777240"/>
          </a:xfrm>
          <a:prstGeom prst="rect">
            <a:avLst/>
          </a:prstGeom>
          <a:solidFill>
            <a:srgbClr val="0D2137"/>
          </a:solidFill>
          <a:ln/>
        </p:spPr>
        <p:txBody>
          <a:bodyPr/>
          <a:lstStyle/>
          <a:p>
            <a:endParaRPr lang="en-US"/>
          </a:p>
        </p:txBody>
      </p:sp>
      <p:sp>
        <p:nvSpPr>
          <p:cNvPr id="26" name="Text 24"/>
          <p:cNvSpPr/>
          <p:nvPr/>
        </p:nvSpPr>
        <p:spPr>
          <a:xfrm>
            <a:off x="4782312" y="1115568"/>
            <a:ext cx="1024128" cy="5486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mvn compile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(syntax check)</a:t>
            </a:r>
            <a:endParaRPr lang="en-US" sz="900" dirty="0"/>
          </a:p>
        </p:txBody>
      </p:sp>
      <p:sp>
        <p:nvSpPr>
          <p:cNvPr id="27" name="Shape 25"/>
          <p:cNvSpPr/>
          <p:nvPr/>
        </p:nvSpPr>
        <p:spPr>
          <a:xfrm>
            <a:off x="4782312" y="1856232"/>
            <a:ext cx="1024128" cy="201168"/>
          </a:xfrm>
          <a:prstGeom prst="rect">
            <a:avLst/>
          </a:prstGeom>
          <a:solidFill>
            <a:srgbClr val="061524"/>
          </a:solidFill>
          <a:ln/>
        </p:spPr>
        <p:txBody>
          <a:bodyPr/>
          <a:lstStyle/>
          <a:p>
            <a:endParaRPr lang="en-US"/>
          </a:p>
        </p:txBody>
      </p:sp>
      <p:sp>
        <p:nvSpPr>
          <p:cNvPr id="28" name="Text 26"/>
          <p:cNvSpPr/>
          <p:nvPr/>
        </p:nvSpPr>
        <p:spPr>
          <a:xfrm>
            <a:off x="4782312" y="1856232"/>
            <a:ext cx="1024128" cy="201168"/>
          </a:xfrm>
          <a:prstGeom prst="rect">
            <a:avLst/>
          </a:prstGeom>
          <a:noFill/>
          <a:ln/>
        </p:spPr>
        <p:txBody>
          <a:bodyPr wrap="square" lIns="0" tIns="0" rIns="0" bIns="0" rtlCol="0" anchor="ctr"/>
          <a:lstStyle/>
          <a:p>
            <a:pPr marL="0" indent="0" algn="ctr">
              <a:buNone/>
            </a:pPr>
            <a:r>
              <a:rPr lang="en-US" sz="750" dirty="0">
                <a:solidFill>
                  <a:srgbClr val="02C39A"/>
                </a:solidFill>
                <a:latin typeface="Calibri" pitchFamily="34" charset="0"/>
                <a:ea typeface="Calibri" pitchFamily="34" charset="-122"/>
                <a:cs typeface="Calibri" pitchFamily="34" charset="-120"/>
              </a:rPr>
              <a:t>Step 3</a:t>
            </a:r>
            <a:endParaRPr lang="en-US" sz="750" dirty="0"/>
          </a:p>
        </p:txBody>
      </p:sp>
      <p:sp>
        <p:nvSpPr>
          <p:cNvPr id="29" name="Shape 27"/>
          <p:cNvSpPr/>
          <p:nvPr/>
        </p:nvSpPr>
        <p:spPr>
          <a:xfrm>
            <a:off x="5806440" y="1463040"/>
            <a:ext cx="91440" cy="0"/>
          </a:xfrm>
          <a:prstGeom prst="line">
            <a:avLst/>
          </a:prstGeom>
          <a:noFill/>
          <a:ln w="19050">
            <a:solidFill>
              <a:srgbClr val="CBD5E1"/>
            </a:solidFill>
            <a:prstDash val="solid"/>
          </a:ln>
        </p:spPr>
        <p:txBody>
          <a:bodyPr/>
          <a:lstStyle/>
          <a:p>
            <a:endParaRPr lang="en-US"/>
          </a:p>
        </p:txBody>
      </p:sp>
      <p:sp>
        <p:nvSpPr>
          <p:cNvPr id="30" name="Shape 28"/>
          <p:cNvSpPr/>
          <p:nvPr/>
        </p:nvSpPr>
        <p:spPr>
          <a:xfrm>
            <a:off x="5897880" y="1078992"/>
            <a:ext cx="1024128" cy="777240"/>
          </a:xfrm>
          <a:prstGeom prst="rect">
            <a:avLst/>
          </a:prstGeom>
          <a:solidFill>
            <a:srgbClr val="0D2137"/>
          </a:solidFill>
          <a:ln/>
        </p:spPr>
        <p:txBody>
          <a:bodyPr/>
          <a:lstStyle/>
          <a:p>
            <a:endParaRPr lang="en-US"/>
          </a:p>
        </p:txBody>
      </p:sp>
      <p:sp>
        <p:nvSpPr>
          <p:cNvPr id="31" name="Text 29"/>
          <p:cNvSpPr/>
          <p:nvPr/>
        </p:nvSpPr>
        <p:spPr>
          <a:xfrm>
            <a:off x="5897880" y="1115568"/>
            <a:ext cx="1024128" cy="5486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mvn test</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109 tests run</a:t>
            </a:r>
            <a:endParaRPr lang="en-US" sz="900" dirty="0"/>
          </a:p>
        </p:txBody>
      </p:sp>
      <p:sp>
        <p:nvSpPr>
          <p:cNvPr id="32" name="Shape 30"/>
          <p:cNvSpPr/>
          <p:nvPr/>
        </p:nvSpPr>
        <p:spPr>
          <a:xfrm>
            <a:off x="5897880" y="1856232"/>
            <a:ext cx="1024128" cy="201168"/>
          </a:xfrm>
          <a:prstGeom prst="rect">
            <a:avLst/>
          </a:prstGeom>
          <a:solidFill>
            <a:srgbClr val="061524"/>
          </a:solidFill>
          <a:ln/>
        </p:spPr>
        <p:txBody>
          <a:bodyPr/>
          <a:lstStyle/>
          <a:p>
            <a:endParaRPr lang="en-US"/>
          </a:p>
        </p:txBody>
      </p:sp>
      <p:sp>
        <p:nvSpPr>
          <p:cNvPr id="33" name="Text 31"/>
          <p:cNvSpPr/>
          <p:nvPr/>
        </p:nvSpPr>
        <p:spPr>
          <a:xfrm>
            <a:off x="5897880" y="1856232"/>
            <a:ext cx="1024128" cy="201168"/>
          </a:xfrm>
          <a:prstGeom prst="rect">
            <a:avLst/>
          </a:prstGeom>
          <a:noFill/>
          <a:ln/>
        </p:spPr>
        <p:txBody>
          <a:bodyPr wrap="square" lIns="0" tIns="0" rIns="0" bIns="0" rtlCol="0" anchor="ctr"/>
          <a:lstStyle/>
          <a:p>
            <a:pPr marL="0" indent="0" algn="ctr">
              <a:buNone/>
            </a:pPr>
            <a:r>
              <a:rPr lang="en-US" sz="750" dirty="0">
                <a:solidFill>
                  <a:srgbClr val="02C39A"/>
                </a:solidFill>
                <a:latin typeface="Calibri" pitchFamily="34" charset="0"/>
                <a:ea typeface="Calibri" pitchFamily="34" charset="-122"/>
                <a:cs typeface="Calibri" pitchFamily="34" charset="-120"/>
              </a:rPr>
              <a:t>Step 4</a:t>
            </a:r>
            <a:endParaRPr lang="en-US" sz="750" dirty="0"/>
          </a:p>
        </p:txBody>
      </p:sp>
      <p:sp>
        <p:nvSpPr>
          <p:cNvPr id="34" name="Shape 32"/>
          <p:cNvSpPr/>
          <p:nvPr/>
        </p:nvSpPr>
        <p:spPr>
          <a:xfrm>
            <a:off x="6922008" y="1463040"/>
            <a:ext cx="91440" cy="0"/>
          </a:xfrm>
          <a:prstGeom prst="line">
            <a:avLst/>
          </a:prstGeom>
          <a:noFill/>
          <a:ln w="19050">
            <a:solidFill>
              <a:srgbClr val="CBD5E1"/>
            </a:solidFill>
            <a:prstDash val="solid"/>
          </a:ln>
        </p:spPr>
        <p:txBody>
          <a:bodyPr/>
          <a:lstStyle/>
          <a:p>
            <a:endParaRPr lang="en-US"/>
          </a:p>
        </p:txBody>
      </p:sp>
      <p:sp>
        <p:nvSpPr>
          <p:cNvPr id="35" name="Shape 33"/>
          <p:cNvSpPr/>
          <p:nvPr/>
        </p:nvSpPr>
        <p:spPr>
          <a:xfrm>
            <a:off x="7013448" y="1078992"/>
            <a:ext cx="1024128" cy="777240"/>
          </a:xfrm>
          <a:prstGeom prst="rect">
            <a:avLst/>
          </a:prstGeom>
          <a:solidFill>
            <a:srgbClr val="0D2137"/>
          </a:solidFill>
          <a:ln/>
        </p:spPr>
        <p:txBody>
          <a:bodyPr/>
          <a:lstStyle/>
          <a:p>
            <a:endParaRPr lang="en-US"/>
          </a:p>
        </p:txBody>
      </p:sp>
      <p:sp>
        <p:nvSpPr>
          <p:cNvPr id="36" name="Text 34"/>
          <p:cNvSpPr/>
          <p:nvPr/>
        </p:nvSpPr>
        <p:spPr>
          <a:xfrm>
            <a:off x="7013448" y="1115568"/>
            <a:ext cx="1024128" cy="5486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JaCoCo</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report saved</a:t>
            </a:r>
            <a:endParaRPr lang="en-US" sz="900" dirty="0"/>
          </a:p>
        </p:txBody>
      </p:sp>
      <p:sp>
        <p:nvSpPr>
          <p:cNvPr id="37" name="Shape 35"/>
          <p:cNvSpPr/>
          <p:nvPr/>
        </p:nvSpPr>
        <p:spPr>
          <a:xfrm>
            <a:off x="7013448" y="1856232"/>
            <a:ext cx="1024128" cy="201168"/>
          </a:xfrm>
          <a:prstGeom prst="rect">
            <a:avLst/>
          </a:prstGeom>
          <a:solidFill>
            <a:srgbClr val="061524"/>
          </a:solidFill>
          <a:ln/>
        </p:spPr>
        <p:txBody>
          <a:bodyPr/>
          <a:lstStyle/>
          <a:p>
            <a:endParaRPr lang="en-US"/>
          </a:p>
        </p:txBody>
      </p:sp>
      <p:sp>
        <p:nvSpPr>
          <p:cNvPr id="38" name="Text 36"/>
          <p:cNvSpPr/>
          <p:nvPr/>
        </p:nvSpPr>
        <p:spPr>
          <a:xfrm>
            <a:off x="7013448" y="1856232"/>
            <a:ext cx="1024128" cy="201168"/>
          </a:xfrm>
          <a:prstGeom prst="rect">
            <a:avLst/>
          </a:prstGeom>
          <a:noFill/>
          <a:ln/>
        </p:spPr>
        <p:txBody>
          <a:bodyPr wrap="square" lIns="0" tIns="0" rIns="0" bIns="0" rtlCol="0" anchor="ctr"/>
          <a:lstStyle/>
          <a:p>
            <a:pPr marL="0" indent="0" algn="ctr">
              <a:buNone/>
            </a:pPr>
            <a:r>
              <a:rPr lang="en-US" sz="750" dirty="0">
                <a:solidFill>
                  <a:srgbClr val="02C39A"/>
                </a:solidFill>
                <a:latin typeface="Calibri" pitchFamily="34" charset="0"/>
                <a:ea typeface="Calibri" pitchFamily="34" charset="-122"/>
                <a:cs typeface="Calibri" pitchFamily="34" charset="-120"/>
              </a:rPr>
              <a:t>Step 5</a:t>
            </a:r>
            <a:endParaRPr lang="en-US" sz="750" dirty="0"/>
          </a:p>
        </p:txBody>
      </p:sp>
      <p:sp>
        <p:nvSpPr>
          <p:cNvPr id="39" name="Shape 37"/>
          <p:cNvSpPr/>
          <p:nvPr/>
        </p:nvSpPr>
        <p:spPr>
          <a:xfrm>
            <a:off x="8037576" y="1463040"/>
            <a:ext cx="91440" cy="0"/>
          </a:xfrm>
          <a:prstGeom prst="line">
            <a:avLst/>
          </a:prstGeom>
          <a:noFill/>
          <a:ln w="19050">
            <a:solidFill>
              <a:srgbClr val="CBD5E1"/>
            </a:solidFill>
            <a:prstDash val="solid"/>
          </a:ln>
        </p:spPr>
        <p:txBody>
          <a:bodyPr/>
          <a:lstStyle/>
          <a:p>
            <a:endParaRPr lang="en-US"/>
          </a:p>
        </p:txBody>
      </p:sp>
      <p:sp>
        <p:nvSpPr>
          <p:cNvPr id="40" name="Shape 38"/>
          <p:cNvSpPr/>
          <p:nvPr/>
        </p:nvSpPr>
        <p:spPr>
          <a:xfrm>
            <a:off x="8129016" y="1078992"/>
            <a:ext cx="1024128" cy="777240"/>
          </a:xfrm>
          <a:prstGeom prst="rect">
            <a:avLst/>
          </a:prstGeom>
          <a:solidFill>
            <a:srgbClr val="27AE60"/>
          </a:solidFill>
          <a:ln/>
        </p:spPr>
        <p:txBody>
          <a:bodyPr/>
          <a:lstStyle/>
          <a:p>
            <a:endParaRPr lang="en-US"/>
          </a:p>
        </p:txBody>
      </p:sp>
      <p:sp>
        <p:nvSpPr>
          <p:cNvPr id="41" name="Text 39"/>
          <p:cNvSpPr/>
          <p:nvPr/>
        </p:nvSpPr>
        <p:spPr>
          <a:xfrm>
            <a:off x="8129016" y="1115568"/>
            <a:ext cx="1024128" cy="5486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Railway</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deploys live</a:t>
            </a:r>
            <a:endParaRPr lang="en-US" sz="900" dirty="0"/>
          </a:p>
        </p:txBody>
      </p:sp>
      <p:sp>
        <p:nvSpPr>
          <p:cNvPr id="42" name="Shape 40"/>
          <p:cNvSpPr/>
          <p:nvPr/>
        </p:nvSpPr>
        <p:spPr>
          <a:xfrm>
            <a:off x="8129016" y="1856232"/>
            <a:ext cx="1024128" cy="201168"/>
          </a:xfrm>
          <a:prstGeom prst="rect">
            <a:avLst/>
          </a:prstGeom>
          <a:solidFill>
            <a:srgbClr val="061524"/>
          </a:solidFill>
          <a:ln/>
        </p:spPr>
        <p:txBody>
          <a:bodyPr/>
          <a:lstStyle/>
          <a:p>
            <a:endParaRPr lang="en-US"/>
          </a:p>
        </p:txBody>
      </p:sp>
      <p:sp>
        <p:nvSpPr>
          <p:cNvPr id="43" name="Text 41"/>
          <p:cNvSpPr/>
          <p:nvPr/>
        </p:nvSpPr>
        <p:spPr>
          <a:xfrm>
            <a:off x="8129016" y="1856232"/>
            <a:ext cx="1024128" cy="201168"/>
          </a:xfrm>
          <a:prstGeom prst="rect">
            <a:avLst/>
          </a:prstGeom>
          <a:noFill/>
          <a:ln/>
        </p:spPr>
        <p:txBody>
          <a:bodyPr wrap="square" lIns="0" tIns="0" rIns="0" bIns="0" rtlCol="0" anchor="ctr"/>
          <a:lstStyle/>
          <a:p>
            <a:pPr marL="0" indent="0" algn="ctr">
              <a:buNone/>
            </a:pPr>
            <a:r>
              <a:rPr lang="en-US" sz="750" dirty="0">
                <a:solidFill>
                  <a:srgbClr val="02C39A"/>
                </a:solidFill>
                <a:latin typeface="Calibri" pitchFamily="34" charset="0"/>
                <a:ea typeface="Calibri" pitchFamily="34" charset="-122"/>
                <a:cs typeface="Calibri" pitchFamily="34" charset="-120"/>
              </a:rPr>
              <a:t>LIVE!</a:t>
            </a:r>
            <a:endParaRPr lang="en-US" sz="750" dirty="0"/>
          </a:p>
        </p:txBody>
      </p:sp>
      <p:sp>
        <p:nvSpPr>
          <p:cNvPr id="44" name="Shape 42"/>
          <p:cNvSpPr/>
          <p:nvPr/>
        </p:nvSpPr>
        <p:spPr>
          <a:xfrm>
            <a:off x="365760" y="2212848"/>
            <a:ext cx="4114800" cy="868680"/>
          </a:xfrm>
          <a:prstGeom prst="rect">
            <a:avLst/>
          </a:prstGeom>
          <a:solidFill>
            <a:srgbClr val="0A3D00"/>
          </a:solidFill>
          <a:ln/>
        </p:spPr>
        <p:txBody>
          <a:bodyPr/>
          <a:lstStyle/>
          <a:p>
            <a:endParaRPr lang="en-US"/>
          </a:p>
        </p:txBody>
      </p:sp>
      <p:sp>
        <p:nvSpPr>
          <p:cNvPr id="45" name="Text 43"/>
          <p:cNvSpPr/>
          <p:nvPr/>
        </p:nvSpPr>
        <p:spPr>
          <a:xfrm>
            <a:off x="502920" y="2286000"/>
            <a:ext cx="3840480" cy="256032"/>
          </a:xfrm>
          <a:prstGeom prst="rect">
            <a:avLst/>
          </a:prstGeom>
          <a:noFill/>
          <a:ln/>
        </p:spPr>
        <p:txBody>
          <a:bodyPr wrap="square" rtlCol="0" anchor="ctr"/>
          <a:lstStyle/>
          <a:p>
            <a:pPr marL="0" indent="0">
              <a:buNone/>
            </a:pPr>
            <a:r>
              <a:rPr lang="en-US" sz="1400" b="1" dirty="0">
                <a:solidFill>
                  <a:srgbClr val="27AE60"/>
                </a:solidFill>
                <a:latin typeface="Georgia" pitchFamily="34" charset="0"/>
                <a:ea typeface="Georgia" pitchFamily="34" charset="-122"/>
                <a:cs typeface="Georgia" pitchFamily="34" charset="-120"/>
              </a:rPr>
              <a:t> ALL TESTS PASS</a:t>
            </a:r>
            <a:endParaRPr lang="en-US" sz="1400" dirty="0"/>
          </a:p>
        </p:txBody>
      </p:sp>
      <p:sp>
        <p:nvSpPr>
          <p:cNvPr id="46" name="Text 44"/>
          <p:cNvSpPr/>
          <p:nvPr/>
        </p:nvSpPr>
        <p:spPr>
          <a:xfrm>
            <a:off x="502920" y="2560320"/>
            <a:ext cx="3840480" cy="45720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GitHub shows GREEN checkmark → Railway automatically deploys the new version live</a:t>
            </a:r>
            <a:endParaRPr lang="en-US" sz="1000" dirty="0"/>
          </a:p>
        </p:txBody>
      </p:sp>
      <p:sp>
        <p:nvSpPr>
          <p:cNvPr id="47" name="Shape 45"/>
          <p:cNvSpPr/>
          <p:nvPr/>
        </p:nvSpPr>
        <p:spPr>
          <a:xfrm>
            <a:off x="4663440" y="2212848"/>
            <a:ext cx="4114800" cy="868680"/>
          </a:xfrm>
          <a:prstGeom prst="rect">
            <a:avLst/>
          </a:prstGeom>
          <a:solidFill>
            <a:srgbClr val="3D0000"/>
          </a:solidFill>
          <a:ln/>
        </p:spPr>
        <p:txBody>
          <a:bodyPr/>
          <a:lstStyle/>
          <a:p>
            <a:endParaRPr lang="en-US"/>
          </a:p>
        </p:txBody>
      </p:sp>
      <p:sp>
        <p:nvSpPr>
          <p:cNvPr id="48" name="Text 46"/>
          <p:cNvSpPr/>
          <p:nvPr/>
        </p:nvSpPr>
        <p:spPr>
          <a:xfrm>
            <a:off x="4800600" y="2286000"/>
            <a:ext cx="3840480" cy="256032"/>
          </a:xfrm>
          <a:prstGeom prst="rect">
            <a:avLst/>
          </a:prstGeom>
          <a:noFill/>
          <a:ln/>
        </p:spPr>
        <p:txBody>
          <a:bodyPr wrap="square" rtlCol="0" anchor="ctr"/>
          <a:lstStyle/>
          <a:p>
            <a:pPr marL="0" indent="0">
              <a:buNone/>
            </a:pPr>
            <a:r>
              <a:rPr lang="en-US" sz="1400" b="1" dirty="0">
                <a:solidFill>
                  <a:srgbClr val="C0392B"/>
                </a:solidFill>
                <a:latin typeface="Georgia" pitchFamily="34" charset="0"/>
                <a:ea typeface="Georgia" pitchFamily="34" charset="-122"/>
                <a:cs typeface="Georgia" pitchFamily="34" charset="-120"/>
              </a:rPr>
              <a:t> A TEST FAILS</a:t>
            </a:r>
            <a:endParaRPr lang="en-US" sz="1400" dirty="0"/>
          </a:p>
        </p:txBody>
      </p:sp>
      <p:sp>
        <p:nvSpPr>
          <p:cNvPr id="49" name="Text 47"/>
          <p:cNvSpPr/>
          <p:nvPr/>
        </p:nvSpPr>
        <p:spPr>
          <a:xfrm>
            <a:off x="4800600" y="2560320"/>
            <a:ext cx="3840480" cy="45720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GitHub shows RED → Nothing gets deployed → Developer gets notified immediately</a:t>
            </a:r>
            <a:endParaRPr lang="en-US" sz="1000" dirty="0"/>
          </a:p>
        </p:txBody>
      </p:sp>
      <p:sp>
        <p:nvSpPr>
          <p:cNvPr id="50" name="Shape 48"/>
          <p:cNvSpPr/>
          <p:nvPr/>
        </p:nvSpPr>
        <p:spPr>
          <a:xfrm>
            <a:off x="365760" y="3246120"/>
            <a:ext cx="8412480" cy="1691640"/>
          </a:xfrm>
          <a:prstGeom prst="rect">
            <a:avLst/>
          </a:prstGeom>
          <a:solidFill>
            <a:srgbClr val="0D2137"/>
          </a:solidFill>
          <a:ln/>
        </p:spPr>
        <p:txBody>
          <a:bodyPr/>
          <a:lstStyle/>
          <a:p>
            <a:endParaRPr lang="en-US"/>
          </a:p>
        </p:txBody>
      </p:sp>
      <p:sp>
        <p:nvSpPr>
          <p:cNvPr id="51" name="Text 49"/>
          <p:cNvSpPr/>
          <p:nvPr/>
        </p:nvSpPr>
        <p:spPr>
          <a:xfrm>
            <a:off x="502920" y="3310128"/>
            <a:ext cx="8046720" cy="219456"/>
          </a:xfrm>
          <a:prstGeom prst="rect">
            <a:avLst/>
          </a:prstGeom>
          <a:noFill/>
          <a:ln/>
        </p:spPr>
        <p:txBody>
          <a:bodyPr wrap="square"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.github/workflows/ci.yml — what it says:</a:t>
            </a:r>
            <a:endParaRPr lang="en-US" sz="1000" dirty="0"/>
          </a:p>
        </p:txBody>
      </p:sp>
      <p:sp>
        <p:nvSpPr>
          <p:cNvPr id="52" name="Text 50"/>
          <p:cNvSpPr/>
          <p:nvPr/>
        </p:nvSpPr>
        <p:spPr>
          <a:xfrm>
            <a:off x="502920" y="3584448"/>
            <a:ext cx="3657600" cy="201168"/>
          </a:xfrm>
          <a:prstGeom prst="rect">
            <a:avLst/>
          </a:prstGeom>
          <a:noFill/>
          <a:ln/>
        </p:spPr>
        <p:txBody>
          <a:bodyPr wrap="square" rtlCol="0" anchor="ctr"/>
          <a:lstStyle/>
          <a:p>
            <a:pPr marL="0" indent="0">
              <a:buNone/>
            </a:pPr>
            <a:r>
              <a:rPr lang="en-US" sz="900" dirty="0">
                <a:solidFill>
                  <a:srgbClr val="02C39A"/>
                </a:solidFill>
                <a:latin typeface="Calibri" pitchFamily="34" charset="0"/>
                <a:ea typeface="Calibri" pitchFamily="34" charset="-122"/>
                <a:cs typeface="Calibri" pitchFamily="34" charset="-120"/>
              </a:rPr>
              <a:t>on: push → branches: [main]</a:t>
            </a:r>
            <a:endParaRPr lang="en-US" sz="900" dirty="0"/>
          </a:p>
        </p:txBody>
      </p:sp>
      <p:sp>
        <p:nvSpPr>
          <p:cNvPr id="53" name="Text 51"/>
          <p:cNvSpPr/>
          <p:nvPr/>
        </p:nvSpPr>
        <p:spPr>
          <a:xfrm>
            <a:off x="4206240" y="3584448"/>
            <a:ext cx="4480560" cy="20116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  Run this pipeline whenever someone pushes to main branch</a:t>
            </a:r>
            <a:endParaRPr lang="en-US" sz="900" dirty="0"/>
          </a:p>
        </p:txBody>
      </p:sp>
      <p:sp>
        <p:nvSpPr>
          <p:cNvPr id="54" name="Text 52"/>
          <p:cNvSpPr/>
          <p:nvPr/>
        </p:nvSpPr>
        <p:spPr>
          <a:xfrm>
            <a:off x="502920" y="3803904"/>
            <a:ext cx="3657600" cy="201168"/>
          </a:xfrm>
          <a:prstGeom prst="rect">
            <a:avLst/>
          </a:prstGeom>
          <a:noFill/>
          <a:ln/>
        </p:spPr>
        <p:txBody>
          <a:bodyPr wrap="square" rtlCol="0" anchor="ctr"/>
          <a:lstStyle/>
          <a:p>
            <a:pPr marL="0" indent="0">
              <a:buNone/>
            </a:pPr>
            <a:r>
              <a:rPr lang="en-US" sz="900" dirty="0">
                <a:solidFill>
                  <a:srgbClr val="02C39A"/>
                </a:solidFill>
                <a:latin typeface="Calibri" pitchFamily="34" charset="0"/>
                <a:ea typeface="Calibri" pitchFamily="34" charset="-122"/>
                <a:cs typeface="Calibri" pitchFamily="34" charset="-120"/>
              </a:rPr>
              <a:t>runs-on: ubuntu-latest</a:t>
            </a:r>
            <a:endParaRPr lang="en-US" sz="900" dirty="0"/>
          </a:p>
        </p:txBody>
      </p:sp>
      <p:sp>
        <p:nvSpPr>
          <p:cNvPr id="55" name="Text 53"/>
          <p:cNvSpPr/>
          <p:nvPr/>
        </p:nvSpPr>
        <p:spPr>
          <a:xfrm>
            <a:off x="4206240" y="3803904"/>
            <a:ext cx="4480560" cy="20116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  Use a fresh Linux computer in the cloud each time</a:t>
            </a:r>
            <a:endParaRPr lang="en-US" sz="900" dirty="0"/>
          </a:p>
        </p:txBody>
      </p:sp>
      <p:sp>
        <p:nvSpPr>
          <p:cNvPr id="56" name="Text 54"/>
          <p:cNvSpPr/>
          <p:nvPr/>
        </p:nvSpPr>
        <p:spPr>
          <a:xfrm>
            <a:off x="502920" y="4023360"/>
            <a:ext cx="3657600" cy="201168"/>
          </a:xfrm>
          <a:prstGeom prst="rect">
            <a:avLst/>
          </a:prstGeom>
          <a:noFill/>
          <a:ln/>
        </p:spPr>
        <p:txBody>
          <a:bodyPr wrap="square" rtlCol="0" anchor="ctr"/>
          <a:lstStyle/>
          <a:p>
            <a:pPr marL="0" indent="0">
              <a:buNone/>
            </a:pPr>
            <a:r>
              <a:rPr lang="en-US" sz="900" dirty="0">
                <a:solidFill>
                  <a:srgbClr val="02C39A"/>
                </a:solidFill>
                <a:latin typeface="Calibri" pitchFamily="34" charset="0"/>
                <a:ea typeface="Calibri" pitchFamily="34" charset="-122"/>
                <a:cs typeface="Calibri" pitchFamily="34" charset="-120"/>
              </a:rPr>
              <a:t>actions/checkout@v4</a:t>
            </a:r>
            <a:endParaRPr lang="en-US" sz="900" dirty="0"/>
          </a:p>
        </p:txBody>
      </p:sp>
      <p:sp>
        <p:nvSpPr>
          <p:cNvPr id="57" name="Text 55"/>
          <p:cNvSpPr/>
          <p:nvPr/>
        </p:nvSpPr>
        <p:spPr>
          <a:xfrm>
            <a:off x="4206240" y="4023360"/>
            <a:ext cx="4480560" cy="20116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  Download my code onto that computer</a:t>
            </a:r>
            <a:endParaRPr lang="en-US" sz="900" dirty="0"/>
          </a:p>
        </p:txBody>
      </p:sp>
      <p:sp>
        <p:nvSpPr>
          <p:cNvPr id="58" name="Text 56"/>
          <p:cNvSpPr/>
          <p:nvPr/>
        </p:nvSpPr>
        <p:spPr>
          <a:xfrm>
            <a:off x="502920" y="4242816"/>
            <a:ext cx="3657600" cy="201168"/>
          </a:xfrm>
          <a:prstGeom prst="rect">
            <a:avLst/>
          </a:prstGeom>
          <a:noFill/>
          <a:ln/>
        </p:spPr>
        <p:txBody>
          <a:bodyPr wrap="square" rtlCol="0" anchor="ctr"/>
          <a:lstStyle/>
          <a:p>
            <a:pPr marL="0" indent="0">
              <a:buNone/>
            </a:pPr>
            <a:r>
              <a:rPr lang="en-US" sz="900" dirty="0">
                <a:solidFill>
                  <a:srgbClr val="02C39A"/>
                </a:solidFill>
                <a:latin typeface="Calibri" pitchFamily="34" charset="0"/>
                <a:ea typeface="Calibri" pitchFamily="34" charset="-122"/>
                <a:cs typeface="Calibri" pitchFamily="34" charset="-120"/>
              </a:rPr>
              <a:t>actions/setup-java@v4  java-version: 21</a:t>
            </a:r>
            <a:endParaRPr lang="en-US" sz="900" dirty="0"/>
          </a:p>
        </p:txBody>
      </p:sp>
      <p:sp>
        <p:nvSpPr>
          <p:cNvPr id="59" name="Text 57"/>
          <p:cNvSpPr/>
          <p:nvPr/>
        </p:nvSpPr>
        <p:spPr>
          <a:xfrm>
            <a:off x="4206240" y="4242816"/>
            <a:ext cx="4480560" cy="20116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  Install Java 21 on that computer</a:t>
            </a:r>
            <a:endParaRPr lang="en-US" sz="900" dirty="0"/>
          </a:p>
        </p:txBody>
      </p:sp>
      <p:sp>
        <p:nvSpPr>
          <p:cNvPr id="60" name="Text 58"/>
          <p:cNvSpPr/>
          <p:nvPr/>
        </p:nvSpPr>
        <p:spPr>
          <a:xfrm>
            <a:off x="502920" y="4462272"/>
            <a:ext cx="3657600" cy="201168"/>
          </a:xfrm>
          <a:prstGeom prst="rect">
            <a:avLst/>
          </a:prstGeom>
          <a:noFill/>
          <a:ln/>
        </p:spPr>
        <p:txBody>
          <a:bodyPr wrap="square" rtlCol="0" anchor="ctr"/>
          <a:lstStyle/>
          <a:p>
            <a:pPr marL="0" indent="0">
              <a:buNone/>
            </a:pPr>
            <a:r>
              <a:rPr lang="en-US" sz="900" dirty="0">
                <a:solidFill>
                  <a:srgbClr val="02C39A"/>
                </a:solidFill>
                <a:latin typeface="Calibri" pitchFamily="34" charset="0"/>
                <a:ea typeface="Calibri" pitchFamily="34" charset="-122"/>
                <a:cs typeface="Calibri" pitchFamily="34" charset="-120"/>
              </a:rPr>
              <a:t>mvn --batch-mode compile</a:t>
            </a:r>
            <a:endParaRPr lang="en-US" sz="900" dirty="0"/>
          </a:p>
        </p:txBody>
      </p:sp>
      <p:sp>
        <p:nvSpPr>
          <p:cNvPr id="61" name="Text 59"/>
          <p:cNvSpPr/>
          <p:nvPr/>
        </p:nvSpPr>
        <p:spPr>
          <a:xfrm>
            <a:off x="4206240" y="4462272"/>
            <a:ext cx="4480560" cy="20116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  Check my code compiles with no errors</a:t>
            </a:r>
            <a:endParaRPr lang="en-US" sz="900" dirty="0"/>
          </a:p>
        </p:txBody>
      </p:sp>
      <p:sp>
        <p:nvSpPr>
          <p:cNvPr id="62" name="Text 60"/>
          <p:cNvSpPr/>
          <p:nvPr/>
        </p:nvSpPr>
        <p:spPr>
          <a:xfrm>
            <a:off x="502920" y="4681728"/>
            <a:ext cx="3657600" cy="201168"/>
          </a:xfrm>
          <a:prstGeom prst="rect">
            <a:avLst/>
          </a:prstGeom>
          <a:noFill/>
          <a:ln/>
        </p:spPr>
        <p:txBody>
          <a:bodyPr wrap="square" rtlCol="0" anchor="ctr"/>
          <a:lstStyle/>
          <a:p>
            <a:pPr marL="0" indent="0">
              <a:buNone/>
            </a:pPr>
            <a:r>
              <a:rPr lang="en-US" sz="900" dirty="0">
                <a:solidFill>
                  <a:srgbClr val="02C39A"/>
                </a:solidFill>
                <a:latin typeface="Calibri" pitchFamily="34" charset="0"/>
                <a:ea typeface="Calibri" pitchFamily="34" charset="-122"/>
                <a:cs typeface="Calibri" pitchFamily="34" charset="-120"/>
              </a:rPr>
              <a:t>mvn --batch-mode test</a:t>
            </a:r>
            <a:endParaRPr lang="en-US" sz="900" dirty="0"/>
          </a:p>
        </p:txBody>
      </p:sp>
      <p:sp>
        <p:nvSpPr>
          <p:cNvPr id="63" name="Text 61"/>
          <p:cNvSpPr/>
          <p:nvPr/>
        </p:nvSpPr>
        <p:spPr>
          <a:xfrm>
            <a:off x="4206240" y="4681728"/>
            <a:ext cx="4480560" cy="201168"/>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  Run ALL 98 tests, fail the build if any fail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txBody>
          <a:bodyPr/>
          <a:lstStyle/>
          <a:p>
            <a:endParaRPr lang="en-US"/>
          </a:p>
        </p:txBody>
      </p:sp>
      <p:sp>
        <p:nvSpPr>
          <p:cNvPr id="3" name="Text 1"/>
          <p:cNvSpPr/>
          <p:nvPr/>
        </p:nvSpPr>
        <p:spPr>
          <a:xfrm>
            <a:off x="365760" y="201168"/>
            <a:ext cx="8412480" cy="50292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Live Demo &amp; Summary</a:t>
            </a:r>
            <a:endParaRPr lang="en-US" sz="3000" dirty="0"/>
          </a:p>
        </p:txBody>
      </p:sp>
      <p:sp>
        <p:nvSpPr>
          <p:cNvPr id="4" name="Shape 2"/>
          <p:cNvSpPr/>
          <p:nvPr/>
        </p:nvSpPr>
        <p:spPr>
          <a:xfrm>
            <a:off x="365760" y="804672"/>
            <a:ext cx="8412480" cy="347472"/>
          </a:xfrm>
          <a:prstGeom prst="rect">
            <a:avLst/>
          </a:prstGeom>
          <a:solidFill>
            <a:srgbClr val="0D2137"/>
          </a:solidFill>
          <a:ln/>
        </p:spPr>
        <p:txBody>
          <a:bodyPr/>
          <a:lstStyle/>
          <a:p>
            <a:endParaRPr lang="en-US"/>
          </a:p>
        </p:txBody>
      </p:sp>
      <p:sp>
        <p:nvSpPr>
          <p:cNvPr id="5" name="Text 3"/>
          <p:cNvSpPr/>
          <p:nvPr/>
        </p:nvSpPr>
        <p:spPr>
          <a:xfrm>
            <a:off x="502920" y="804672"/>
            <a:ext cx="1097280" cy="347472"/>
          </a:xfrm>
          <a:prstGeom prst="rect">
            <a:avLst/>
          </a:prstGeom>
          <a:noFill/>
          <a:ln/>
        </p:spPr>
        <p:txBody>
          <a:bodyPr wrap="square"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Live URL:</a:t>
            </a:r>
            <a:endParaRPr lang="en-US" sz="1000" dirty="0"/>
          </a:p>
        </p:txBody>
      </p:sp>
      <p:sp>
        <p:nvSpPr>
          <p:cNvPr id="6" name="Text 4"/>
          <p:cNvSpPr/>
          <p:nvPr/>
        </p:nvSpPr>
        <p:spPr>
          <a:xfrm>
            <a:off x="1627632" y="804672"/>
            <a:ext cx="704088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pharmacyprescriptionmanager-production.up.railway.app</a:t>
            </a:r>
            <a:endParaRPr lang="en-US" sz="1100" dirty="0"/>
          </a:p>
        </p:txBody>
      </p:sp>
      <p:sp>
        <p:nvSpPr>
          <p:cNvPr id="7" name="Shape 5"/>
          <p:cNvSpPr/>
          <p:nvPr/>
        </p:nvSpPr>
        <p:spPr>
          <a:xfrm>
            <a:off x="365760" y="1261872"/>
            <a:ext cx="329184" cy="329184"/>
          </a:xfrm>
          <a:prstGeom prst="rect">
            <a:avLst/>
          </a:prstGeom>
          <a:solidFill>
            <a:srgbClr val="028090"/>
          </a:solidFill>
          <a:ln/>
        </p:spPr>
        <p:txBody>
          <a:bodyPr/>
          <a:lstStyle/>
          <a:p>
            <a:endParaRPr lang="en-US"/>
          </a:p>
        </p:txBody>
      </p:sp>
      <p:sp>
        <p:nvSpPr>
          <p:cNvPr id="8" name="Text 6"/>
          <p:cNvSpPr/>
          <p:nvPr/>
        </p:nvSpPr>
        <p:spPr>
          <a:xfrm>
            <a:off x="365760" y="12618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a:t>
            </a:r>
            <a:endParaRPr lang="en-US" sz="1200" dirty="0"/>
          </a:p>
        </p:txBody>
      </p:sp>
      <p:sp>
        <p:nvSpPr>
          <p:cNvPr id="9" name="Text 7"/>
          <p:cNvSpPr/>
          <p:nvPr/>
        </p:nvSpPr>
        <p:spPr>
          <a:xfrm>
            <a:off x="804672" y="1271016"/>
            <a:ext cx="2468880" cy="1828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Open live web app</a:t>
            </a:r>
            <a:endParaRPr lang="en-US" sz="1100" dirty="0"/>
          </a:p>
        </p:txBody>
      </p:sp>
      <p:sp>
        <p:nvSpPr>
          <p:cNvPr id="10" name="Text 8"/>
          <p:cNvSpPr/>
          <p:nvPr/>
        </p:nvSpPr>
        <p:spPr>
          <a:xfrm>
            <a:off x="804672" y="1472184"/>
            <a:ext cx="7955280" cy="18288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Show all 5 function panels on the dashboard — each maps directly to a Java function</a:t>
            </a:r>
            <a:endParaRPr lang="en-US" sz="900" dirty="0"/>
          </a:p>
        </p:txBody>
      </p:sp>
      <p:sp>
        <p:nvSpPr>
          <p:cNvPr id="11" name="Shape 9"/>
          <p:cNvSpPr/>
          <p:nvPr/>
        </p:nvSpPr>
        <p:spPr>
          <a:xfrm>
            <a:off x="365760" y="1719072"/>
            <a:ext cx="329184" cy="329184"/>
          </a:xfrm>
          <a:prstGeom prst="rect">
            <a:avLst/>
          </a:prstGeom>
          <a:solidFill>
            <a:srgbClr val="028090"/>
          </a:solidFill>
          <a:ln/>
        </p:spPr>
        <p:txBody>
          <a:bodyPr/>
          <a:lstStyle/>
          <a:p>
            <a:endParaRPr lang="en-US"/>
          </a:p>
        </p:txBody>
      </p:sp>
      <p:sp>
        <p:nvSpPr>
          <p:cNvPr id="12" name="Text 10"/>
          <p:cNvSpPr/>
          <p:nvPr/>
        </p:nvSpPr>
        <p:spPr>
          <a:xfrm>
            <a:off x="365760" y="17190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
        <p:nvSpPr>
          <p:cNvPr id="13" name="Text 11"/>
          <p:cNvSpPr/>
          <p:nvPr/>
        </p:nvSpPr>
        <p:spPr>
          <a:xfrm>
            <a:off x="804672" y="1728216"/>
            <a:ext cx="2468880" cy="1828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Register a prescription</a:t>
            </a:r>
            <a:endParaRPr lang="en-US" sz="1100" dirty="0"/>
          </a:p>
        </p:txBody>
      </p:sp>
      <p:sp>
        <p:nvSpPr>
          <p:cNvPr id="14" name="Text 12"/>
          <p:cNvSpPr/>
          <p:nvPr/>
        </p:nvSpPr>
        <p:spPr>
          <a:xfrm>
            <a:off x="804672" y="1929384"/>
            <a:ext cx="7955280" cy="18288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Fill in: RX001, Alice Smith, age 30, weight 70kg, Amoxicillin, 250mg, 3 refills → Register</a:t>
            </a:r>
            <a:endParaRPr lang="en-US" sz="900" dirty="0"/>
          </a:p>
        </p:txBody>
      </p:sp>
      <p:sp>
        <p:nvSpPr>
          <p:cNvPr id="15" name="Shape 13"/>
          <p:cNvSpPr/>
          <p:nvPr/>
        </p:nvSpPr>
        <p:spPr>
          <a:xfrm>
            <a:off x="365760" y="2176272"/>
            <a:ext cx="329184" cy="329184"/>
          </a:xfrm>
          <a:prstGeom prst="rect">
            <a:avLst/>
          </a:prstGeom>
          <a:solidFill>
            <a:srgbClr val="028090"/>
          </a:solidFill>
          <a:ln/>
        </p:spPr>
        <p:txBody>
          <a:bodyPr/>
          <a:lstStyle/>
          <a:p>
            <a:endParaRPr lang="en-US"/>
          </a:p>
        </p:txBody>
      </p:sp>
      <p:sp>
        <p:nvSpPr>
          <p:cNvPr id="16" name="Text 14"/>
          <p:cNvSpPr/>
          <p:nvPr/>
        </p:nvSpPr>
        <p:spPr>
          <a:xfrm>
            <a:off x="365760" y="21762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
        <p:nvSpPr>
          <p:cNvPr id="17" name="Text 15"/>
          <p:cNvSpPr/>
          <p:nvPr/>
        </p:nvSpPr>
        <p:spPr>
          <a:xfrm>
            <a:off x="804672" y="2185416"/>
            <a:ext cx="2468880" cy="1828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Calculate dosage</a:t>
            </a:r>
            <a:endParaRPr lang="en-US" sz="1100" dirty="0"/>
          </a:p>
        </p:txBody>
      </p:sp>
      <p:sp>
        <p:nvSpPr>
          <p:cNvPr id="18" name="Text 16"/>
          <p:cNvSpPr/>
          <p:nvPr/>
        </p:nvSpPr>
        <p:spPr>
          <a:xfrm>
            <a:off x="804672" y="2386584"/>
            <a:ext cx="7955280" cy="18288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Enter age 30, weight 70 → system returns 350mg (5.0 × 70 = adult rate)</a:t>
            </a:r>
            <a:endParaRPr lang="en-US" sz="900" dirty="0"/>
          </a:p>
        </p:txBody>
      </p:sp>
      <p:sp>
        <p:nvSpPr>
          <p:cNvPr id="19" name="Shape 17"/>
          <p:cNvSpPr/>
          <p:nvPr/>
        </p:nvSpPr>
        <p:spPr>
          <a:xfrm>
            <a:off x="365760" y="2633472"/>
            <a:ext cx="329184" cy="329184"/>
          </a:xfrm>
          <a:prstGeom prst="rect">
            <a:avLst/>
          </a:prstGeom>
          <a:solidFill>
            <a:srgbClr val="028090"/>
          </a:solidFill>
          <a:ln/>
        </p:spPr>
        <p:txBody>
          <a:bodyPr/>
          <a:lstStyle/>
          <a:p>
            <a:endParaRPr lang="en-US"/>
          </a:p>
        </p:txBody>
      </p:sp>
      <p:sp>
        <p:nvSpPr>
          <p:cNvPr id="20" name="Text 18"/>
          <p:cNvSpPr/>
          <p:nvPr/>
        </p:nvSpPr>
        <p:spPr>
          <a:xfrm>
            <a:off x="365760" y="26334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4</a:t>
            </a:r>
            <a:endParaRPr lang="en-US" sz="1200" dirty="0"/>
          </a:p>
        </p:txBody>
      </p:sp>
      <p:sp>
        <p:nvSpPr>
          <p:cNvPr id="21" name="Text 19"/>
          <p:cNvSpPr/>
          <p:nvPr/>
        </p:nvSpPr>
        <p:spPr>
          <a:xfrm>
            <a:off x="804672" y="2642616"/>
            <a:ext cx="2468880" cy="1828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Dispense medication</a:t>
            </a:r>
            <a:endParaRPr lang="en-US" sz="1100" dirty="0"/>
          </a:p>
        </p:txBody>
      </p:sp>
      <p:sp>
        <p:nvSpPr>
          <p:cNvPr id="22" name="Text 20"/>
          <p:cNvSpPr/>
          <p:nvPr/>
        </p:nvSpPr>
        <p:spPr>
          <a:xfrm>
            <a:off x="804672" y="2843784"/>
            <a:ext cx="7955280" cy="18288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Enter RX001 → refills reduce from 3 to 2 → confirmation message shown</a:t>
            </a:r>
            <a:endParaRPr lang="en-US" sz="900" dirty="0"/>
          </a:p>
        </p:txBody>
      </p:sp>
      <p:sp>
        <p:nvSpPr>
          <p:cNvPr id="23" name="Shape 21"/>
          <p:cNvSpPr/>
          <p:nvPr/>
        </p:nvSpPr>
        <p:spPr>
          <a:xfrm>
            <a:off x="365760" y="3090672"/>
            <a:ext cx="329184" cy="329184"/>
          </a:xfrm>
          <a:prstGeom prst="rect">
            <a:avLst/>
          </a:prstGeom>
          <a:solidFill>
            <a:srgbClr val="27AE60"/>
          </a:solidFill>
          <a:ln/>
        </p:spPr>
        <p:txBody>
          <a:bodyPr/>
          <a:lstStyle/>
          <a:p>
            <a:endParaRPr lang="en-US"/>
          </a:p>
        </p:txBody>
      </p:sp>
      <p:sp>
        <p:nvSpPr>
          <p:cNvPr id="24" name="Text 22"/>
          <p:cNvSpPr/>
          <p:nvPr/>
        </p:nvSpPr>
        <p:spPr>
          <a:xfrm>
            <a:off x="365760" y="30906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5</a:t>
            </a:r>
            <a:endParaRPr lang="en-US" sz="1200" dirty="0"/>
          </a:p>
        </p:txBody>
      </p:sp>
      <p:sp>
        <p:nvSpPr>
          <p:cNvPr id="25" name="Text 23"/>
          <p:cNvSpPr/>
          <p:nvPr/>
        </p:nvSpPr>
        <p:spPr>
          <a:xfrm>
            <a:off x="804672" y="3099816"/>
            <a:ext cx="2468880" cy="1828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Run mvn test LIVE</a:t>
            </a:r>
            <a:endParaRPr lang="en-US" sz="1100" dirty="0"/>
          </a:p>
        </p:txBody>
      </p:sp>
      <p:sp>
        <p:nvSpPr>
          <p:cNvPr id="26" name="Text 24"/>
          <p:cNvSpPr/>
          <p:nvPr/>
        </p:nvSpPr>
        <p:spPr>
          <a:xfrm>
            <a:off x="804672" y="3300984"/>
            <a:ext cx="7955280" cy="18288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In terminal: mvn test → show 98 tests all passing → BUILD SUCCESS</a:t>
            </a:r>
            <a:endParaRPr lang="en-US" sz="900" dirty="0"/>
          </a:p>
        </p:txBody>
      </p:sp>
      <p:sp>
        <p:nvSpPr>
          <p:cNvPr id="27" name="Shape 25"/>
          <p:cNvSpPr/>
          <p:nvPr/>
        </p:nvSpPr>
        <p:spPr>
          <a:xfrm>
            <a:off x="365760" y="3547872"/>
            <a:ext cx="329184" cy="329184"/>
          </a:xfrm>
          <a:prstGeom prst="rect">
            <a:avLst/>
          </a:prstGeom>
          <a:solidFill>
            <a:srgbClr val="27AE60"/>
          </a:solidFill>
          <a:ln/>
        </p:spPr>
        <p:txBody>
          <a:bodyPr/>
          <a:lstStyle/>
          <a:p>
            <a:endParaRPr lang="en-US"/>
          </a:p>
        </p:txBody>
      </p:sp>
      <p:sp>
        <p:nvSpPr>
          <p:cNvPr id="28" name="Text 26"/>
          <p:cNvSpPr/>
          <p:nvPr/>
        </p:nvSpPr>
        <p:spPr>
          <a:xfrm>
            <a:off x="365760" y="35478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6</a:t>
            </a:r>
            <a:endParaRPr lang="en-US" sz="1200" dirty="0"/>
          </a:p>
        </p:txBody>
      </p:sp>
      <p:sp>
        <p:nvSpPr>
          <p:cNvPr id="29" name="Text 27"/>
          <p:cNvSpPr/>
          <p:nvPr/>
        </p:nvSpPr>
        <p:spPr>
          <a:xfrm>
            <a:off x="804672" y="3557016"/>
            <a:ext cx="2468880" cy="1828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Open JaCoCo report</a:t>
            </a:r>
            <a:endParaRPr lang="en-US" sz="1100" dirty="0"/>
          </a:p>
        </p:txBody>
      </p:sp>
      <p:sp>
        <p:nvSpPr>
          <p:cNvPr id="30" name="Text 28"/>
          <p:cNvSpPr/>
          <p:nvPr/>
        </p:nvSpPr>
        <p:spPr>
          <a:xfrm>
            <a:off x="804672" y="3758184"/>
            <a:ext cx="7955280" cy="18288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open target/site/jacoco/index.html → show 96% instruction, 91% branch</a:t>
            </a:r>
            <a:endParaRPr lang="en-US" sz="900" dirty="0"/>
          </a:p>
        </p:txBody>
      </p:sp>
      <p:sp>
        <p:nvSpPr>
          <p:cNvPr id="31" name="Shape 29"/>
          <p:cNvSpPr/>
          <p:nvPr/>
        </p:nvSpPr>
        <p:spPr>
          <a:xfrm>
            <a:off x="365760" y="4005072"/>
            <a:ext cx="329184" cy="329184"/>
          </a:xfrm>
          <a:prstGeom prst="rect">
            <a:avLst/>
          </a:prstGeom>
          <a:solidFill>
            <a:srgbClr val="E67E22"/>
          </a:solidFill>
          <a:ln/>
        </p:spPr>
        <p:txBody>
          <a:bodyPr/>
          <a:lstStyle/>
          <a:p>
            <a:endParaRPr lang="en-US"/>
          </a:p>
        </p:txBody>
      </p:sp>
      <p:sp>
        <p:nvSpPr>
          <p:cNvPr id="32" name="Text 30"/>
          <p:cNvSpPr/>
          <p:nvPr/>
        </p:nvSpPr>
        <p:spPr>
          <a:xfrm>
            <a:off x="365760" y="40050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7</a:t>
            </a:r>
            <a:endParaRPr lang="en-US" sz="1200" dirty="0"/>
          </a:p>
        </p:txBody>
      </p:sp>
      <p:sp>
        <p:nvSpPr>
          <p:cNvPr id="33" name="Text 31"/>
          <p:cNvSpPr/>
          <p:nvPr/>
        </p:nvSpPr>
        <p:spPr>
          <a:xfrm>
            <a:off x="804672" y="4014216"/>
            <a:ext cx="2468880" cy="1828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Open PITest report</a:t>
            </a:r>
            <a:endParaRPr lang="en-US" sz="1100" dirty="0"/>
          </a:p>
        </p:txBody>
      </p:sp>
      <p:sp>
        <p:nvSpPr>
          <p:cNvPr id="34" name="Text 32"/>
          <p:cNvSpPr/>
          <p:nvPr/>
        </p:nvSpPr>
        <p:spPr>
          <a:xfrm>
            <a:off x="804672" y="4215384"/>
            <a:ext cx="7955280" cy="18288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open target/pit-reports/index.html → show 91% mutation score, 74/81 killed</a:t>
            </a:r>
            <a:endParaRPr lang="en-US" sz="900" dirty="0"/>
          </a:p>
        </p:txBody>
      </p:sp>
      <p:sp>
        <p:nvSpPr>
          <p:cNvPr id="35" name="Shape 33"/>
          <p:cNvSpPr/>
          <p:nvPr/>
        </p:nvSpPr>
        <p:spPr>
          <a:xfrm>
            <a:off x="365760" y="4462272"/>
            <a:ext cx="329184" cy="329184"/>
          </a:xfrm>
          <a:prstGeom prst="rect">
            <a:avLst/>
          </a:prstGeom>
          <a:solidFill>
            <a:srgbClr val="02C39A"/>
          </a:solidFill>
          <a:ln/>
        </p:spPr>
        <p:txBody>
          <a:bodyPr/>
          <a:lstStyle/>
          <a:p>
            <a:endParaRPr lang="en-US"/>
          </a:p>
        </p:txBody>
      </p:sp>
      <p:sp>
        <p:nvSpPr>
          <p:cNvPr id="36" name="Text 34"/>
          <p:cNvSpPr/>
          <p:nvPr/>
        </p:nvSpPr>
        <p:spPr>
          <a:xfrm>
            <a:off x="365760" y="44622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8</a:t>
            </a:r>
            <a:endParaRPr lang="en-US" sz="1200" dirty="0"/>
          </a:p>
        </p:txBody>
      </p:sp>
      <p:sp>
        <p:nvSpPr>
          <p:cNvPr id="37" name="Text 35"/>
          <p:cNvSpPr/>
          <p:nvPr/>
        </p:nvSpPr>
        <p:spPr>
          <a:xfrm>
            <a:off x="804672" y="4471416"/>
            <a:ext cx="2468880" cy="182880"/>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git push LIVE</a:t>
            </a:r>
            <a:endParaRPr lang="en-US" sz="1100" dirty="0"/>
          </a:p>
        </p:txBody>
      </p:sp>
      <p:sp>
        <p:nvSpPr>
          <p:cNvPr id="38" name="Text 36"/>
          <p:cNvSpPr/>
          <p:nvPr/>
        </p:nvSpPr>
        <p:spPr>
          <a:xfrm>
            <a:off x="804672" y="4672584"/>
            <a:ext cx="7955280" cy="182880"/>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Add a comment, git add., git commit, git push → GitHub Actions triggers automatically</a:t>
            </a:r>
            <a:endParaRPr lang="en-US" sz="900" dirty="0"/>
          </a:p>
        </p:txBody>
      </p:sp>
      <p:sp>
        <p:nvSpPr>
          <p:cNvPr id="39" name="Shape 37"/>
          <p:cNvSpPr/>
          <p:nvPr/>
        </p:nvSpPr>
        <p:spPr>
          <a:xfrm>
            <a:off x="0" y="4828032"/>
            <a:ext cx="9144000" cy="320040"/>
          </a:xfrm>
          <a:prstGeom prst="rect">
            <a:avLst/>
          </a:prstGeom>
          <a:solidFill>
            <a:srgbClr val="028090"/>
          </a:solidFill>
          <a:ln/>
        </p:spPr>
        <p:txBody>
          <a:bodyPr/>
          <a:lstStyle/>
          <a:p>
            <a:endParaRPr lang="en-US"/>
          </a:p>
        </p:txBody>
      </p:sp>
      <p:sp>
        <p:nvSpPr>
          <p:cNvPr id="40" name="Text 38"/>
          <p:cNvSpPr/>
          <p:nvPr/>
        </p:nvSpPr>
        <p:spPr>
          <a:xfrm>
            <a:off x="0" y="4828032"/>
            <a:ext cx="914400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109 Tests · 0 Failures · 99% Coverage · 95% Mutation Score · CI/CD Pipeline · Live on Railway · Spring Boot + JUnit 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3703</TotalTime>
  <Words>6419</Words>
  <Application>Microsoft Macintosh PowerPoint</Application>
  <PresentationFormat>On-screen Show (16:9)</PresentationFormat>
  <Paragraphs>826</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Pharmacy Prescription Manager</dc:title>
  <dc:subject>PptxGenJS Presentation</dc:subject>
  <dc:creator>Aneri Shastri</dc:creator>
  <cp:lastModifiedBy>AneriKamlesh Shastri</cp:lastModifiedBy>
  <cp:revision>7</cp:revision>
  <dcterms:created xsi:type="dcterms:W3CDTF">2026-04-26T00:47:18Z</dcterms:created>
  <dcterms:modified xsi:type="dcterms:W3CDTF">2026-04-28T19:36:15Z</dcterms:modified>
</cp:coreProperties>
</file>